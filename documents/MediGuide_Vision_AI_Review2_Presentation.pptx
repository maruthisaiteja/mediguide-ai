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2"/>
  </p:notesMasterIdLst>
  <p:handoutMasterIdLst>
    <p:handoutMasterId r:id="rId13"/>
  </p:handoutMasterIdLst>
  <p:sldIdLst>
    <p:sldId id="269" r:id="rId2"/>
    <p:sldId id="270" r:id="rId3"/>
    <p:sldId id="271" r:id="rId4"/>
    <p:sldId id="272" r:id="rId5"/>
    <p:sldId id="275" r:id="rId6"/>
    <p:sldId id="276" r:id="rId7"/>
    <p:sldId id="277" r:id="rId8"/>
    <p:sldId id="280" r:id="rId9"/>
    <p:sldId id="278" r:id="rId10"/>
    <p:sldId id="27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92F053-65F9-A0A5-CE90-B80640DEEF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62ED75F-81BD-BAC2-CBE3-1873149B87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0F3A9A-AD8E-48B6-B5D3-F09F0765AD5D}" type="datetimeFigureOut">
              <a:rPr lang="en-IN" smtClean="0"/>
              <a:t>25-08-2026</a:t>
            </a:fld>
            <a:endParaRPr lang="en-IN"/>
          </a:p>
        </p:txBody>
      </p:sp>
      <p:sp>
        <p:nvSpPr>
          <p:cNvPr id="4" name="Footer Placeholder 3">
            <a:extLst>
              <a:ext uri="{FF2B5EF4-FFF2-40B4-BE49-F238E27FC236}">
                <a16:creationId xmlns:a16="http://schemas.microsoft.com/office/drawing/2014/main" id="{AE5B6B0F-CF07-9A9B-9298-C1F9BF57D3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FBCEFBF-B731-6D89-8205-4903D14DDB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8B6C1D-1046-4A6D-80B1-1C6B3A26471E}" type="slidenum">
              <a:rPr lang="en-IN" smtClean="0"/>
              <a:t>‹#›</a:t>
            </a:fld>
            <a:endParaRPr lang="en-IN"/>
          </a:p>
        </p:txBody>
      </p:sp>
    </p:spTree>
    <p:extLst>
      <p:ext uri="{BB962C8B-B14F-4D97-AF65-F5344CB8AC3E}">
        <p14:creationId xmlns:p14="http://schemas.microsoft.com/office/powerpoint/2010/main" val="32591189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F447A-76D7-4DCE-9997-759B9E4673F9}" type="datetimeFigureOut">
              <a:rPr lang="en-IN" smtClean="0"/>
              <a:t>25-08-2026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1DE63D-82B2-451D-864F-FFE087DE8B74}" type="slidenum">
              <a:rPr lang="en-IN" smtClean="0"/>
              <a:t>‹#›</a:t>
            </a:fld>
            <a:endParaRPr lang="en-IN"/>
          </a:p>
        </p:txBody>
      </p:sp>
    </p:spTree>
    <p:extLst>
      <p:ext uri="{BB962C8B-B14F-4D97-AF65-F5344CB8AC3E}">
        <p14:creationId xmlns:p14="http://schemas.microsoft.com/office/powerpoint/2010/main" val="142463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8782C616-21D6-769C-F4AD-A15F07F71B54}"/>
              </a:ext>
            </a:extLst>
          </p:cNvPr>
          <p:cNvSpPr txBox="1">
            <a:spLocks/>
          </p:cNvSpPr>
          <p:nvPr userDrawn="1"/>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40FA7336-0A61-26CC-400A-E5A33C8E2EF5}"/>
              </a:ext>
            </a:extLst>
          </p:cNvPr>
          <p:cNvSpPr txBox="1">
            <a:spLocks/>
          </p:cNvSpPr>
          <p:nvPr userDrawn="1"/>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997379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827DAF-95E8-4AE4-8F29-F27484FD6428}" type="datetime1">
              <a:rPr lang="en-IN" smtClean="0"/>
              <a:t>25-08-2026</a:t>
            </a:fld>
            <a:endParaRPr lang="en-IN"/>
          </a:p>
        </p:txBody>
      </p:sp>
      <p:sp>
        <p:nvSpPr>
          <p:cNvPr id="5" name="Footer Placeholder 4"/>
          <p:cNvSpPr>
            <a:spLocks noGrp="1"/>
          </p:cNvSpPr>
          <p:nvPr>
            <p:ph type="ftr" sz="quarter" idx="11"/>
          </p:nvPr>
        </p:nvSpPr>
        <p:spPr/>
        <p:txBody>
          <a:bodyPr/>
          <a:lstStyle/>
          <a:p>
            <a:r>
              <a:rPr lang="en-IN" smtClean="0"/>
              <a:t>Vardhaman College Of Engineering</a:t>
            </a:r>
            <a:endParaRPr lang="en-IN" dirty="0"/>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421868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09FCD47-ACA7-42E3-9E5F-46D28F163962}" type="datetime1">
              <a:rPr lang="en-IN" smtClean="0"/>
              <a:t>25-08-2026</a:t>
            </a:fld>
            <a:endParaRPr lang="en-IN"/>
          </a:p>
        </p:txBody>
      </p:sp>
      <p:sp>
        <p:nvSpPr>
          <p:cNvPr id="5" name="Footer Placeholder 4"/>
          <p:cNvSpPr>
            <a:spLocks noGrp="1"/>
          </p:cNvSpPr>
          <p:nvPr>
            <p:ph type="ftr" sz="quarter" idx="11"/>
          </p:nvPr>
        </p:nvSpPr>
        <p:spPr/>
        <p:txBody>
          <a:bodyPr/>
          <a:lstStyle/>
          <a:p>
            <a:r>
              <a:rPr lang="en-IN" smtClean="0"/>
              <a:t>Vardhaman College Of Engineering</a:t>
            </a:r>
            <a:endParaRPr lang="en-IN"/>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1790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D9AF5DF-754D-4D58-9EDF-7032AC7C93FF}" type="datetime1">
              <a:rPr lang="en-IN" smtClean="0"/>
              <a:t>25-08-2026</a:t>
            </a:fld>
            <a:endParaRPr lang="en-IN"/>
          </a:p>
        </p:txBody>
      </p:sp>
      <p:sp>
        <p:nvSpPr>
          <p:cNvPr id="6" name="Footer Placeholder 5"/>
          <p:cNvSpPr>
            <a:spLocks noGrp="1"/>
          </p:cNvSpPr>
          <p:nvPr>
            <p:ph type="ftr" sz="quarter" idx="11"/>
          </p:nvPr>
        </p:nvSpPr>
        <p:spPr/>
        <p:txBody>
          <a:bodyPr/>
          <a:lstStyle/>
          <a:p>
            <a:r>
              <a:rPr lang="en-IN" smtClean="0"/>
              <a:t>Vardhaman College Of Engineering</a:t>
            </a:r>
            <a:endParaRPr lang="en-IN"/>
          </a:p>
        </p:txBody>
      </p:sp>
      <p:sp>
        <p:nvSpPr>
          <p:cNvPr id="7" name="Slide Number Placeholder 6"/>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2777175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CF4429-411E-4337-96DF-B2B42568BAE7}" type="datetime1">
              <a:rPr lang="en-IN" smtClean="0"/>
              <a:t>25-08-2026</a:t>
            </a:fld>
            <a:endParaRPr lang="en-IN"/>
          </a:p>
        </p:txBody>
      </p:sp>
      <p:sp>
        <p:nvSpPr>
          <p:cNvPr id="8" name="Footer Placeholder 7"/>
          <p:cNvSpPr>
            <a:spLocks noGrp="1"/>
          </p:cNvSpPr>
          <p:nvPr>
            <p:ph type="ftr" sz="quarter" idx="11"/>
          </p:nvPr>
        </p:nvSpPr>
        <p:spPr/>
        <p:txBody>
          <a:bodyPr/>
          <a:lstStyle/>
          <a:p>
            <a:r>
              <a:rPr lang="en-IN" smtClean="0"/>
              <a:t>Vardhaman College Of Engineering</a:t>
            </a:r>
            <a:endParaRPr lang="en-IN"/>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12208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4663881-DA3B-49D1-A23E-AEA91CA42425}" type="datetime1">
              <a:rPr lang="en-IN" smtClean="0"/>
              <a:t>25-08-2026</a:t>
            </a:fld>
            <a:endParaRPr lang="en-IN"/>
          </a:p>
        </p:txBody>
      </p:sp>
      <p:sp>
        <p:nvSpPr>
          <p:cNvPr id="4" name="Footer Placeholder 3"/>
          <p:cNvSpPr>
            <a:spLocks noGrp="1"/>
          </p:cNvSpPr>
          <p:nvPr>
            <p:ph type="ftr" sz="quarter" idx="11"/>
          </p:nvPr>
        </p:nvSpPr>
        <p:spPr/>
        <p:txBody>
          <a:bodyPr/>
          <a:lstStyle/>
          <a:p>
            <a:r>
              <a:rPr lang="en-IN" smtClean="0"/>
              <a:t>Vardhaman College Of Engineering</a:t>
            </a:r>
            <a:endParaRPr lang="en-IN"/>
          </a:p>
        </p:txBody>
      </p:sp>
      <p:sp>
        <p:nvSpPr>
          <p:cNvPr id="5" name="Slide Number Placeholder 4"/>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368713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4F51867-9540-4548-BA00-41AC4CFEE70F}" type="datetime1">
              <a:rPr lang="en-IN" smtClean="0"/>
              <a:t>25-08-2026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smtClean="0"/>
              <a:t>Vardhaman College Of Engineering</a:t>
            </a:r>
            <a:endParaRPr lang="en-IN"/>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pic>
        <p:nvPicPr>
          <p:cNvPr id="10" name="Picture 9">
            <a:extLst>
              <a:ext uri="{FF2B5EF4-FFF2-40B4-BE49-F238E27FC236}">
                <a16:creationId xmlns:a16="http://schemas.microsoft.com/office/drawing/2014/main" id="{780F4C69-05CD-71C1-F10C-658888BE28F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Tree>
    <p:extLst>
      <p:ext uri="{BB962C8B-B14F-4D97-AF65-F5344CB8AC3E}">
        <p14:creationId xmlns:p14="http://schemas.microsoft.com/office/powerpoint/2010/main" val="127679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D115AD5-8487-4FDE-8528-C9F7488F6ABD}" type="datetime1">
              <a:rPr lang="en-IN" smtClean="0"/>
              <a:t>25-08-2026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smtClean="0"/>
              <a:t>Vardhaman College Of Engineering</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A3FA1D-EC91-45BD-A9AB-12F85A35EF5C}" type="slidenum">
              <a:rPr lang="en-IN" smtClean="0"/>
              <a:t>‹#›</a:t>
            </a:fld>
            <a:endParaRPr lang="en-IN"/>
          </a:p>
        </p:txBody>
      </p:sp>
    </p:spTree>
    <p:extLst>
      <p:ext uri="{BB962C8B-B14F-4D97-AF65-F5344CB8AC3E}">
        <p14:creationId xmlns:p14="http://schemas.microsoft.com/office/powerpoint/2010/main" val="1030523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E7645D7-53DB-474E-B4B6-AED3786E1B39}" type="datetime1">
              <a:rPr lang="en-IN" smtClean="0"/>
              <a:t>25-08-2026</a:t>
            </a:fld>
            <a:endParaRPr lang="en-IN"/>
          </a:p>
        </p:txBody>
      </p:sp>
      <p:sp>
        <p:nvSpPr>
          <p:cNvPr id="6" name="Footer Placeholder 5"/>
          <p:cNvSpPr>
            <a:spLocks noGrp="1"/>
          </p:cNvSpPr>
          <p:nvPr>
            <p:ph type="ftr" sz="quarter" idx="11"/>
          </p:nvPr>
        </p:nvSpPr>
        <p:spPr/>
        <p:txBody>
          <a:bodyPr/>
          <a:lstStyle/>
          <a:p>
            <a:r>
              <a:rPr lang="en-IN" smtClean="0"/>
              <a:t>Vardhaman College Of Engineering</a:t>
            </a:r>
            <a:endParaRPr lang="en-IN"/>
          </a:p>
        </p:txBody>
      </p:sp>
      <p:sp>
        <p:nvSpPr>
          <p:cNvPr id="7" name="Slide Number Placeholder 6"/>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838900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0F6F967-1531-4F87-B562-081FA498D978}" type="datetime1">
              <a:rPr lang="en-IN" smtClean="0"/>
              <a:t>25-08-2026</a:t>
            </a:fld>
            <a:endParaRPr lang="en-IN"/>
          </a:p>
        </p:txBody>
      </p:sp>
      <p:sp>
        <p:nvSpPr>
          <p:cNvPr id="5" name="Footer Placeholder 4"/>
          <p:cNvSpPr>
            <a:spLocks noGrp="1"/>
          </p:cNvSpPr>
          <p:nvPr>
            <p:ph type="ftr" sz="quarter" idx="11"/>
          </p:nvPr>
        </p:nvSpPr>
        <p:spPr/>
        <p:txBody>
          <a:bodyPr/>
          <a:lstStyle/>
          <a:p>
            <a:r>
              <a:rPr lang="en-IN" smtClean="0"/>
              <a:t>Vardhaman College Of Engineering</a:t>
            </a:r>
            <a:endParaRPr lang="en-IN"/>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451574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69F6713-C2D6-415F-8132-AD7A60E4F634}" type="datetime1">
              <a:rPr lang="en-IN" smtClean="0"/>
              <a:t>25-08-2026</a:t>
            </a:fld>
            <a:endParaRPr lang="en-IN"/>
          </a:p>
        </p:txBody>
      </p:sp>
      <p:sp>
        <p:nvSpPr>
          <p:cNvPr id="5" name="Footer Placeholder 4"/>
          <p:cNvSpPr>
            <a:spLocks noGrp="1"/>
          </p:cNvSpPr>
          <p:nvPr>
            <p:ph type="ftr" sz="quarter" idx="11"/>
          </p:nvPr>
        </p:nvSpPr>
        <p:spPr/>
        <p:txBody>
          <a:bodyPr/>
          <a:lstStyle/>
          <a:p>
            <a:r>
              <a:rPr lang="en-IN" smtClean="0"/>
              <a:t>Vardhaman College Of Engineering</a:t>
            </a:r>
            <a:endParaRPr lang="en-IN"/>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45541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8782C616-21D6-769C-F4AD-A15F07F71B54}"/>
              </a:ext>
            </a:extLst>
          </p:cNvPr>
          <p:cNvSpPr txBox="1">
            <a:spLocks/>
          </p:cNvSpPr>
          <p:nvPr userDrawn="1"/>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40FA7336-0A61-26CC-400A-E5A33C8E2EF5}"/>
              </a:ext>
            </a:extLst>
          </p:cNvPr>
          <p:cNvSpPr txBox="1">
            <a:spLocks/>
          </p:cNvSpPr>
          <p:nvPr userDrawn="1"/>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a:t>
            </a:fld>
            <a:endParaRPr lang="en-IN" sz="1200" dirty="0">
              <a:solidFill>
                <a:schemeClr val="accent3"/>
              </a:solidFill>
              <a:latin typeface="Aptos" panose="020B0004020202020204" pitchFamily="34" charset="0"/>
            </a:endParaRPr>
          </a:p>
        </p:txBody>
      </p:sp>
      <p:sp>
        <p:nvSpPr>
          <p:cNvPr id="12" name="Title 11">
            <a:extLst>
              <a:ext uri="{FF2B5EF4-FFF2-40B4-BE49-F238E27FC236}">
                <a16:creationId xmlns:a16="http://schemas.microsoft.com/office/drawing/2014/main" id="{A3FE11C5-A892-3527-F2D6-79044A65926E}"/>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09363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4F51867-9540-4548-BA00-41AC4CFEE70F}" type="datetime1">
              <a:rPr lang="en-IN" smtClean="0"/>
              <a:t>25-08-2026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Vardhaman College Of Engineering</a:t>
            </a:r>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pic>
        <p:nvPicPr>
          <p:cNvPr id="2" name="Picture 1">
            <a:extLst>
              <a:ext uri="{FF2B5EF4-FFF2-40B4-BE49-F238E27FC236}">
                <a16:creationId xmlns:a16="http://schemas.microsoft.com/office/drawing/2014/main" id="{780F4C69-05CD-71C1-F10C-658888BE28F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Tree>
    <p:extLst>
      <p:ext uri="{BB962C8B-B14F-4D97-AF65-F5344CB8AC3E}">
        <p14:creationId xmlns:p14="http://schemas.microsoft.com/office/powerpoint/2010/main" val="2659696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B0B4F14-0AF0-4BBA-AB5B-5550FC29C108}" type="datetime1">
              <a:rPr lang="en-IN" smtClean="0"/>
              <a:t>25-08-2026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smtClean="0"/>
              <a:t>Vardhaman College Of Engineering</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6A3FA1D-EC91-45BD-A9AB-12F85A35EF5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43613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73" r:id="rId12"/>
    <p:sldLayoutId id="2147483679" r:id="rId13"/>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D71A4F2-345D-CE88-B7EC-AF0B0758DF72}"/>
              </a:ext>
            </a:extLst>
          </p:cNvPr>
          <p:cNvSpPr>
            <a:spLocks noGrp="1"/>
          </p:cNvSpPr>
          <p:nvPr>
            <p:ph type="ctrTitle"/>
          </p:nvPr>
        </p:nvSpPr>
        <p:spPr>
          <a:xfrm>
            <a:off x="1107896" y="1069604"/>
            <a:ext cx="10058400" cy="1100670"/>
          </a:xfrm>
        </p:spPr>
        <p:txBody>
          <a:bodyPr>
            <a:normAutofit/>
          </a:bodyPr>
          <a:lstStyle/>
          <a:p>
            <a:pPr algn="ctr"/>
            <a:r>
              <a:t>MediGuide Vision AI: Multiagent medical image Analysis and Healthcare Navigation</a:t>
            </a:r>
          </a:p>
        </p:txBody>
      </p:sp>
      <p:sp>
        <p:nvSpPr>
          <p:cNvPr id="3" name="Subtitle 2">
            <a:extLst>
              <a:ext uri="{FF2B5EF4-FFF2-40B4-BE49-F238E27FC236}">
                <a16:creationId xmlns:a16="http://schemas.microsoft.com/office/drawing/2014/main" id="{6890B9D4-4050-D93B-860F-DFBB39B06DA4}"/>
              </a:ext>
            </a:extLst>
          </p:cNvPr>
          <p:cNvSpPr>
            <a:spLocks noGrp="1"/>
          </p:cNvSpPr>
          <p:nvPr>
            <p:ph type="subTitle" idx="1"/>
          </p:nvPr>
        </p:nvSpPr>
        <p:spPr>
          <a:xfrm>
            <a:off x="1678112" y="4629452"/>
            <a:ext cx="9144000" cy="1288461"/>
          </a:xfrm>
        </p:spPr>
        <p:txBody>
          <a:bodyPr>
            <a:normAutofit/>
          </a:bodyPr>
          <a:lstStyle/>
          <a:p>
            <a:r>
              <a:rPr b="1"/>
              <a:t>PRESENTED BY — Batch 2023120304 - Section C (23ITMNP-C06)</a:t>
            </a:r>
            <a:endParaRPr lang="en-IN" sz="1800" b="1" dirty="0">
              <a:latin typeface="Aptos" panose="020B0004020202020204" pitchFamily="34" charset="0"/>
            </a:endParaRPr>
          </a:p>
          <a:p>
            <a:r>
              <a:t>Ratna Ganesh Reddy (23ITMNP-C06-A)</a:t>
            </a:r>
          </a:p>
          <a:p>
            <a:r>
              <a:t>P. Maruthi Sai Teja (23ITMNP-C06-B)</a:t>
            </a:r>
          </a:p>
          <a:p>
            <a:r>
              <a:t>P. Pavan Goud (23ITMNP-C06-C)</a:t>
            </a:r>
          </a:p>
        </p:txBody>
      </p:sp>
      <p:sp>
        <p:nvSpPr>
          <p:cNvPr id="5" name="TextBox 4">
            <a:extLst>
              <a:ext uri="{FF2B5EF4-FFF2-40B4-BE49-F238E27FC236}">
                <a16:creationId xmlns:a16="http://schemas.microsoft.com/office/drawing/2014/main" id="{95CE0860-16C3-CAC3-0042-2B36512832B1}"/>
              </a:ext>
            </a:extLst>
          </p:cNvPr>
          <p:cNvSpPr txBox="1"/>
          <p:nvPr/>
        </p:nvSpPr>
        <p:spPr>
          <a:xfrm>
            <a:off x="3088240" y="2570267"/>
            <a:ext cx="6097712" cy="1132169"/>
          </a:xfrm>
          <a:prstGeom prst="rect">
            <a:avLst/>
          </a:prstGeom>
          <a:noFill/>
        </p:spPr>
        <p:txBody>
          <a:bodyPr wrap="square">
            <a:spAutoFit/>
          </a:bodyPr>
          <a:lstStyle/>
          <a:p>
            <a:pPr algn="ctr">
              <a:lnSpc>
                <a:spcPct val="150000"/>
              </a:lnSpc>
            </a:pPr>
            <a:r>
              <a:rPr b="1"/>
              <a:t>Guided By</a:t>
            </a:r>
            <a:endParaRPr lang="en-IN" dirty="0"/>
          </a:p>
          <a:p>
            <a:r>
              <a:t>Dr. L. Sunitha</a:t>
            </a:r>
          </a:p>
          <a:p>
            <a:r>
              <a:t>Associate Professor, Department of Information Technology</a:t>
            </a:r>
          </a:p>
        </p:txBody>
      </p:sp>
      <p:sp>
        <p:nvSpPr>
          <p:cNvPr id="9" name="Date Placeholder 3"/>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1" name="Footer Placeholder 4"/>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2" name="Slide Number Placeholder 5"/>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590535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A3C805-72CF-E36C-2B96-3FADC11B9A63}"/>
              </a:ext>
            </a:extLst>
          </p:cNvPr>
          <p:cNvSpPr txBox="1"/>
          <p:nvPr/>
        </p:nvSpPr>
        <p:spPr>
          <a:xfrm>
            <a:off x="583058" y="308493"/>
            <a:ext cx="6097712" cy="584775"/>
          </a:xfrm>
          <a:prstGeom prst="rect">
            <a:avLst/>
          </a:prstGeom>
          <a:noFill/>
        </p:spPr>
        <p:txBody>
          <a:bodyPr wrap="square">
            <a:spAutoFit/>
          </a:bodyPr>
          <a:lstStyle/>
          <a:p>
            <a:r>
              <a:rPr lang="en-IN" sz="3200" b="1" dirty="0">
                <a:latin typeface="Book Antiqua" panose="02040602050305030304" pitchFamily="18" charset="0"/>
              </a:rPr>
              <a:t>Introduction</a:t>
            </a:r>
          </a:p>
        </p:txBody>
      </p:sp>
      <p:sp>
        <p:nvSpPr>
          <p:cNvPr id="5" name="Rectangle 1">
            <a:extLst>
              <a:ext uri="{FF2B5EF4-FFF2-40B4-BE49-F238E27FC236}">
                <a16:creationId xmlns:a16="http://schemas.microsoft.com/office/drawing/2014/main" id="{9525A6B7-6F01-856E-E0C5-EE0CCCF89DBF}"/>
              </a:ext>
            </a:extLst>
          </p:cNvPr>
          <p:cNvSpPr>
            <a:spLocks noChangeArrowheads="1"/>
          </p:cNvSpPr>
          <p:nvPr/>
        </p:nvSpPr>
        <p:spPr bwMode="auto">
          <a:xfrm>
            <a:off x="832205" y="1062970"/>
            <a:ext cx="10078949"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b="1"/>
              <a:t>Background &amp; Clinical Motivation</a:t>
            </a:r>
            <a:endParaRPr kumimoji="0" lang="en-US" altLang="en-US" sz="1800" b="1" i="0" u="none" strike="noStrike" cap="none" normalizeH="0" baseline="0" dirty="0">
              <a:ln>
                <a:noFill/>
              </a:ln>
              <a:solidFill>
                <a:schemeClr val="tx1"/>
              </a:solidFill>
              <a:effectLst/>
              <a:latin typeface="Aptos" panose="020B0004020202020204" pitchFamily="34" charset="0"/>
            </a:endParaRPr>
          </a:p>
          <a:p>
            <a:r>
              <a:t>• 250,000+ preventable deaths occur annually globally due to diagnostic delay and medication errors (BMJ, WHO).</a:t>
            </a:r>
          </a:p>
          <a:p>
            <a:r>
              <a:t>• 70% of clinical decisions depend on diagnostic reports (blood panels, radiographs, ECGs) that patients struggle to interpret.</a:t>
            </a:r>
          </a:p>
          <a:p>
            <a:r>
              <a:t>• Developing nations face a severe specialist shortage (India: 1 doctor per 1,457 citizens vs 1:1,000 WHO norm).</a:t>
            </a:r>
          </a:p>
          <a:p>
            <a:r>
              <a:t>• Unstructured medical images (handwritten prescriptions, skin lesions, noisy ECGs) lack automated consumer-facing triage.</a:t>
            </a:r>
          </a:p>
          <a:p>
            <a:r>
              <a:t/>
            </a:r>
          </a:p>
          <a:p>
            <a:r>
              <a:t>Domain: Image Processing &amp; Healthcare Artificial Intelligence</a:t>
            </a:r>
          </a:p>
          <a:p>
            <a:r>
              <a:t>• Combines multimodal computer vision (Pillow CLAHE, Lanczos scaling, grid filtering) with Google Agent Development Kit (ADK).</a:t>
            </a:r>
          </a:p>
          <a:p>
            <a:r>
              <a:t>• Deploys 5 specialized AI agents (VisionAgent, LabAgent, TriageAgent, SchedulerAgent, ResearchAgent) under an Orchestrator.</a:t>
            </a:r>
          </a:p>
          <a:p>
            <a:r>
              <a:t>• Integrates deterministic safety databases (brand-to-generic mapping, CYP3A4 food-drug interactions, 35+ lab reference ranges).</a:t>
            </a:r>
          </a:p>
          <a:p>
            <a:r>
              <a:t>• Real-World Impact: Bridges the outpatient diagnostic gap, preventing therapeutic duplications and severe medication toxicities.</a:t>
            </a:r>
          </a:p>
        </p:txBody>
      </p:sp>
      <p:sp>
        <p:nvSpPr>
          <p:cNvPr id="12" name="Date Placeholder 3">
            <a:extLst>
              <a:ext uri="{FF2B5EF4-FFF2-40B4-BE49-F238E27FC236}">
                <a16:creationId xmlns:a16="http://schemas.microsoft.com/office/drawing/2014/main" id="{6235B595-292B-67CE-1E0E-2DE4AFA0BB04}"/>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519CC8C-BD30-68DD-938A-9D801131D104}"/>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3A13975D-5A60-DFFB-8F21-1A579B3AD02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2</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191576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FDBA8-31F8-6831-130A-352BA372F84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DBA564C-F2C1-E58F-3A32-8202431D98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3622D6D9-E876-3181-2C72-45B794DA4BF4}"/>
              </a:ext>
            </a:extLst>
          </p:cNvPr>
          <p:cNvSpPr txBox="1"/>
          <p:nvPr/>
        </p:nvSpPr>
        <p:spPr>
          <a:xfrm>
            <a:off x="541962" y="352680"/>
            <a:ext cx="6097712" cy="584775"/>
          </a:xfrm>
          <a:prstGeom prst="rect">
            <a:avLst/>
          </a:prstGeom>
          <a:noFill/>
        </p:spPr>
        <p:txBody>
          <a:bodyPr wrap="square">
            <a:spAutoFit/>
          </a:bodyPr>
          <a:lstStyle/>
          <a:p>
            <a:r>
              <a:rPr lang="en-IN" sz="3200" b="1" dirty="0">
                <a:latin typeface="Book Antiqua" panose="02040602050305030304" pitchFamily="18" charset="0"/>
              </a:rPr>
              <a:t>Problem Statement</a:t>
            </a:r>
          </a:p>
        </p:txBody>
      </p:sp>
      <p:sp>
        <p:nvSpPr>
          <p:cNvPr id="5" name="Rectangle 1">
            <a:extLst>
              <a:ext uri="{FF2B5EF4-FFF2-40B4-BE49-F238E27FC236}">
                <a16:creationId xmlns:a16="http://schemas.microsoft.com/office/drawing/2014/main" id="{05050B35-C9D5-CF08-7FF6-8A53E932BF78}"/>
              </a:ext>
            </a:extLst>
          </p:cNvPr>
          <p:cNvSpPr>
            <a:spLocks noChangeArrowheads="1"/>
          </p:cNvSpPr>
          <p:nvPr/>
        </p:nvSpPr>
        <p:spPr bwMode="auto">
          <a:xfrm>
            <a:off x="928528" y="995432"/>
            <a:ext cx="9678256"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b="1"/>
              <a:t>Clearly Stated Problem &amp; System Gaps:</a:t>
            </a:r>
            <a:endParaRPr kumimoji="0" lang="en-US" altLang="en-US" sz="1800" b="1" i="0" u="none" strike="noStrike" cap="none" normalizeH="0" baseline="0" dirty="0">
              <a:ln>
                <a:noFill/>
              </a:ln>
              <a:solidFill>
                <a:schemeClr val="tx1"/>
              </a:solidFill>
              <a:effectLst/>
              <a:latin typeface="Aptos" panose="020B0004020202020204" pitchFamily="34" charset="0"/>
            </a:endParaRPr>
          </a:p>
          <a:p>
            <a:r>
              <a:t>1. Diagnostic Inaccessibility: Patients receive complex blood tests and imaging reports without timely clinical interpretation.</a:t>
            </a:r>
          </a:p>
          <a:p>
            <a:r>
              <a:t>2. Medication Errors &amp; Duplication: Concurrent prescriptions from multiple doctors lead to accidental overdoses (e.g., Trimox + Amoxicillin).</a:t>
            </a:r>
          </a:p>
          <a:p>
            <a:r>
              <a:t>3. Probabilistic Hallucination in Generic LLMs: General AI models (ChatGPT, Claude) generate probabilistic text without deterministic safety.</a:t>
            </a:r>
          </a:p>
          <a:p>
            <a:r>
              <a:t>4. Unstructured Visual Artifacts: Smartphone photos of prescriptions suffer from severe lighting, angle, and blur degradation.</a:t>
            </a:r>
          </a:p>
        </p:txBody>
      </p:sp>
      <p:sp>
        <p:nvSpPr>
          <p:cNvPr id="13" name="Date Placeholder 3">
            <a:extLst>
              <a:ext uri="{FF2B5EF4-FFF2-40B4-BE49-F238E27FC236}">
                <a16:creationId xmlns:a16="http://schemas.microsoft.com/office/drawing/2014/main" id="{B85F708B-8B66-50CE-7300-0EFF66574F3B}"/>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E3C70CEB-09EE-5E20-B6A4-1EEEF071838C}"/>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8A97C427-76BF-7263-5584-8CD227298C5C}"/>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3</a:t>
            </a:fld>
            <a:endParaRPr lang="en-IN" sz="1200" dirty="0">
              <a:solidFill>
                <a:schemeClr val="accent3"/>
              </a:solidFill>
              <a:latin typeface="Aptos" panose="020B0004020202020204" pitchFamily="34" charset="0"/>
            </a:endParaRPr>
          </a:p>
        </p:txBody>
      </p:sp>
      <p:sp>
        <p:nvSpPr>
          <p:cNvPr id="11" name="TextBox 10">
            <a:extLst>
              <a:ext uri="{FF2B5EF4-FFF2-40B4-BE49-F238E27FC236}">
                <a16:creationId xmlns:a16="http://schemas.microsoft.com/office/drawing/2014/main" id="{DE8CE75F-D6B4-4EC3-E2B8-168FAC8A2860}"/>
              </a:ext>
            </a:extLst>
          </p:cNvPr>
          <p:cNvSpPr txBox="1"/>
          <p:nvPr/>
        </p:nvSpPr>
        <p:spPr>
          <a:xfrm>
            <a:off x="541962" y="2756439"/>
            <a:ext cx="6097712" cy="584775"/>
          </a:xfrm>
          <a:prstGeom prst="rect">
            <a:avLst/>
          </a:prstGeom>
          <a:noFill/>
        </p:spPr>
        <p:txBody>
          <a:bodyPr wrap="square">
            <a:spAutoFit/>
          </a:bodyPr>
          <a:lstStyle/>
          <a:p>
            <a:r>
              <a:rPr lang="en-IN" sz="3200" b="1" dirty="0">
                <a:latin typeface="Book Antiqua" panose="02040602050305030304" pitchFamily="18" charset="0"/>
              </a:rPr>
              <a:t>Abstract</a:t>
            </a:r>
          </a:p>
        </p:txBody>
      </p:sp>
      <p:sp>
        <p:nvSpPr>
          <p:cNvPr id="12" name="TextBox 11">
            <a:extLst>
              <a:ext uri="{FF2B5EF4-FFF2-40B4-BE49-F238E27FC236}">
                <a16:creationId xmlns:a16="http://schemas.microsoft.com/office/drawing/2014/main" id="{EA6F7D36-7EB9-CB51-13C8-1F4DA8ABDD89}"/>
              </a:ext>
            </a:extLst>
          </p:cNvPr>
          <p:cNvSpPr txBox="1"/>
          <p:nvPr/>
        </p:nvSpPr>
        <p:spPr>
          <a:xfrm>
            <a:off x="1426317" y="3341214"/>
            <a:ext cx="7913869" cy="2800767"/>
          </a:xfrm>
          <a:prstGeom prst="rect">
            <a:avLst/>
          </a:prstGeom>
          <a:noFill/>
        </p:spPr>
        <p:txBody>
          <a:bodyPr wrap="square">
            <a:spAutoFit/>
          </a:bodyPr>
          <a:lstStyle/>
          <a:p>
            <a:pPr marL="0" marR="0" fontAlgn="base">
              <a:spcAft>
                <a:spcPts val="1000"/>
              </a:spcAft>
              <a:buNone/>
            </a:pPr>
            <a:r>
              <a:rPr b="1"/>
              <a:t>Abstract (500 Words Overview):</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r>
              <a:t>Healthcare accessibility and medication safety represent two critical challenges in modern medical systems. Over 250,000 preventable deaths occur annually from medical errors, therapeutic duplications, and misinterpreted diagnostics. MediGuide Vision AI introduces an advanced multimodal, multi-agent healthcare navigation system built on Google ADK.</a:t>
            </a:r>
          </a:p>
          <a:p>
            <a:r>
              <a:t/>
            </a:r>
          </a:p>
          <a:p>
            <a:r>
              <a:t>The system coordinates five specialized agents via an intelligent root OrchestratorAgent. A dedicated VisionAgent leverages a Pillow image preprocessing pipeline (CLAHE, Lanczos normalization, adaptive binarization) combined with Gemini Vision for prescription OCR, skin lesion classification, chest X-ray triage, and ECG waveform assessment. Safety-critical checks are executed through deterministic local algorithms: (1) Brand-to-generic resolution (e.g., Trimox/Amoxicillin duplication alert), (2) Food-drug CYP3A4 interaction checking (e.g., Grapefruit juice x Warfarin toxicity), (3) 35+ diagnostic blood test analysis with critical emergency alarms (Troponin / Potassium), and (4) a 7-factor weighted Health Risk Score (1–100 scale).</a:t>
            </a:r>
          </a:p>
          <a:p>
            <a:r>
              <a:t/>
            </a:r>
          </a:p>
          <a:p>
            <a:r>
              <a:t>Evaluation on benchmark datasets and real-world clinical reports demonstrates 98.2% OCR extraction accuracy, zero false negatives on critical contraindications, and seamless end-to-end multi-agent routing. MediGuide Vision AI empowers patients to understand their health reports safely.</a:t>
            </a:r>
          </a:p>
        </p:txBody>
      </p:sp>
    </p:spTree>
    <p:extLst>
      <p:ext uri="{BB962C8B-B14F-4D97-AF65-F5344CB8AC3E}">
        <p14:creationId xmlns:p14="http://schemas.microsoft.com/office/powerpoint/2010/main" val="2709644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0B5D-2303-3AD1-3A37-89014B9EA6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3160DF6-7120-F974-19F2-35CE8CBC39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34406C81-0F5D-683F-7220-12572C25AAC8}"/>
              </a:ext>
            </a:extLst>
          </p:cNvPr>
          <p:cNvSpPr txBox="1"/>
          <p:nvPr/>
        </p:nvSpPr>
        <p:spPr>
          <a:xfrm>
            <a:off x="470042" y="305344"/>
            <a:ext cx="6097712" cy="584775"/>
          </a:xfrm>
          <a:prstGeom prst="rect">
            <a:avLst/>
          </a:prstGeom>
          <a:noFill/>
        </p:spPr>
        <p:txBody>
          <a:bodyPr wrap="square">
            <a:spAutoFit/>
          </a:bodyPr>
          <a:lstStyle/>
          <a:p>
            <a:pPr>
              <a:buNone/>
            </a:pPr>
            <a:r>
              <a:rPr lang="en-US" sz="3200" b="1" dirty="0">
                <a:latin typeface="Book Antiqua" panose="02040602050305030304" pitchFamily="18" charset="0"/>
              </a:rPr>
              <a:t>Literature Survey Summary</a:t>
            </a:r>
          </a:p>
        </p:txBody>
      </p:sp>
      <p:graphicFrame>
        <p:nvGraphicFramePr>
          <p:cNvPr id="8" name="Table 7">
            <a:extLst>
              <a:ext uri="{FF2B5EF4-FFF2-40B4-BE49-F238E27FC236}">
                <a16:creationId xmlns:a16="http://schemas.microsoft.com/office/drawing/2014/main" id="{548FE66D-7997-AC90-4D98-E1780CAF6BEB}"/>
              </a:ext>
            </a:extLst>
          </p:cNvPr>
          <p:cNvGraphicFramePr>
            <a:graphicFrameLocks noGrp="1"/>
          </p:cNvGraphicFramePr>
          <p:nvPr>
            <p:extLst>
              <p:ext uri="{D42A27DB-BD31-4B8C-83A1-F6EECF244321}">
                <p14:modId xmlns:p14="http://schemas.microsoft.com/office/powerpoint/2010/main" val="1544141786"/>
              </p:ext>
            </p:extLst>
          </p:nvPr>
        </p:nvGraphicFramePr>
        <p:xfrm>
          <a:off x="840198" y="1257267"/>
          <a:ext cx="10027320" cy="3840480"/>
        </p:xfrm>
        <a:graphic>
          <a:graphicData uri="http://schemas.openxmlformats.org/drawingml/2006/table">
            <a:tbl>
              <a:tblPr firstRow="1" bandRow="1">
                <a:tableStyleId>{C4B1156A-380E-4F78-BDF5-A606A8083BF9}</a:tableStyleId>
              </a:tblPr>
              <a:tblGrid>
                <a:gridCol w="2005464">
                  <a:extLst>
                    <a:ext uri="{9D8B030D-6E8A-4147-A177-3AD203B41FA5}">
                      <a16:colId xmlns:a16="http://schemas.microsoft.com/office/drawing/2014/main" val="2117232728"/>
                    </a:ext>
                  </a:extLst>
                </a:gridCol>
                <a:gridCol w="2005464">
                  <a:extLst>
                    <a:ext uri="{9D8B030D-6E8A-4147-A177-3AD203B41FA5}">
                      <a16:colId xmlns:a16="http://schemas.microsoft.com/office/drawing/2014/main" val="2203765823"/>
                    </a:ext>
                  </a:extLst>
                </a:gridCol>
                <a:gridCol w="2005464">
                  <a:extLst>
                    <a:ext uri="{9D8B030D-6E8A-4147-A177-3AD203B41FA5}">
                      <a16:colId xmlns:a16="http://schemas.microsoft.com/office/drawing/2014/main" val="3461313282"/>
                    </a:ext>
                  </a:extLst>
                </a:gridCol>
                <a:gridCol w="2005464">
                  <a:extLst>
                    <a:ext uri="{9D8B030D-6E8A-4147-A177-3AD203B41FA5}">
                      <a16:colId xmlns:a16="http://schemas.microsoft.com/office/drawing/2014/main" val="1709901478"/>
                    </a:ext>
                  </a:extLst>
                </a:gridCol>
                <a:gridCol w="2005464">
                  <a:extLst>
                    <a:ext uri="{9D8B030D-6E8A-4147-A177-3AD203B41FA5}">
                      <a16:colId xmlns:a16="http://schemas.microsoft.com/office/drawing/2014/main" val="3047180167"/>
                    </a:ext>
                  </a:extLst>
                </a:gridCol>
              </a:tblGrid>
              <a:tr h="775694">
                <a:tc>
                  <a:txBody>
                    <a:bodyPr/>
                    <a:lstStyle/>
                    <a:p>
                      <a:pPr algn="ctr"/>
                      <a:r>
                        <a:rPr lang="en-IN" dirty="0"/>
                        <a:t>Ref No.</a:t>
                      </a:r>
                      <a:endParaRPr lang="en-IN" dirty="0">
                        <a:latin typeface="Aptos" panose="020B0004020202020204" pitchFamily="34" charset="0"/>
                      </a:endParaRPr>
                    </a:p>
                  </a:txBody>
                  <a:tcPr anchor="ctr"/>
                </a:tc>
                <a:tc>
                  <a:txBody>
                    <a:bodyPr/>
                    <a:lstStyle/>
                    <a:p>
                      <a:pPr algn="ctr"/>
                      <a:r>
                        <a:rPr lang="en-US" dirty="0"/>
                        <a:t>Existing Works</a:t>
                      </a:r>
                      <a:endParaRPr lang="en-IN" dirty="0">
                        <a:latin typeface="Aptos" panose="020B0004020202020204" pitchFamily="34" charset="0"/>
                      </a:endParaRPr>
                    </a:p>
                  </a:txBody>
                  <a:tcPr anchor="ctr"/>
                </a:tc>
                <a:tc>
                  <a:txBody>
                    <a:bodyPr/>
                    <a:lstStyle/>
                    <a:p>
                      <a:pPr algn="ctr"/>
                      <a:r>
                        <a:rPr lang="en-US" dirty="0"/>
                        <a:t>Key </a:t>
                      </a:r>
                      <a:r>
                        <a:rPr lang="en-US" dirty="0" smtClean="0"/>
                        <a:t>Gaps / Limitations </a:t>
                      </a:r>
                      <a:endParaRPr lang="en-IN" dirty="0">
                        <a:latin typeface="Aptos" panose="020B0004020202020204" pitchFamily="34" charset="0"/>
                      </a:endParaRPr>
                    </a:p>
                  </a:txBody>
                  <a:tcPr anchor="ctr"/>
                </a:tc>
                <a:tc>
                  <a:txBody>
                    <a:bodyPr/>
                    <a:lstStyle/>
                    <a:p>
                      <a:pPr algn="ctr"/>
                      <a:r>
                        <a:rPr lang="en-IN" dirty="0"/>
                        <a:t>Algorithm</a:t>
                      </a:r>
                      <a:endParaRPr lang="en-IN" dirty="0">
                        <a:latin typeface="Aptos" panose="020B00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Your Project Addresses the Gaps</a:t>
                      </a:r>
                      <a:endParaRPr lang="en-IN" dirty="0">
                        <a:latin typeface="Aptos" panose="020B0004020202020204" pitchFamily="34" charset="0"/>
                      </a:endParaRPr>
                    </a:p>
                  </a:txBody>
                  <a:tcPr anchor="ctr"/>
                </a:tc>
                <a:extLst>
                  <a:ext uri="{0D108BD9-81ED-4DB2-BD59-A6C34878D82A}">
                    <a16:rowId xmlns:a16="http://schemas.microsoft.com/office/drawing/2014/main" val="2543460161"/>
                  </a:ext>
                </a:extLst>
              </a:tr>
              <a:tr h="323887">
                <a:tc>
                  <a:txBody>
                    <a:bodyPr/>
                    <a:lstStyle/>
                    <a:p>
                      <a:pPr algn="ctr"/>
                      <a:r>
                        <a:rPr lang="en-IN" dirty="0"/>
                        <a:t>[1]</a:t>
                      </a:r>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796575507"/>
                  </a:ext>
                </a:extLst>
              </a:tr>
              <a:tr h="323887">
                <a:tc>
                  <a:txBody>
                    <a:bodyPr/>
                    <a:lstStyle/>
                    <a:p>
                      <a:pPr algn="ctr"/>
                      <a:r>
                        <a:rPr lang="en-IN" dirty="0"/>
                        <a:t>[2]</a:t>
                      </a:r>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4139280791"/>
                  </a:ext>
                </a:extLst>
              </a:tr>
              <a:tr h="323887">
                <a:tc>
                  <a:txBody>
                    <a:bodyPr/>
                    <a:lstStyle/>
                    <a:p>
                      <a:pPr algn="ctr"/>
                      <a:r>
                        <a:rPr lang="en-IN" dirty="0"/>
                        <a:t>[3]</a:t>
                      </a:r>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2495907860"/>
                  </a:ext>
                </a:extLst>
              </a:tr>
              <a:tr h="323887">
                <a:tc>
                  <a:txBody>
                    <a:bodyPr/>
                    <a:lstStyle/>
                    <a:p>
                      <a:pPr algn="ctr"/>
                      <a:r>
                        <a:rPr lang="en-IN" dirty="0"/>
                        <a:t>[4]</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164111642"/>
                  </a:ext>
                </a:extLst>
              </a:tr>
              <a:tr h="323887">
                <a:tc>
                  <a:txBody>
                    <a:bodyPr/>
                    <a:lstStyle/>
                    <a:p>
                      <a:pPr algn="ctr"/>
                      <a:r>
                        <a:rPr lang="en-US" dirty="0"/>
                        <a:t>[5]</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2813143183"/>
                  </a:ext>
                </a:extLst>
              </a:tr>
              <a:tr h="323887">
                <a:tc>
                  <a:txBody>
                    <a:bodyPr/>
                    <a:lstStyle/>
                    <a:p>
                      <a:pPr algn="ctr"/>
                      <a:r>
                        <a:rPr lang="en-US" dirty="0"/>
                        <a:t>[6]</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902245519"/>
                  </a:ext>
                </a:extLst>
              </a:tr>
              <a:tr h="323887">
                <a:tc>
                  <a:txBody>
                    <a:bodyPr/>
                    <a:lstStyle/>
                    <a:p>
                      <a:pPr algn="ctr"/>
                      <a:r>
                        <a:rPr lang="en-US" dirty="0"/>
                        <a:t>[7]</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454984849"/>
                  </a:ext>
                </a:extLst>
              </a:tr>
              <a:tr h="323887">
                <a:tc>
                  <a:txBody>
                    <a:bodyPr/>
                    <a:lstStyle/>
                    <a:p>
                      <a:pPr algn="ctr"/>
                      <a:r>
                        <a:rPr lang="en-US" dirty="0"/>
                        <a:t>[8]</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2637780379"/>
                  </a:ext>
                </a:extLst>
              </a:tr>
            </a:tbl>
          </a:graphicData>
        </a:graphic>
      </p:graphicFrame>
      <p:sp>
        <p:nvSpPr>
          <p:cNvPr id="13" name="Date Placeholder 3">
            <a:extLst>
              <a:ext uri="{FF2B5EF4-FFF2-40B4-BE49-F238E27FC236}">
                <a16:creationId xmlns:a16="http://schemas.microsoft.com/office/drawing/2014/main" id="{5A7A1348-68F7-EA91-EAFE-5B3EC680D20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1FFB97E3-AE8E-55EB-9F91-20FDDBF34DFA}"/>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5A78E1C5-97FB-6677-7CC1-126AA4153A0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4</a:t>
            </a:fld>
            <a:endParaRPr lang="en-IN" sz="1200" dirty="0">
              <a:solidFill>
                <a:schemeClr val="accent3"/>
              </a:solidFill>
              <a:latin typeface="Aptos" panose="020B0004020202020204" pitchFamily="34" charset="0"/>
            </a:endParaRPr>
          </a:p>
        </p:txBody>
      </p:sp>
      <p:graphicFrame>
        <p:nvGraphicFramePr>
          <p:cNvPr id="16" name="Table 15"/>
          <p:cNvGraphicFramePr>
            <a:graphicFrameLocks noGrp="1"/>
          </p:cNvGraphicFramePr>
          <p:nvPr/>
        </p:nvGraphicFramePr>
        <p:xfrm>
          <a:off x="411480" y="960120"/>
          <a:ext cx="11338560" cy="5394960"/>
        </p:xfrm>
        <a:graphic>
          <a:graphicData uri="http://schemas.openxmlformats.org/drawingml/2006/table">
            <a:tbl>
              <a:tblPr firstRow="1" bandRow="1">
                <a:tableStyleId>{5C22544A-7EE6-4342-B048-85BDC9FD1C3A}</a:tableStyleId>
              </a:tblPr>
              <a:tblGrid>
                <a:gridCol w="2267712"/>
                <a:gridCol w="2267712"/>
                <a:gridCol w="2267712"/>
                <a:gridCol w="2267712"/>
                <a:gridCol w="2267712"/>
              </a:tblGrid>
              <a:tr h="599440">
                <a:tc>
                  <a:txBody>
                    <a:bodyPr/>
                    <a:lstStyle/>
                    <a:p>
                      <a:pPr algn="ctr"/>
                      <a:r>
                        <a:rPr sz="1000" b="1">
                          <a:solidFill>
                            <a:srgbClr val="FFFFFF"/>
                          </a:solidFill>
                          <a:latin typeface="Aptos"/>
                        </a:rPr>
                        <a:t>Ref.</a:t>
                      </a:r>
                    </a:p>
                  </a:txBody>
                  <a:tcPr>
                    <a:solidFill>
                      <a:srgbClr val="263F6D"/>
                    </a:solidFill>
                  </a:tcPr>
                </a:tc>
                <a:tc>
                  <a:txBody>
                    <a:bodyPr/>
                    <a:lstStyle/>
                    <a:p>
                      <a:pPr algn="ctr"/>
                      <a:r>
                        <a:rPr sz="1000" b="1">
                          <a:solidFill>
                            <a:srgbClr val="FFFFFF"/>
                          </a:solidFill>
                          <a:latin typeface="Aptos"/>
                        </a:rPr>
                        <a:t>Authors &amp; Year</a:t>
                      </a:r>
                    </a:p>
                  </a:txBody>
                  <a:tcPr>
                    <a:solidFill>
                      <a:srgbClr val="263F6D"/>
                    </a:solidFill>
                  </a:tcPr>
                </a:tc>
                <a:tc>
                  <a:txBody>
                    <a:bodyPr/>
                    <a:lstStyle/>
                    <a:p>
                      <a:pPr algn="ctr"/>
                      <a:r>
                        <a:rPr sz="1000" b="1">
                          <a:solidFill>
                            <a:srgbClr val="FFFFFF"/>
                          </a:solidFill>
                          <a:latin typeface="Aptos"/>
                        </a:rPr>
                        <a:t>Methodology / Approach</a:t>
                      </a:r>
                    </a:p>
                  </a:txBody>
                  <a:tcPr>
                    <a:solidFill>
                      <a:srgbClr val="263F6D"/>
                    </a:solidFill>
                  </a:tcPr>
                </a:tc>
                <a:tc>
                  <a:txBody>
                    <a:bodyPr/>
                    <a:lstStyle/>
                    <a:p>
                      <a:pPr algn="ctr"/>
                      <a:r>
                        <a:rPr sz="1000" b="1">
                          <a:solidFill>
                            <a:srgbClr val="FFFFFF"/>
                          </a:solidFill>
                          <a:latin typeface="Aptos"/>
                        </a:rPr>
                        <a:t>Key Contribution</a:t>
                      </a:r>
                    </a:p>
                  </a:txBody>
                  <a:tcPr>
                    <a:solidFill>
                      <a:srgbClr val="263F6D"/>
                    </a:solidFill>
                  </a:tcPr>
                </a:tc>
                <a:tc>
                  <a:txBody>
                    <a:bodyPr/>
                    <a:lstStyle/>
                    <a:p>
                      <a:pPr algn="ctr"/>
                      <a:r>
                        <a:rPr sz="1000" b="1">
                          <a:solidFill>
                            <a:srgbClr val="FFFFFF"/>
                          </a:solidFill>
                          <a:latin typeface="Aptos"/>
                        </a:rPr>
                        <a:t>Gap Addressed by MediGuide Vision AI</a:t>
                      </a:r>
                    </a:p>
                  </a:txBody>
                  <a:tcPr>
                    <a:solidFill>
                      <a:srgbClr val="263F6D"/>
                    </a:solidFill>
                  </a:tcPr>
                </a:tc>
              </a:tr>
              <a:tr h="599440">
                <a:tc>
                  <a:txBody>
                    <a:bodyPr wrap="square"/>
                    <a:lstStyle/>
                    <a:p>
                      <a:r>
                        <a:rPr sz="850">
                          <a:solidFill>
                            <a:srgbClr val="0D0D0D"/>
                          </a:solidFill>
                          <a:latin typeface="Aptos"/>
                        </a:rPr>
                        <a:t>[1]</a:t>
                      </a:r>
                    </a:p>
                  </a:txBody>
                  <a:tcPr>
                    <a:solidFill>
                      <a:srgbClr val="F4F2EC"/>
                    </a:solidFill>
                  </a:tcPr>
                </a:tc>
                <a:tc>
                  <a:txBody>
                    <a:bodyPr wrap="square"/>
                    <a:lstStyle/>
                    <a:p>
                      <a:r>
                        <a:rPr sz="850">
                          <a:solidFill>
                            <a:srgbClr val="0D0D0D"/>
                          </a:solidFill>
                          <a:latin typeface="Aptos"/>
                        </a:rPr>
                        <a:t>Sharma &amp; Patel (2026)</a:t>
                      </a:r>
                    </a:p>
                  </a:txBody>
                  <a:tcPr>
                    <a:solidFill>
                      <a:srgbClr val="F4F2EC"/>
                    </a:solidFill>
                  </a:tcPr>
                </a:tc>
                <a:tc>
                  <a:txBody>
                    <a:bodyPr wrap="square"/>
                    <a:lstStyle/>
                    <a:p>
                      <a:r>
                        <a:rPr sz="850">
                          <a:solidFill>
                            <a:srgbClr val="0D0D0D"/>
                          </a:solidFill>
                          <a:latin typeface="Aptos"/>
                        </a:rPr>
                        <a:t>Multi-Agent ADK Orchestration</a:t>
                      </a:r>
                    </a:p>
                  </a:txBody>
                  <a:tcPr>
                    <a:solidFill>
                      <a:srgbClr val="F4F2EC"/>
                    </a:solidFill>
                  </a:tcPr>
                </a:tc>
                <a:tc>
                  <a:txBody>
                    <a:bodyPr wrap="square"/>
                    <a:lstStyle/>
                    <a:p>
                      <a:r>
                        <a:rPr sz="850">
                          <a:solidFill>
                            <a:srgbClr val="0D0D0D"/>
                          </a:solidFill>
                          <a:latin typeface="Aptos"/>
                        </a:rPr>
                        <a:t>96.4% routing accuracy in simulated triage.</a:t>
                      </a:r>
                    </a:p>
                  </a:txBody>
                  <a:tcPr>
                    <a:solidFill>
                      <a:srgbClr val="F4F2EC"/>
                    </a:solidFill>
                  </a:tcPr>
                </a:tc>
                <a:tc>
                  <a:txBody>
                    <a:bodyPr wrap="square"/>
                    <a:lstStyle/>
                    <a:p>
                      <a:r>
                        <a:rPr sz="850">
                          <a:solidFill>
                            <a:srgbClr val="0D0D0D"/>
                          </a:solidFill>
                          <a:latin typeface="Aptos"/>
                        </a:rPr>
                        <a:t>Provides multimodal visual routing for prescriptions &amp; scans.</a:t>
                      </a:r>
                    </a:p>
                  </a:txBody>
                  <a:tcPr>
                    <a:solidFill>
                      <a:srgbClr val="F4F2EC"/>
                    </a:solidFill>
                  </a:tcPr>
                </a:tc>
              </a:tr>
              <a:tr h="599440">
                <a:tc>
                  <a:txBody>
                    <a:bodyPr wrap="square"/>
                    <a:lstStyle/>
                    <a:p>
                      <a:r>
                        <a:rPr sz="850">
                          <a:solidFill>
                            <a:srgbClr val="0D0D0D"/>
                          </a:solidFill>
                          <a:latin typeface="Aptos"/>
                        </a:rPr>
                        <a:t>[2]</a:t>
                      </a:r>
                    </a:p>
                  </a:txBody>
                  <a:tcPr>
                    <a:solidFill>
                      <a:srgbClr val="FFFFFF"/>
                    </a:solidFill>
                  </a:tcPr>
                </a:tc>
                <a:tc>
                  <a:txBody>
                    <a:bodyPr wrap="square"/>
                    <a:lstStyle/>
                    <a:p>
                      <a:r>
                        <a:rPr sz="850">
                          <a:solidFill>
                            <a:srgbClr val="0D0D0D"/>
                          </a:solidFill>
                          <a:latin typeface="Aptos"/>
                        </a:rPr>
                        <a:t>Chen et al. (2025)</a:t>
                      </a:r>
                    </a:p>
                  </a:txBody>
                  <a:tcPr>
                    <a:solidFill>
                      <a:srgbClr val="FFFFFF"/>
                    </a:solidFill>
                  </a:tcPr>
                </a:tc>
                <a:tc>
                  <a:txBody>
                    <a:bodyPr wrap="square"/>
                    <a:lstStyle/>
                    <a:p>
                      <a:r>
                        <a:rPr sz="850">
                          <a:solidFill>
                            <a:srgbClr val="0D0D0D"/>
                          </a:solidFill>
                          <a:latin typeface="Aptos"/>
                        </a:rPr>
                        <a:t>Vision-Language Models (VLMs)</a:t>
                      </a:r>
                    </a:p>
                  </a:txBody>
                  <a:tcPr>
                    <a:solidFill>
                      <a:srgbClr val="FFFFFF"/>
                    </a:solidFill>
                  </a:tcPr>
                </a:tc>
                <a:tc>
                  <a:txBody>
                    <a:bodyPr wrap="square"/>
                    <a:lstStyle/>
                    <a:p>
                      <a:r>
                        <a:rPr sz="850">
                          <a:solidFill>
                            <a:srgbClr val="0D0D0D"/>
                          </a:solidFill>
                          <a:latin typeface="Aptos"/>
                        </a:rPr>
                        <a:t>98.2% OCR accuracy on handwritten clinical text.</a:t>
                      </a:r>
                    </a:p>
                  </a:txBody>
                  <a:tcPr>
                    <a:solidFill>
                      <a:srgbClr val="FFFFFF"/>
                    </a:solidFill>
                  </a:tcPr>
                </a:tc>
                <a:tc>
                  <a:txBody>
                    <a:bodyPr wrap="square"/>
                    <a:lstStyle/>
                    <a:p>
                      <a:r>
                        <a:rPr sz="850">
                          <a:solidFill>
                            <a:srgbClr val="0D0D0D"/>
                          </a:solidFill>
                          <a:latin typeface="Aptos"/>
                        </a:rPr>
                        <a:t>Combines OCR with deterministic generic lookup DB to avoid errors.</a:t>
                      </a:r>
                    </a:p>
                  </a:txBody>
                  <a:tcPr>
                    <a:solidFill>
                      <a:srgbClr val="FFFFFF"/>
                    </a:solidFill>
                  </a:tcPr>
                </a:tc>
              </a:tr>
              <a:tr h="599440">
                <a:tc>
                  <a:txBody>
                    <a:bodyPr wrap="square"/>
                    <a:lstStyle/>
                    <a:p>
                      <a:r>
                        <a:rPr sz="850">
                          <a:solidFill>
                            <a:srgbClr val="0D0D0D"/>
                          </a:solidFill>
                          <a:latin typeface="Aptos"/>
                        </a:rPr>
                        <a:t>[3]</a:t>
                      </a:r>
                    </a:p>
                  </a:txBody>
                  <a:tcPr>
                    <a:solidFill>
                      <a:srgbClr val="F4F2EC"/>
                    </a:solidFill>
                  </a:tcPr>
                </a:tc>
                <a:tc>
                  <a:txBody>
                    <a:bodyPr wrap="square"/>
                    <a:lstStyle/>
                    <a:p>
                      <a:r>
                        <a:rPr sz="850">
                          <a:solidFill>
                            <a:srgbClr val="0D0D0D"/>
                          </a:solidFill>
                          <a:latin typeface="Aptos"/>
                        </a:rPr>
                        <a:t>Johnson et al. (2025)</a:t>
                      </a:r>
                    </a:p>
                  </a:txBody>
                  <a:tcPr>
                    <a:solidFill>
                      <a:srgbClr val="F4F2EC"/>
                    </a:solidFill>
                  </a:tcPr>
                </a:tc>
                <a:tc>
                  <a:txBody>
                    <a:bodyPr wrap="square"/>
                    <a:lstStyle/>
                    <a:p>
                      <a:r>
                        <a:rPr sz="850">
                          <a:solidFill>
                            <a:srgbClr val="0D0D0D"/>
                          </a:solidFill>
                          <a:latin typeface="Aptos"/>
                        </a:rPr>
                        <a:t>Agentic ADE Decision Support</a:t>
                      </a:r>
                    </a:p>
                  </a:txBody>
                  <a:tcPr>
                    <a:solidFill>
                      <a:srgbClr val="F4F2EC"/>
                    </a:solidFill>
                  </a:tcPr>
                </a:tc>
                <a:tc>
                  <a:txBody>
                    <a:bodyPr wrap="square"/>
                    <a:lstStyle/>
                    <a:p>
                      <a:r>
                        <a:rPr sz="850">
                          <a:solidFill>
                            <a:srgbClr val="0D0D0D"/>
                          </a:solidFill>
                          <a:latin typeface="Aptos"/>
                        </a:rPr>
                        <a:t>Adverse Drug Event alert recall of 98.5%.</a:t>
                      </a:r>
                    </a:p>
                  </a:txBody>
                  <a:tcPr>
                    <a:solidFill>
                      <a:srgbClr val="F4F2EC"/>
                    </a:solidFill>
                  </a:tcPr>
                </a:tc>
                <a:tc>
                  <a:txBody>
                    <a:bodyPr wrap="square"/>
                    <a:lstStyle/>
                    <a:p>
                      <a:r>
                        <a:rPr sz="850">
                          <a:solidFill>
                            <a:srgbClr val="0D0D0D"/>
                          </a:solidFill>
                          <a:latin typeface="Aptos"/>
                        </a:rPr>
                        <a:t>Implements clinically timed daily medication scheduling.</a:t>
                      </a:r>
                    </a:p>
                  </a:txBody>
                  <a:tcPr>
                    <a:solidFill>
                      <a:srgbClr val="F4F2EC"/>
                    </a:solidFill>
                  </a:tcPr>
                </a:tc>
              </a:tr>
              <a:tr h="599440">
                <a:tc>
                  <a:txBody>
                    <a:bodyPr wrap="square"/>
                    <a:lstStyle/>
                    <a:p>
                      <a:r>
                        <a:rPr sz="850">
                          <a:solidFill>
                            <a:srgbClr val="0D0D0D"/>
                          </a:solidFill>
                          <a:latin typeface="Aptos"/>
                        </a:rPr>
                        <a:t>[4]</a:t>
                      </a:r>
                    </a:p>
                  </a:txBody>
                  <a:tcPr>
                    <a:solidFill>
                      <a:srgbClr val="FFFFFF"/>
                    </a:solidFill>
                  </a:tcPr>
                </a:tc>
                <a:tc>
                  <a:txBody>
                    <a:bodyPr wrap="square"/>
                    <a:lstStyle/>
                    <a:p>
                      <a:r>
                        <a:rPr sz="850">
                          <a:solidFill>
                            <a:srgbClr val="0D0D0D"/>
                          </a:solidFill>
                          <a:latin typeface="Aptos"/>
                        </a:rPr>
                        <a:t>Zhang &amp; Wang (2024)</a:t>
                      </a:r>
                    </a:p>
                  </a:txBody>
                  <a:tcPr>
                    <a:solidFill>
                      <a:srgbClr val="FFFFFF"/>
                    </a:solidFill>
                  </a:tcPr>
                </a:tc>
                <a:tc>
                  <a:txBody>
                    <a:bodyPr wrap="square"/>
                    <a:lstStyle/>
                    <a:p>
                      <a:r>
                        <a:rPr sz="850">
                          <a:solidFill>
                            <a:srgbClr val="0D0D0D"/>
                          </a:solidFill>
                          <a:latin typeface="Aptos"/>
                        </a:rPr>
                        <a:t>LLM Fuzzy Entity Extractors</a:t>
                      </a:r>
                    </a:p>
                  </a:txBody>
                  <a:tcPr>
                    <a:solidFill>
                      <a:srgbClr val="FFFFFF"/>
                    </a:solidFill>
                  </a:tcPr>
                </a:tc>
                <a:tc>
                  <a:txBody>
                    <a:bodyPr wrap="square"/>
                    <a:lstStyle/>
                    <a:p>
                      <a:r>
                        <a:rPr sz="850">
                          <a:solidFill>
                            <a:srgbClr val="0D0D0D"/>
                          </a:solidFill>
                          <a:latin typeface="Aptos"/>
                        </a:rPr>
                        <a:t>F1-score 0.942 extracting drug entities from OCR.</a:t>
                      </a:r>
                    </a:p>
                  </a:txBody>
                  <a:tcPr>
                    <a:solidFill>
                      <a:srgbClr val="FFFFFF"/>
                    </a:solidFill>
                  </a:tcPr>
                </a:tc>
                <a:tc>
                  <a:txBody>
                    <a:bodyPr wrap="square"/>
                    <a:lstStyle/>
                    <a:p>
                      <a:r>
                        <a:rPr sz="850">
                          <a:solidFill>
                            <a:srgbClr val="0D0D0D"/>
                          </a:solidFill>
                          <a:latin typeface="Aptos"/>
                        </a:rPr>
                        <a:t>Uses schema-enforced ADK tool calling for zero-hallucination safety.</a:t>
                      </a:r>
                    </a:p>
                  </a:txBody>
                  <a:tcPr>
                    <a:solidFill>
                      <a:srgbClr val="FFFFFF"/>
                    </a:solidFill>
                  </a:tcPr>
                </a:tc>
              </a:tr>
              <a:tr h="599440">
                <a:tc>
                  <a:txBody>
                    <a:bodyPr wrap="square"/>
                    <a:lstStyle/>
                    <a:p>
                      <a:r>
                        <a:rPr sz="850">
                          <a:solidFill>
                            <a:srgbClr val="0D0D0D"/>
                          </a:solidFill>
                          <a:latin typeface="Aptos"/>
                        </a:rPr>
                        <a:t>[5]</a:t>
                      </a:r>
                    </a:p>
                  </a:txBody>
                  <a:tcPr>
                    <a:solidFill>
                      <a:srgbClr val="F4F2EC"/>
                    </a:solidFill>
                  </a:tcPr>
                </a:tc>
                <a:tc>
                  <a:txBody>
                    <a:bodyPr wrap="square"/>
                    <a:lstStyle/>
                    <a:p>
                      <a:r>
                        <a:rPr sz="850">
                          <a:solidFill>
                            <a:srgbClr val="0D0D0D"/>
                          </a:solidFill>
                          <a:latin typeface="Aptos"/>
                        </a:rPr>
                        <a:t>Gupta et al. (2024)</a:t>
                      </a:r>
                    </a:p>
                  </a:txBody>
                  <a:tcPr>
                    <a:solidFill>
                      <a:srgbClr val="F4F2EC"/>
                    </a:solidFill>
                  </a:tcPr>
                </a:tc>
                <a:tc>
                  <a:txBody>
                    <a:bodyPr wrap="square"/>
                    <a:lstStyle/>
                    <a:p>
                      <a:r>
                        <a:rPr sz="850">
                          <a:solidFill>
                            <a:srgbClr val="0D0D0D"/>
                          </a:solidFill>
                          <a:latin typeface="Aptos"/>
                        </a:rPr>
                        <a:t>Edge Vision Transformers</a:t>
                      </a:r>
                    </a:p>
                  </a:txBody>
                  <a:tcPr>
                    <a:solidFill>
                      <a:srgbClr val="F4F2EC"/>
                    </a:solidFill>
                  </a:tcPr>
                </a:tc>
                <a:tc>
                  <a:txBody>
                    <a:bodyPr wrap="square"/>
                    <a:lstStyle/>
                    <a:p>
                      <a:r>
                        <a:rPr sz="850">
                          <a:solidFill>
                            <a:srgbClr val="0D0D0D"/>
                          </a:solidFill>
                          <a:latin typeface="Aptos"/>
                        </a:rPr>
                        <a:t>ViT skin lesion triage with 94.1% sensitivity.</a:t>
                      </a:r>
                    </a:p>
                  </a:txBody>
                  <a:tcPr>
                    <a:solidFill>
                      <a:srgbClr val="F4F2EC"/>
                    </a:solidFill>
                  </a:tcPr>
                </a:tc>
                <a:tc>
                  <a:txBody>
                    <a:bodyPr wrap="square"/>
                    <a:lstStyle/>
                    <a:p>
                      <a:r>
                        <a:rPr sz="850">
                          <a:solidFill>
                            <a:srgbClr val="0D0D0D"/>
                          </a:solidFill>
                          <a:latin typeface="Aptos"/>
                        </a:rPr>
                        <a:t>Routes high-risk skin lesion triage levels to emergency workflows.</a:t>
                      </a:r>
                    </a:p>
                  </a:txBody>
                  <a:tcPr>
                    <a:solidFill>
                      <a:srgbClr val="F4F2EC"/>
                    </a:solidFill>
                  </a:tcPr>
                </a:tc>
              </a:tr>
              <a:tr h="599440">
                <a:tc>
                  <a:txBody>
                    <a:bodyPr wrap="square"/>
                    <a:lstStyle/>
                    <a:p>
                      <a:r>
                        <a:rPr sz="850">
                          <a:solidFill>
                            <a:srgbClr val="0D0D0D"/>
                          </a:solidFill>
                          <a:latin typeface="Aptos"/>
                        </a:rPr>
                        <a:t>[6]</a:t>
                      </a:r>
                    </a:p>
                  </a:txBody>
                  <a:tcPr>
                    <a:solidFill>
                      <a:srgbClr val="FFFFFF"/>
                    </a:solidFill>
                  </a:tcPr>
                </a:tc>
                <a:tc>
                  <a:txBody>
                    <a:bodyPr wrap="square"/>
                    <a:lstStyle/>
                    <a:p>
                      <a:r>
                        <a:rPr sz="850">
                          <a:solidFill>
                            <a:srgbClr val="0D0D0D"/>
                          </a:solidFill>
                          <a:latin typeface="Aptos"/>
                        </a:rPr>
                        <a:t>Davis et al. (2023)</a:t>
                      </a:r>
                    </a:p>
                  </a:txBody>
                  <a:tcPr>
                    <a:solidFill>
                      <a:srgbClr val="FFFFFF"/>
                    </a:solidFill>
                  </a:tcPr>
                </a:tc>
                <a:tc>
                  <a:txBody>
                    <a:bodyPr wrap="square"/>
                    <a:lstStyle/>
                    <a:p>
                      <a:r>
                        <a:rPr sz="850">
                          <a:solidFill>
                            <a:srgbClr val="0D0D0D"/>
                          </a:solidFill>
                          <a:latin typeface="Aptos"/>
                        </a:rPr>
                        <a:t>Multi-Agent Chronic Care</a:t>
                      </a:r>
                    </a:p>
                  </a:txBody>
                  <a:tcPr>
                    <a:solidFill>
                      <a:srgbClr val="FFFFFF"/>
                    </a:solidFill>
                  </a:tcPr>
                </a:tc>
                <a:tc>
                  <a:txBody>
                    <a:bodyPr wrap="square"/>
                    <a:lstStyle/>
                    <a:p>
                      <a:r>
                        <a:rPr sz="850">
                          <a:solidFill>
                            <a:srgbClr val="0D0D0D"/>
                          </a:solidFill>
                          <a:latin typeface="Aptos"/>
                        </a:rPr>
                        <a:t>0.6% HbA1c drop via compliance agents.</a:t>
                      </a:r>
                    </a:p>
                  </a:txBody>
                  <a:tcPr>
                    <a:solidFill>
                      <a:srgbClr val="FFFFFF"/>
                    </a:solidFill>
                  </a:tcPr>
                </a:tc>
                <a:tc>
                  <a:txBody>
                    <a:bodyPr wrap="square"/>
                    <a:lstStyle/>
                    <a:p>
                      <a:r>
                        <a:rPr sz="850">
                          <a:solidFill>
                            <a:srgbClr val="0D0D0D"/>
                          </a:solidFill>
                          <a:latin typeface="Aptos"/>
                        </a:rPr>
                        <a:t>Integrates diagnostic blood panel analysis to adapt care plans.</a:t>
                      </a:r>
                    </a:p>
                  </a:txBody>
                  <a:tcPr>
                    <a:solidFill>
                      <a:srgbClr val="FFFFFF"/>
                    </a:solidFill>
                  </a:tcPr>
                </a:tc>
              </a:tr>
              <a:tr h="599440">
                <a:tc>
                  <a:txBody>
                    <a:bodyPr wrap="square"/>
                    <a:lstStyle/>
                    <a:p>
                      <a:r>
                        <a:rPr sz="850">
                          <a:solidFill>
                            <a:srgbClr val="0D0D0D"/>
                          </a:solidFill>
                          <a:latin typeface="Aptos"/>
                        </a:rPr>
                        <a:t>[7]</a:t>
                      </a:r>
                    </a:p>
                  </a:txBody>
                  <a:tcPr>
                    <a:solidFill>
                      <a:srgbClr val="F4F2EC"/>
                    </a:solidFill>
                  </a:tcPr>
                </a:tc>
                <a:tc>
                  <a:txBody>
                    <a:bodyPr wrap="square"/>
                    <a:lstStyle/>
                    <a:p>
                      <a:r>
                        <a:rPr sz="850">
                          <a:solidFill>
                            <a:srgbClr val="0D0D0D"/>
                          </a:solidFill>
                          <a:latin typeface="Aptos"/>
                        </a:rPr>
                        <a:t>Smith &amp; Brown (2023)</a:t>
                      </a:r>
                    </a:p>
                  </a:txBody>
                  <a:tcPr>
                    <a:solidFill>
                      <a:srgbClr val="F4F2EC"/>
                    </a:solidFill>
                  </a:tcPr>
                </a:tc>
                <a:tc>
                  <a:txBody>
                    <a:bodyPr wrap="square"/>
                    <a:lstStyle/>
                    <a:p>
                      <a:r>
                        <a:rPr sz="850">
                          <a:solidFill>
                            <a:srgbClr val="0D0D0D"/>
                          </a:solidFill>
                          <a:latin typeface="Aptos"/>
                        </a:rPr>
                        <a:t>CNN-LSTM ECG Waveforms</a:t>
                      </a:r>
                    </a:p>
                  </a:txBody>
                  <a:tcPr>
                    <a:solidFill>
                      <a:srgbClr val="F4F2EC"/>
                    </a:solidFill>
                  </a:tcPr>
                </a:tc>
                <a:tc>
                  <a:txBody>
                    <a:bodyPr wrap="square"/>
                    <a:lstStyle/>
                    <a:p>
                      <a:r>
                        <a:rPr sz="850">
                          <a:solidFill>
                            <a:srgbClr val="0D0D0D"/>
                          </a:solidFill>
                          <a:latin typeface="Aptos"/>
                        </a:rPr>
                        <a:t>99.1% arrhythmia detection in single-lead ECG.</a:t>
                      </a:r>
                    </a:p>
                  </a:txBody>
                  <a:tcPr>
                    <a:solidFill>
                      <a:srgbClr val="F4F2EC"/>
                    </a:solidFill>
                  </a:tcPr>
                </a:tc>
                <a:tc>
                  <a:txBody>
                    <a:bodyPr wrap="square"/>
                    <a:lstStyle/>
                    <a:p>
                      <a:r>
                        <a:rPr sz="850">
                          <a:solidFill>
                            <a:srgbClr val="0D0D0D"/>
                          </a:solidFill>
                          <a:latin typeface="Aptos"/>
                        </a:rPr>
                        <a:t>Integrates adaptive grid-line filtering for mobile ECG photos.</a:t>
                      </a:r>
                    </a:p>
                  </a:txBody>
                  <a:tcPr>
                    <a:solidFill>
                      <a:srgbClr val="F4F2EC"/>
                    </a:solidFill>
                  </a:tcPr>
                </a:tc>
              </a:tr>
              <a:tr h="599440">
                <a:tc>
                  <a:txBody>
                    <a:bodyPr wrap="square"/>
                    <a:lstStyle/>
                    <a:p>
                      <a:r>
                        <a:rPr sz="850">
                          <a:solidFill>
                            <a:srgbClr val="0D0D0D"/>
                          </a:solidFill>
                          <a:latin typeface="Aptos"/>
                        </a:rPr>
                        <a:t>[8]</a:t>
                      </a:r>
                    </a:p>
                  </a:txBody>
                  <a:tcPr>
                    <a:solidFill>
                      <a:srgbClr val="FFFFFF"/>
                    </a:solidFill>
                  </a:tcPr>
                </a:tc>
                <a:tc>
                  <a:txBody>
                    <a:bodyPr wrap="square"/>
                    <a:lstStyle/>
                    <a:p>
                      <a:r>
                        <a:rPr sz="850">
                          <a:solidFill>
                            <a:srgbClr val="0D0D0D"/>
                          </a:solidFill>
                          <a:latin typeface="Aptos"/>
                        </a:rPr>
                        <a:t>Kim et al. (2022)</a:t>
                      </a:r>
                    </a:p>
                  </a:txBody>
                  <a:tcPr>
                    <a:solidFill>
                      <a:srgbClr val="FFFFFF"/>
                    </a:solidFill>
                  </a:tcPr>
                </a:tc>
                <a:tc>
                  <a:txBody>
                    <a:bodyPr wrap="square"/>
                    <a:lstStyle/>
                    <a:p>
                      <a:r>
                        <a:rPr sz="850">
                          <a:solidFill>
                            <a:srgbClr val="0D0D0D"/>
                          </a:solidFill>
                          <a:latin typeface="Aptos"/>
                        </a:rPr>
                        <a:t>Automated CDSS for Food-Drug</a:t>
                      </a:r>
                    </a:p>
                  </a:txBody>
                  <a:tcPr>
                    <a:solidFill>
                      <a:srgbClr val="FFFFFF"/>
                    </a:solidFill>
                  </a:tcPr>
                </a:tc>
                <a:tc>
                  <a:txBody>
                    <a:bodyPr wrap="square"/>
                    <a:lstStyle/>
                    <a:p>
                      <a:r>
                        <a:rPr sz="850">
                          <a:solidFill>
                            <a:srgbClr val="0D0D0D"/>
                          </a:solidFill>
                          <a:latin typeface="Aptos"/>
                        </a:rPr>
                        <a:t>CYP3A4 food-drug interaction database.</a:t>
                      </a:r>
                    </a:p>
                  </a:txBody>
                  <a:tcPr>
                    <a:solidFill>
                      <a:srgbClr val="FFFFFF"/>
                    </a:solidFill>
                  </a:tcPr>
                </a:tc>
                <a:tc>
                  <a:txBody>
                    <a:bodyPr wrap="square"/>
                    <a:lstStyle/>
                    <a:p>
                      <a:r>
                        <a:rPr sz="850">
                          <a:solidFill>
                            <a:srgbClr val="0D0D0D"/>
                          </a:solidFill>
                          <a:latin typeface="Aptos"/>
                        </a:rPr>
                        <a:t>Deploys database as lightweight local Python tool for offline safety.</a:t>
                      </a:r>
                    </a:p>
                  </a:txBody>
                  <a:tcPr>
                    <a:solidFill>
                      <a:srgbClr val="FFFFFF"/>
                    </a:solidFill>
                  </a:tcPr>
                </a:tc>
              </a:tr>
            </a:tbl>
          </a:graphicData>
        </a:graphic>
      </p:graphicFrame>
    </p:spTree>
    <p:extLst>
      <p:ext uri="{BB962C8B-B14F-4D97-AF65-F5344CB8AC3E}">
        <p14:creationId xmlns:p14="http://schemas.microsoft.com/office/powerpoint/2010/main" val="156368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CFFE-0E57-6C12-C7C0-DFC70253D74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69F9C9C-0D4F-5D8B-BD8E-8E20F3C21D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C1766489-E1FE-962C-85E0-4FE40C0A7900}"/>
              </a:ext>
            </a:extLst>
          </p:cNvPr>
          <p:cNvSpPr txBox="1"/>
          <p:nvPr/>
        </p:nvSpPr>
        <p:spPr>
          <a:xfrm>
            <a:off x="922104" y="978551"/>
            <a:ext cx="10058429" cy="1298882"/>
          </a:xfrm>
          <a:prstGeom prst="rect">
            <a:avLst/>
          </a:prstGeom>
          <a:noFill/>
        </p:spPr>
        <p:txBody>
          <a:bodyPr wrap="square">
            <a:spAutoFit/>
          </a:bodyPr>
          <a:lstStyle/>
          <a:p>
            <a:pPr>
              <a:lnSpc>
                <a:spcPct val="150000"/>
              </a:lnSpc>
            </a:pPr>
            <a:r>
              <a:t>1. Deterministic Clinical Safety Core: Drug interactions, brand-to-generic mapping, and food contraindications execute on deterministic Python logic — eliminating LLM hallucination in safety-critical paths.</a:t>
            </a:r>
          </a:p>
          <a:p>
            <a:r>
              <a:t>2. 4-Modality Image Processing Pipeline: Unified Pillow preprocessor performing CLAHE contrast enhancement, Lanczos aspect-ratio resizing, and adaptive binarization for Prescriptions, Rashes, X-Rays, and ECGs.</a:t>
            </a:r>
          </a:p>
          <a:p>
            <a:r>
              <a:t>3. Quantified Health Risk Score (1-100): 7-factor weighted clinical algorithm (NEWS2/APACHE aligned) replacing vague urgency adjectives with an auditable numerical index.</a:t>
            </a:r>
          </a:p>
          <a:p>
            <a:r>
              <a:t>4. ADK Specialist Multi-Agent Topology: 5 isolated sub-agents preventing prompt dilution and tool leakage.</a:t>
            </a:r>
          </a:p>
        </p:txBody>
      </p:sp>
      <p:sp>
        <p:nvSpPr>
          <p:cNvPr id="6" name="TextBox 5">
            <a:extLst>
              <a:ext uri="{FF2B5EF4-FFF2-40B4-BE49-F238E27FC236}">
                <a16:creationId xmlns:a16="http://schemas.microsoft.com/office/drawing/2014/main" id="{B1E80B1F-40AD-F8B2-0D55-CFB4AC08A382}"/>
              </a:ext>
            </a:extLst>
          </p:cNvPr>
          <p:cNvSpPr txBox="1"/>
          <p:nvPr/>
        </p:nvSpPr>
        <p:spPr>
          <a:xfrm>
            <a:off x="922104" y="3338517"/>
            <a:ext cx="8496756" cy="1298882"/>
          </a:xfrm>
          <a:prstGeom prst="rect">
            <a:avLst/>
          </a:prstGeom>
          <a:noFill/>
        </p:spPr>
        <p:txBody>
          <a:bodyPr wrap="square">
            <a:spAutoFit/>
          </a:bodyPr>
          <a:lstStyle/>
          <a:p>
            <a:pPr>
              <a:lnSpc>
                <a:spcPct val="150000"/>
              </a:lnSpc>
            </a:pPr>
            <a:r>
              <a:t>Deliverables &amp; Impact:</a:t>
            </a:r>
          </a:p>
          <a:p>
            <a:r>
              <a:t>• Fully functional Multi-Agent AI System built on Google ADK with 5 specialized sub-agents.</a:t>
            </a:r>
          </a:p>
          <a:p>
            <a:r>
              <a:t>• Multimodal Vision Pipeline handling Prescription OCR, Skin Triage, Chest X-Rays, and ECG waveforms.</a:t>
            </a:r>
          </a:p>
          <a:p>
            <a:r>
              <a:t>• Deterministic Knowledge Engines: 50+ DDI pairs, 8 food categories x 40+ drugs, 35+ lab blood tests.</a:t>
            </a:r>
          </a:p>
          <a:p>
            <a:r>
              <a:t>• Deployable Interfaces: FastAPI REST server, Docker container, interactive Web UI, and 5 CLI skills.</a:t>
            </a:r>
          </a:p>
          <a:p>
            <a:r>
              <a:t>• Real-World Impact: Prevents outpatient medication overdoses and bridges specialist diagnostic shortages.</a:t>
            </a:r>
          </a:p>
        </p:txBody>
      </p:sp>
      <p:sp>
        <p:nvSpPr>
          <p:cNvPr id="8" name="TextBox 7">
            <a:extLst>
              <a:ext uri="{FF2B5EF4-FFF2-40B4-BE49-F238E27FC236}">
                <a16:creationId xmlns:a16="http://schemas.microsoft.com/office/drawing/2014/main" id="{184DB8FA-8D5C-3599-7F98-9D13643289BA}"/>
              </a:ext>
            </a:extLst>
          </p:cNvPr>
          <p:cNvSpPr txBox="1"/>
          <p:nvPr/>
        </p:nvSpPr>
        <p:spPr>
          <a:xfrm>
            <a:off x="562510" y="352680"/>
            <a:ext cx="6097712" cy="584775"/>
          </a:xfrm>
          <a:prstGeom prst="rect">
            <a:avLst/>
          </a:prstGeom>
          <a:noFill/>
        </p:spPr>
        <p:txBody>
          <a:bodyPr wrap="square">
            <a:spAutoFit/>
          </a:bodyPr>
          <a:lstStyle/>
          <a:p>
            <a:pPr>
              <a:buNone/>
            </a:pPr>
            <a:r>
              <a:rPr lang="en-US" sz="3200" b="1" dirty="0">
                <a:latin typeface="Book Antiqua" panose="02040602050305030304" pitchFamily="18" charset="0"/>
              </a:rPr>
              <a:t>Novelty / Innovation</a:t>
            </a:r>
          </a:p>
        </p:txBody>
      </p:sp>
      <p:sp>
        <p:nvSpPr>
          <p:cNvPr id="10" name="TextBox 9">
            <a:extLst>
              <a:ext uri="{FF2B5EF4-FFF2-40B4-BE49-F238E27FC236}">
                <a16:creationId xmlns:a16="http://schemas.microsoft.com/office/drawing/2014/main" id="{906092D4-C0D2-83BA-70BC-9E5FE2DD03F8}"/>
              </a:ext>
            </a:extLst>
          </p:cNvPr>
          <p:cNvSpPr txBox="1"/>
          <p:nvPr/>
        </p:nvSpPr>
        <p:spPr>
          <a:xfrm>
            <a:off x="562510" y="2753742"/>
            <a:ext cx="6097712" cy="584775"/>
          </a:xfrm>
          <a:prstGeom prst="rect">
            <a:avLst/>
          </a:prstGeom>
          <a:noFill/>
        </p:spPr>
        <p:txBody>
          <a:bodyPr wrap="square">
            <a:spAutoFit/>
          </a:bodyPr>
          <a:lstStyle/>
          <a:p>
            <a:pPr>
              <a:buNone/>
            </a:pPr>
            <a:r>
              <a:rPr lang="en-US" sz="3200" b="1" dirty="0">
                <a:latin typeface="Book Antiqua" panose="02040602050305030304" pitchFamily="18" charset="0"/>
              </a:rPr>
              <a:t>Expected Outcomes</a:t>
            </a:r>
          </a:p>
        </p:txBody>
      </p:sp>
      <p:sp>
        <p:nvSpPr>
          <p:cNvPr id="13" name="Date Placeholder 3">
            <a:extLst>
              <a:ext uri="{FF2B5EF4-FFF2-40B4-BE49-F238E27FC236}">
                <a16:creationId xmlns:a16="http://schemas.microsoft.com/office/drawing/2014/main" id="{088FBEB9-E56D-5C2E-8771-9B8716579C46}"/>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CE7E5F53-BF72-E0A5-42FF-EB1FD5131BEF}"/>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149DF87E-F6B1-BF6B-9905-75DFD5C166AE}"/>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5</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1898096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45BAFB-7EF4-2023-4132-1AABA9780B4B}"/>
              </a:ext>
            </a:extLst>
          </p:cNvPr>
          <p:cNvSpPr txBox="1"/>
          <p:nvPr/>
        </p:nvSpPr>
        <p:spPr>
          <a:xfrm>
            <a:off x="850187" y="1202750"/>
            <a:ext cx="6097712" cy="1295868"/>
          </a:xfrm>
          <a:prstGeom prst="rect">
            <a:avLst/>
          </a:prstGeom>
          <a:noFill/>
        </p:spPr>
        <p:txBody>
          <a:bodyPr wrap="square">
            <a:spAutoFit/>
          </a:bodyPr>
          <a:lstStyle/>
          <a:p>
            <a:pPr>
              <a:lnSpc>
                <a:spcPct val="150000"/>
              </a:lnSpc>
            </a:pPr>
            <a:r>
              <a:t>1. Ratna Ganesh Reddy (23ITMNP-C06-A) — Computer Vision &amp; Preprocessing Lead</a:t>
            </a:r>
          </a:p>
          <a:p>
            <a:r>
              <a:t>   • Implementation of Pillow Image Pipeline (CLAHE, Lanczos, Binarization), Prescription OCR, and Skin Triage.</a:t>
            </a:r>
          </a:p>
          <a:p>
            <a:r>
              <a:t/>
            </a:r>
          </a:p>
          <a:p>
            <a:r>
              <a:t>2. P. Maruthi Sai Teja (23ITMNP-C06-B) — System Architecture &amp; Multi-Agent Lead</a:t>
            </a:r>
          </a:p>
          <a:p>
            <a:r>
              <a:t>   • Google ADK Multi-Agent Orchestrator, LabAgent, 7-Factor Health Risk Score, and System Integration.</a:t>
            </a:r>
          </a:p>
          <a:p>
            <a:r>
              <a:t/>
            </a:r>
          </a:p>
          <a:p>
            <a:r>
              <a:t>3. P. Pavan Goud (23ITMNP-C06-C) — Knowledge Base &amp; Deployment Lead</a:t>
            </a:r>
          </a:p>
          <a:p>
            <a:r>
              <a:t>   • Food-Drug Interaction Engine, SchedulerAgent, FastAPI Backend, Docker Containerization, and Testing.</a:t>
            </a:r>
          </a:p>
        </p:txBody>
      </p:sp>
      <p:sp>
        <p:nvSpPr>
          <p:cNvPr id="5" name="TextBox 4">
            <a:extLst>
              <a:ext uri="{FF2B5EF4-FFF2-40B4-BE49-F238E27FC236}">
                <a16:creationId xmlns:a16="http://schemas.microsoft.com/office/drawing/2014/main" id="{D3B20567-F3E9-70F2-2D44-04B5DB9DFD9B}"/>
              </a:ext>
            </a:extLst>
          </p:cNvPr>
          <p:cNvSpPr txBox="1"/>
          <p:nvPr/>
        </p:nvSpPr>
        <p:spPr>
          <a:xfrm>
            <a:off x="850187" y="3919197"/>
            <a:ext cx="10369193" cy="880369"/>
          </a:xfrm>
          <a:prstGeom prst="rect">
            <a:avLst/>
          </a:prstGeom>
          <a:noFill/>
        </p:spPr>
        <p:txBody>
          <a:bodyPr wrap="square">
            <a:spAutoFit/>
          </a:bodyPr>
          <a:lstStyle/>
          <a:p>
            <a:pPr>
              <a:lnSpc>
                <a:spcPct val="150000"/>
              </a:lnSpc>
            </a:pPr>
            <a:r>
              <a:t>Phase 1 (Jul–Aug 2025): Problem Formulation, Literature Survey &amp; ADK Architecture Scoping  [COMPLETED]</a:t>
            </a:r>
          </a:p>
          <a:p>
            <a:r>
              <a:t>Phase 2 (Sep–Oct 2025): Multi-Agent Core Engine (Orchestrator, Triage, Research, Scheduler)  [COMPLETED]</a:t>
            </a:r>
          </a:p>
          <a:p>
            <a:r>
              <a:t>Phase 3 (Nov–Dec 2025): Multimodal Vision Pipeline &amp; Pillow Preprocessing Modules (Review 1) [COMPLETED]</a:t>
            </a:r>
          </a:p>
          <a:p>
            <a:r>
              <a:t>Phase 4 (Jan–Feb 2026): Lab Diagnostics Engine, Food-Drug Database &amp; Risk Score Algorithm     [COMPLETED]</a:t>
            </a:r>
          </a:p>
          <a:p>
            <a:r>
              <a:t>Phase 5 (Mar–Aug 2026): Review 2 (ILR), Automated Pytest Suite, Web UI &amp; Manuscript Prep    [IN PROGRESS]</a:t>
            </a:r>
          </a:p>
        </p:txBody>
      </p:sp>
      <p:sp>
        <p:nvSpPr>
          <p:cNvPr id="7" name="TextBox 6">
            <a:extLst>
              <a:ext uri="{FF2B5EF4-FFF2-40B4-BE49-F238E27FC236}">
                <a16:creationId xmlns:a16="http://schemas.microsoft.com/office/drawing/2014/main" id="{63BAE2B7-A7CE-B884-7D48-63814EA248E4}"/>
              </a:ext>
            </a:extLst>
          </p:cNvPr>
          <p:cNvSpPr txBox="1"/>
          <p:nvPr/>
        </p:nvSpPr>
        <p:spPr>
          <a:xfrm>
            <a:off x="480316" y="483153"/>
            <a:ext cx="7625993" cy="584775"/>
          </a:xfrm>
          <a:prstGeom prst="rect">
            <a:avLst/>
          </a:prstGeom>
          <a:noFill/>
        </p:spPr>
        <p:txBody>
          <a:bodyPr wrap="square">
            <a:spAutoFit/>
          </a:bodyPr>
          <a:lstStyle/>
          <a:p>
            <a:pPr>
              <a:buNone/>
            </a:pPr>
            <a:r>
              <a:rPr lang="en-US" sz="3200" b="1" dirty="0">
                <a:latin typeface="Book Antiqua" panose="02040602050305030304" pitchFamily="18" charset="0"/>
              </a:rPr>
              <a:t>Team Roles &amp; Work Distribution</a:t>
            </a:r>
          </a:p>
        </p:txBody>
      </p:sp>
      <p:sp>
        <p:nvSpPr>
          <p:cNvPr id="9" name="TextBox 8">
            <a:extLst>
              <a:ext uri="{FF2B5EF4-FFF2-40B4-BE49-F238E27FC236}">
                <a16:creationId xmlns:a16="http://schemas.microsoft.com/office/drawing/2014/main" id="{E149DCF2-ACFD-DBDE-B900-B7C2E0FC594C}"/>
              </a:ext>
            </a:extLst>
          </p:cNvPr>
          <p:cNvSpPr txBox="1"/>
          <p:nvPr/>
        </p:nvSpPr>
        <p:spPr>
          <a:xfrm>
            <a:off x="439411" y="3154992"/>
            <a:ext cx="6097712" cy="584775"/>
          </a:xfrm>
          <a:prstGeom prst="rect">
            <a:avLst/>
          </a:prstGeom>
          <a:noFill/>
        </p:spPr>
        <p:txBody>
          <a:bodyPr wrap="square">
            <a:spAutoFit/>
          </a:bodyPr>
          <a:lstStyle/>
          <a:p>
            <a:pPr>
              <a:buNone/>
            </a:pPr>
            <a:r>
              <a:rPr lang="en-US" sz="3200" b="1" dirty="0">
                <a:latin typeface="Book Antiqua" panose="02040602050305030304" pitchFamily="18" charset="0"/>
              </a:rPr>
              <a:t>Timeline / Gantt Chart</a:t>
            </a:r>
          </a:p>
        </p:txBody>
      </p:sp>
      <p:sp>
        <p:nvSpPr>
          <p:cNvPr id="12" name="Date Placeholder 3">
            <a:extLst>
              <a:ext uri="{FF2B5EF4-FFF2-40B4-BE49-F238E27FC236}">
                <a16:creationId xmlns:a16="http://schemas.microsoft.com/office/drawing/2014/main" id="{5D9523E8-04A9-5F7D-B678-26825DAFA520}"/>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2017F37-7C0C-AF04-70D3-A489461D2493}"/>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7FFA89DD-6E6D-D81C-D317-DDBAE9EFD00D}"/>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6</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91899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45BAFB-7EF4-2023-4132-1AABA9780B4B}"/>
              </a:ext>
            </a:extLst>
          </p:cNvPr>
          <p:cNvSpPr txBox="1"/>
          <p:nvPr/>
        </p:nvSpPr>
        <p:spPr>
          <a:xfrm>
            <a:off x="1799160" y="1403831"/>
            <a:ext cx="6097712" cy="133882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smtClean="0">
                <a:latin typeface="Aptos" panose="020B0004020202020204" pitchFamily="34" charset="0"/>
              </a:rPr>
              <a:t>Dataset Description</a:t>
            </a:r>
          </a:p>
          <a:p>
            <a:pPr marL="285750" indent="-285750">
              <a:lnSpc>
                <a:spcPct val="150000"/>
              </a:lnSpc>
              <a:buFont typeface="Arial" panose="020B0604020202020204" pitchFamily="34" charset="0"/>
              <a:buChar char="•"/>
            </a:pPr>
            <a:r>
              <a:rPr lang="en-US" b="1" dirty="0" smtClean="0">
                <a:latin typeface="Aptos" panose="020B0004020202020204" pitchFamily="34" charset="0"/>
              </a:rPr>
              <a:t>Algorithms implemented</a:t>
            </a:r>
          </a:p>
          <a:p>
            <a:pPr marL="285750" indent="-285750">
              <a:lnSpc>
                <a:spcPct val="150000"/>
              </a:lnSpc>
              <a:buFont typeface="Arial" panose="020B0604020202020204" pitchFamily="34" charset="0"/>
              <a:buChar char="•"/>
            </a:pPr>
            <a:r>
              <a:rPr lang="en-US" b="1" dirty="0" smtClean="0">
                <a:latin typeface="Aptos" panose="020B0004020202020204" pitchFamily="34" charset="0"/>
              </a:rPr>
              <a:t>Comparison Table</a:t>
            </a:r>
            <a:endParaRPr lang="en-US" dirty="0"/>
          </a:p>
        </p:txBody>
      </p:sp>
      <p:sp>
        <p:nvSpPr>
          <p:cNvPr id="7" name="TextBox 6">
            <a:extLst>
              <a:ext uri="{FF2B5EF4-FFF2-40B4-BE49-F238E27FC236}">
                <a16:creationId xmlns:a16="http://schemas.microsoft.com/office/drawing/2014/main" id="{63BAE2B7-A7CE-B884-7D48-63814EA248E4}"/>
              </a:ext>
            </a:extLst>
          </p:cNvPr>
          <p:cNvSpPr txBox="1"/>
          <p:nvPr/>
        </p:nvSpPr>
        <p:spPr>
          <a:xfrm>
            <a:off x="850187" y="716419"/>
            <a:ext cx="7625993" cy="584775"/>
          </a:xfrm>
          <a:prstGeom prst="rect">
            <a:avLst/>
          </a:prstGeom>
          <a:noFill/>
        </p:spPr>
        <p:txBody>
          <a:bodyPr wrap="square">
            <a:spAutoFit/>
          </a:bodyPr>
          <a:lstStyle/>
          <a:p>
            <a:pPr>
              <a:buNone/>
            </a:pPr>
            <a:r>
              <a:rPr lang="en-US" sz="3200" b="1" dirty="0" smtClean="0">
                <a:latin typeface="Book Antiqua" panose="02040602050305030304" pitchFamily="18" charset="0"/>
              </a:rPr>
              <a:t>Implementation and Results</a:t>
            </a:r>
            <a:endParaRPr lang="en-US" sz="3200" b="1" dirty="0">
              <a:latin typeface="Book Antiqua" panose="02040602050305030304" pitchFamily="18" charset="0"/>
            </a:endParaRPr>
          </a:p>
        </p:txBody>
      </p:sp>
      <p:sp>
        <p:nvSpPr>
          <p:cNvPr id="12" name="Date Placeholder 3">
            <a:extLst>
              <a:ext uri="{FF2B5EF4-FFF2-40B4-BE49-F238E27FC236}">
                <a16:creationId xmlns:a16="http://schemas.microsoft.com/office/drawing/2014/main" id="{5D9523E8-04A9-5F7D-B678-26825DAFA520}"/>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2017F37-7C0C-AF04-70D3-A489461D2493}"/>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7FFA89DD-6E6D-D81C-D317-DDBAE9EFD00D}"/>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7</a:t>
            </a:fld>
            <a:endParaRPr lang="en-IN" sz="1200" dirty="0">
              <a:solidFill>
                <a:schemeClr val="accent3"/>
              </a:solidFill>
              <a:latin typeface="Aptos" panose="020B0004020202020204" pitchFamily="34" charset="0"/>
            </a:endParaRPr>
          </a:p>
        </p:txBody>
      </p:sp>
      <p:graphicFrame>
        <p:nvGraphicFramePr>
          <p:cNvPr id="15" name="Table 14"/>
          <p:cNvGraphicFramePr>
            <a:graphicFrameLocks noGrp="1"/>
          </p:cNvGraphicFramePr>
          <p:nvPr/>
        </p:nvGraphicFramePr>
        <p:xfrm>
          <a:off x="411480" y="1325880"/>
          <a:ext cx="11338560" cy="5029200"/>
        </p:xfrm>
        <a:graphic>
          <a:graphicData uri="http://schemas.openxmlformats.org/drawingml/2006/table">
            <a:tbl>
              <a:tblPr firstRow="1" bandRow="1">
                <a:tableStyleId>{5C22544A-7EE6-4342-B048-85BDC9FD1C3A}</a:tableStyleId>
              </a:tblPr>
              <a:tblGrid>
                <a:gridCol w="2834640"/>
                <a:gridCol w="2834640"/>
                <a:gridCol w="2834640"/>
                <a:gridCol w="2834640"/>
              </a:tblGrid>
              <a:tr h="628650">
                <a:tc>
                  <a:txBody>
                    <a:bodyPr/>
                    <a:lstStyle/>
                    <a:p>
                      <a:pPr algn="ctr"/>
                      <a:r>
                        <a:rPr sz="1000" b="1">
                          <a:solidFill>
                            <a:srgbClr val="FFFFFF"/>
                          </a:solidFill>
                          <a:latin typeface="Aptos"/>
                        </a:rPr>
                        <a:t>Component / Modality</a:t>
                      </a:r>
                    </a:p>
                  </a:txBody>
                  <a:tcPr>
                    <a:solidFill>
                      <a:srgbClr val="263F6D"/>
                    </a:solidFill>
                  </a:tcPr>
                </a:tc>
                <a:tc>
                  <a:txBody>
                    <a:bodyPr/>
                    <a:lstStyle/>
                    <a:p>
                      <a:pPr algn="ctr"/>
                      <a:r>
                        <a:rPr sz="1000" b="1">
                          <a:solidFill>
                            <a:srgbClr val="FFFFFF"/>
                          </a:solidFill>
                          <a:latin typeface="Aptos"/>
                        </a:rPr>
                        <a:t>Benchmark Dataset / Knowledge Base</a:t>
                      </a:r>
                    </a:p>
                  </a:txBody>
                  <a:tcPr>
                    <a:solidFill>
                      <a:srgbClr val="263F6D"/>
                    </a:solidFill>
                  </a:tcPr>
                </a:tc>
                <a:tc>
                  <a:txBody>
                    <a:bodyPr/>
                    <a:lstStyle/>
                    <a:p>
                      <a:pPr algn="ctr"/>
                      <a:r>
                        <a:rPr sz="1000" b="1">
                          <a:solidFill>
                            <a:srgbClr val="FFFFFF"/>
                          </a:solidFill>
                          <a:latin typeface="Aptos"/>
                        </a:rPr>
                        <a:t>Preprocessing &amp; Image Algorithms</a:t>
                      </a:r>
                    </a:p>
                  </a:txBody>
                  <a:tcPr>
                    <a:solidFill>
                      <a:srgbClr val="263F6D"/>
                    </a:solidFill>
                  </a:tcPr>
                </a:tc>
                <a:tc>
                  <a:txBody>
                    <a:bodyPr/>
                    <a:lstStyle/>
                    <a:p>
                      <a:pPr algn="ctr"/>
                      <a:r>
                        <a:rPr sz="1000" b="1">
                          <a:solidFill>
                            <a:srgbClr val="FFFFFF"/>
                          </a:solidFill>
                          <a:latin typeface="Aptos"/>
                        </a:rPr>
                        <a:t>Core Implementation Engine</a:t>
                      </a:r>
                    </a:p>
                  </a:txBody>
                  <a:tcPr>
                    <a:solidFill>
                      <a:srgbClr val="263F6D"/>
                    </a:solidFill>
                  </a:tcPr>
                </a:tc>
              </a:tr>
              <a:tr h="628650">
                <a:tc>
                  <a:txBody>
                    <a:bodyPr wrap="square"/>
                    <a:lstStyle/>
                    <a:p>
                      <a:r>
                        <a:rPr sz="850">
                          <a:solidFill>
                            <a:srgbClr val="0D0D0D"/>
                          </a:solidFill>
                          <a:latin typeface="Aptos"/>
                        </a:rPr>
                        <a:t>Prescription OCR</a:t>
                      </a:r>
                    </a:p>
                  </a:txBody>
                  <a:tcPr>
                    <a:solidFill>
                      <a:srgbClr val="F4F2EC"/>
                    </a:solidFill>
                  </a:tcPr>
                </a:tc>
                <a:tc>
                  <a:txBody>
                    <a:bodyPr wrap="square"/>
                    <a:lstStyle/>
                    <a:p>
                      <a:r>
                        <a:rPr sz="850">
                          <a:solidFill>
                            <a:srgbClr val="0D0D0D"/>
                          </a:solidFill>
                          <a:latin typeface="Aptos"/>
                        </a:rPr>
                        <a:t>Clinical Prescription Corpus (45k samples)</a:t>
                      </a:r>
                    </a:p>
                  </a:txBody>
                  <a:tcPr>
                    <a:solidFill>
                      <a:srgbClr val="F4F2EC"/>
                    </a:solidFill>
                  </a:tcPr>
                </a:tc>
                <a:tc>
                  <a:txBody>
                    <a:bodyPr wrap="square"/>
                    <a:lstStyle/>
                    <a:p>
                      <a:r>
                        <a:rPr sz="850">
                          <a:solidFill>
                            <a:srgbClr val="0D0D0D"/>
                          </a:solidFill>
                          <a:latin typeface="Aptos"/>
                        </a:rPr>
                        <a:t>Pillow RGB conversion, Lanczos aspect scaling, Otsu threshold</a:t>
                      </a:r>
                    </a:p>
                  </a:txBody>
                  <a:tcPr>
                    <a:solidFill>
                      <a:srgbClr val="F4F2EC"/>
                    </a:solidFill>
                  </a:tcPr>
                </a:tc>
                <a:tc>
                  <a:txBody>
                    <a:bodyPr wrap="square"/>
                    <a:lstStyle/>
                    <a:p>
                      <a:r>
                        <a:rPr sz="850">
                          <a:solidFill>
                            <a:srgbClr val="0D0D0D"/>
                          </a:solidFill>
                          <a:latin typeface="Aptos"/>
                        </a:rPr>
                        <a:t>Gemini Vision + Brand-to-Generic Resolution</a:t>
                      </a:r>
                    </a:p>
                  </a:txBody>
                  <a:tcPr>
                    <a:solidFill>
                      <a:srgbClr val="F4F2EC"/>
                    </a:solidFill>
                  </a:tcPr>
                </a:tc>
              </a:tr>
              <a:tr h="628650">
                <a:tc>
                  <a:txBody>
                    <a:bodyPr wrap="square"/>
                    <a:lstStyle/>
                    <a:p>
                      <a:r>
                        <a:rPr sz="850">
                          <a:solidFill>
                            <a:srgbClr val="0D0D0D"/>
                          </a:solidFill>
                          <a:latin typeface="Aptos"/>
                        </a:rPr>
                        <a:t>Skin Lesion Triage</a:t>
                      </a:r>
                    </a:p>
                  </a:txBody>
                  <a:tcPr>
                    <a:solidFill>
                      <a:srgbClr val="FFFFFF"/>
                    </a:solidFill>
                  </a:tcPr>
                </a:tc>
                <a:tc>
                  <a:txBody>
                    <a:bodyPr wrap="square"/>
                    <a:lstStyle/>
                    <a:p>
                      <a:r>
                        <a:rPr sz="850">
                          <a:solidFill>
                            <a:srgbClr val="0D0D0D"/>
                          </a:solidFill>
                          <a:latin typeface="Aptos"/>
                        </a:rPr>
                        <a:t>ISIC 2024 Dermatology Archive</a:t>
                      </a:r>
                    </a:p>
                  </a:txBody>
                  <a:tcPr>
                    <a:solidFill>
                      <a:srgbClr val="FFFFFF"/>
                    </a:solidFill>
                  </a:tcPr>
                </a:tc>
                <a:tc>
                  <a:txBody>
                    <a:bodyPr wrap="square"/>
                    <a:lstStyle/>
                    <a:p>
                      <a:r>
                        <a:rPr sz="850">
                          <a:solidFill>
                            <a:srgbClr val="0D0D0D"/>
                          </a:solidFill>
                          <a:latin typeface="Aptos"/>
                        </a:rPr>
                        <a:t>Contrast-Limited Adaptive Histogram Equalization (CLAHE)</a:t>
                      </a:r>
                    </a:p>
                  </a:txBody>
                  <a:tcPr>
                    <a:solidFill>
                      <a:srgbClr val="FFFFFF"/>
                    </a:solidFill>
                  </a:tcPr>
                </a:tc>
                <a:tc>
                  <a:txBody>
                    <a:bodyPr wrap="square"/>
                    <a:lstStyle/>
                    <a:p>
                      <a:r>
                        <a:rPr sz="850">
                          <a:solidFill>
                            <a:srgbClr val="0D0D0D"/>
                          </a:solidFill>
                          <a:latin typeface="Aptos"/>
                        </a:rPr>
                        <a:t>VisionAgent + ABCDE Clinical Triage Rules</a:t>
                      </a:r>
                    </a:p>
                  </a:txBody>
                  <a:tcPr>
                    <a:solidFill>
                      <a:srgbClr val="FFFFFF"/>
                    </a:solidFill>
                  </a:tcPr>
                </a:tc>
              </a:tr>
              <a:tr h="628650">
                <a:tc>
                  <a:txBody>
                    <a:bodyPr wrap="square"/>
                    <a:lstStyle/>
                    <a:p>
                      <a:r>
                        <a:rPr sz="850">
                          <a:solidFill>
                            <a:srgbClr val="0D0D0D"/>
                          </a:solidFill>
                          <a:latin typeface="Aptos"/>
                        </a:rPr>
                        <a:t>Chest X-Ray Screening</a:t>
                      </a:r>
                    </a:p>
                  </a:txBody>
                  <a:tcPr>
                    <a:solidFill>
                      <a:srgbClr val="F4F2EC"/>
                    </a:solidFill>
                  </a:tcPr>
                </a:tc>
                <a:tc>
                  <a:txBody>
                    <a:bodyPr wrap="square"/>
                    <a:lstStyle/>
                    <a:p>
                      <a:r>
                        <a:rPr sz="850">
                          <a:solidFill>
                            <a:srgbClr val="0D0D0D"/>
                          </a:solidFill>
                          <a:latin typeface="Aptos"/>
                        </a:rPr>
                        <a:t>NIH ChestX-ray14 (112k radiographs)</a:t>
                      </a:r>
                    </a:p>
                  </a:txBody>
                  <a:tcPr>
                    <a:solidFill>
                      <a:srgbClr val="F4F2EC"/>
                    </a:solidFill>
                  </a:tcPr>
                </a:tc>
                <a:tc>
                  <a:txBody>
                    <a:bodyPr wrap="square"/>
                    <a:lstStyle/>
                    <a:p>
                      <a:r>
                        <a:rPr sz="850">
                          <a:solidFill>
                            <a:srgbClr val="0D0D0D"/>
                          </a:solidFill>
                          <a:latin typeface="Aptos"/>
                        </a:rPr>
                        <a:t>Bilateral filtering, Grayscale dynamic range normalization</a:t>
                      </a:r>
                    </a:p>
                  </a:txBody>
                  <a:tcPr>
                    <a:solidFill>
                      <a:srgbClr val="F4F2EC"/>
                    </a:solidFill>
                  </a:tcPr>
                </a:tc>
                <a:tc>
                  <a:txBody>
                    <a:bodyPr wrap="square"/>
                    <a:lstStyle/>
                    <a:p>
                      <a:r>
                        <a:rPr sz="850">
                          <a:solidFill>
                            <a:srgbClr val="0D0D0D"/>
                          </a:solidFill>
                          <a:latin typeface="Aptos"/>
                        </a:rPr>
                        <a:t>DenseNet feature extraction + Gemini Vision Triage</a:t>
                      </a:r>
                    </a:p>
                  </a:txBody>
                  <a:tcPr>
                    <a:solidFill>
                      <a:srgbClr val="F4F2EC"/>
                    </a:solidFill>
                  </a:tcPr>
                </a:tc>
              </a:tr>
              <a:tr h="628650">
                <a:tc>
                  <a:txBody>
                    <a:bodyPr wrap="square"/>
                    <a:lstStyle/>
                    <a:p>
                      <a:r>
                        <a:rPr sz="850">
                          <a:solidFill>
                            <a:srgbClr val="0D0D0D"/>
                          </a:solidFill>
                          <a:latin typeface="Aptos"/>
                        </a:rPr>
                        <a:t>ECG Waveform Analysis</a:t>
                      </a:r>
                    </a:p>
                  </a:txBody>
                  <a:tcPr>
                    <a:solidFill>
                      <a:srgbClr val="FFFFFF"/>
                    </a:solidFill>
                  </a:tcPr>
                </a:tc>
                <a:tc>
                  <a:txBody>
                    <a:bodyPr wrap="square"/>
                    <a:lstStyle/>
                    <a:p>
                      <a:r>
                        <a:rPr sz="850">
                          <a:solidFill>
                            <a:srgbClr val="0D0D0D"/>
                          </a:solidFill>
                          <a:latin typeface="Aptos"/>
                        </a:rPr>
                        <a:t>MIT-BIH Arrhythmia Database</a:t>
                      </a:r>
                    </a:p>
                  </a:txBody>
                  <a:tcPr>
                    <a:solidFill>
                      <a:srgbClr val="FFFFFF"/>
                    </a:solidFill>
                  </a:tcPr>
                </a:tc>
                <a:tc>
                  <a:txBody>
                    <a:bodyPr wrap="square"/>
                    <a:lstStyle/>
                    <a:p>
                      <a:r>
                        <a:rPr sz="850">
                          <a:solidFill>
                            <a:srgbClr val="0D0D0D"/>
                          </a:solidFill>
                          <a:latin typeface="Aptos"/>
                        </a:rPr>
                        <a:t>Multi-adaptive binarization, grid-line spectral filtering</a:t>
                      </a:r>
                    </a:p>
                  </a:txBody>
                  <a:tcPr>
                    <a:solidFill>
                      <a:srgbClr val="FFFFFF"/>
                    </a:solidFill>
                  </a:tcPr>
                </a:tc>
                <a:tc>
                  <a:txBody>
                    <a:bodyPr wrap="square"/>
                    <a:lstStyle/>
                    <a:p>
                      <a:r>
                        <a:rPr sz="850">
                          <a:solidFill>
                            <a:srgbClr val="0D0D0D"/>
                          </a:solidFill>
                          <a:latin typeface="Aptos"/>
                        </a:rPr>
                        <a:t>CNN-LSTM waveform classifier + Emergency Alert</a:t>
                      </a:r>
                    </a:p>
                  </a:txBody>
                  <a:tcPr>
                    <a:solidFill>
                      <a:srgbClr val="FFFFFF"/>
                    </a:solidFill>
                  </a:tcPr>
                </a:tc>
              </a:tr>
              <a:tr h="628650">
                <a:tc>
                  <a:txBody>
                    <a:bodyPr wrap="square"/>
                    <a:lstStyle/>
                    <a:p>
                      <a:r>
                        <a:rPr sz="850">
                          <a:solidFill>
                            <a:srgbClr val="0D0D0D"/>
                          </a:solidFill>
                          <a:latin typeface="Aptos"/>
                        </a:rPr>
                        <a:t>Lab Report Analysis</a:t>
                      </a:r>
                    </a:p>
                  </a:txBody>
                  <a:tcPr>
                    <a:solidFill>
                      <a:srgbClr val="F4F2EC"/>
                    </a:solidFill>
                  </a:tcPr>
                </a:tc>
                <a:tc>
                  <a:txBody>
                    <a:bodyPr wrap="square"/>
                    <a:lstStyle/>
                    <a:p>
                      <a:r>
                        <a:rPr sz="850">
                          <a:solidFill>
                            <a:srgbClr val="0D0D0D"/>
                          </a:solidFill>
                          <a:latin typeface="Aptos"/>
                        </a:rPr>
                        <a:t>Clinical Diagnostic Reference Ranges</a:t>
                      </a:r>
                    </a:p>
                  </a:txBody>
                  <a:tcPr>
                    <a:solidFill>
                      <a:srgbClr val="F4F2EC"/>
                    </a:solidFill>
                  </a:tcPr>
                </a:tc>
                <a:tc>
                  <a:txBody>
                    <a:bodyPr wrap="square"/>
                    <a:lstStyle/>
                    <a:p>
                      <a:r>
                        <a:rPr sz="850">
                          <a:solidFill>
                            <a:srgbClr val="0D0D0D"/>
                          </a:solidFill>
                          <a:latin typeface="Aptos"/>
                        </a:rPr>
                        <a:t>Structured key-value entity regex parser</a:t>
                      </a:r>
                    </a:p>
                  </a:txBody>
                  <a:tcPr>
                    <a:solidFill>
                      <a:srgbClr val="F4F2EC"/>
                    </a:solidFill>
                  </a:tcPr>
                </a:tc>
                <a:tc>
                  <a:txBody>
                    <a:bodyPr wrap="square"/>
                    <a:lstStyle/>
                    <a:p>
                      <a:r>
                        <a:rPr sz="850">
                          <a:solidFill>
                            <a:srgbClr val="0D0D0D"/>
                          </a:solidFill>
                          <a:latin typeface="Aptos"/>
                        </a:rPr>
                        <a:t>Deterministic 35+ Blood Test Evaluator</a:t>
                      </a:r>
                    </a:p>
                  </a:txBody>
                  <a:tcPr>
                    <a:solidFill>
                      <a:srgbClr val="F4F2EC"/>
                    </a:solidFill>
                  </a:tcPr>
                </a:tc>
              </a:tr>
              <a:tr h="628650">
                <a:tc>
                  <a:txBody>
                    <a:bodyPr wrap="square"/>
                    <a:lstStyle/>
                    <a:p>
                      <a:r>
                        <a:rPr sz="850">
                          <a:solidFill>
                            <a:srgbClr val="0D0D0D"/>
                          </a:solidFill>
                          <a:latin typeface="Aptos"/>
                        </a:rPr>
                        <a:t>Drug &amp; Food Safety</a:t>
                      </a:r>
                    </a:p>
                  </a:txBody>
                  <a:tcPr>
                    <a:solidFill>
                      <a:srgbClr val="FFFFFF"/>
                    </a:solidFill>
                  </a:tcPr>
                </a:tc>
                <a:tc>
                  <a:txBody>
                    <a:bodyPr wrap="square"/>
                    <a:lstStyle/>
                    <a:p>
                      <a:r>
                        <a:rPr sz="850">
                          <a:solidFill>
                            <a:srgbClr val="0D0D0D"/>
                          </a:solidFill>
                          <a:latin typeface="Aptos"/>
                        </a:rPr>
                        <a:t>FDA Orange Book &amp; CYP3A4 Pathway DB</a:t>
                      </a:r>
                    </a:p>
                  </a:txBody>
                  <a:tcPr>
                    <a:solidFill>
                      <a:srgbClr val="FFFFFF"/>
                    </a:solidFill>
                  </a:tcPr>
                </a:tc>
                <a:tc>
                  <a:txBody>
                    <a:bodyPr wrap="square"/>
                    <a:lstStyle/>
                    <a:p>
                      <a:r>
                        <a:rPr sz="850">
                          <a:solidFill>
                            <a:srgbClr val="0D0D0D"/>
                          </a:solidFill>
                          <a:latin typeface="Aptos"/>
                        </a:rPr>
                        <a:t>Deterministic pairwise matrix lookup</a:t>
                      </a:r>
                    </a:p>
                  </a:txBody>
                  <a:tcPr>
                    <a:solidFill>
                      <a:srgbClr val="FFFFFF"/>
                    </a:solidFill>
                  </a:tcPr>
                </a:tc>
                <a:tc>
                  <a:txBody>
                    <a:bodyPr wrap="square"/>
                    <a:lstStyle/>
                    <a:p>
                      <a:r>
                        <a:rPr sz="850">
                          <a:solidFill>
                            <a:srgbClr val="0D0D0D"/>
                          </a:solidFill>
                          <a:latin typeface="Aptos"/>
                        </a:rPr>
                        <a:t>Pure Python Brand Resolution &amp; Contraindication Engine</a:t>
                      </a:r>
                    </a:p>
                  </a:txBody>
                  <a:tcPr>
                    <a:solidFill>
                      <a:srgbClr val="FFFFFF"/>
                    </a:solidFill>
                  </a:tcPr>
                </a:tc>
              </a:tr>
              <a:tr h="628650">
                <a:tc>
                  <a:txBody>
                    <a:bodyPr wrap="square"/>
                    <a:lstStyle/>
                    <a:p>
                      <a:r>
                        <a:rPr sz="850">
                          <a:solidFill>
                            <a:srgbClr val="0D0D0D"/>
                          </a:solidFill>
                          <a:latin typeface="Aptos"/>
                        </a:rPr>
                        <a:t>Health Risk Scoring</a:t>
                      </a:r>
                    </a:p>
                  </a:txBody>
                  <a:tcPr>
                    <a:solidFill>
                      <a:srgbClr val="F4F2EC"/>
                    </a:solidFill>
                  </a:tcPr>
                </a:tc>
                <a:tc>
                  <a:txBody>
                    <a:bodyPr wrap="square"/>
                    <a:lstStyle/>
                    <a:p>
                      <a:r>
                        <a:rPr sz="850">
                          <a:solidFill>
                            <a:srgbClr val="0D0D0D"/>
                          </a:solidFill>
                          <a:latin typeface="Aptos"/>
                        </a:rPr>
                        <a:t>NEWS2 / APACHE Clinical Guidelines</a:t>
                      </a:r>
                    </a:p>
                  </a:txBody>
                  <a:tcPr>
                    <a:solidFill>
                      <a:srgbClr val="F4F2EC"/>
                    </a:solidFill>
                  </a:tcPr>
                </a:tc>
                <a:tc>
                  <a:txBody>
                    <a:bodyPr wrap="square"/>
                    <a:lstStyle/>
                    <a:p>
                      <a:r>
                        <a:rPr sz="850">
                          <a:solidFill>
                            <a:srgbClr val="0D0D0D"/>
                          </a:solidFill>
                          <a:latin typeface="Aptos"/>
                        </a:rPr>
                        <a:t>7-Factor weighted numerical aggregation</a:t>
                      </a:r>
                    </a:p>
                  </a:txBody>
                  <a:tcPr>
                    <a:solidFill>
                      <a:srgbClr val="F4F2EC"/>
                    </a:solidFill>
                  </a:tcPr>
                </a:tc>
                <a:tc>
                  <a:txBody>
                    <a:bodyPr wrap="square"/>
                    <a:lstStyle/>
                    <a:p>
                      <a:r>
                        <a:rPr sz="850">
                          <a:solidFill>
                            <a:srgbClr val="0D0D0D"/>
                          </a:solidFill>
                          <a:latin typeface="Aptos"/>
                        </a:rPr>
                        <a:t>Quantified Severity Engine (1–100 scale)</a:t>
                      </a:r>
                    </a:p>
                  </a:txBody>
                  <a:tcPr>
                    <a:solidFill>
                      <a:srgbClr val="F4F2EC"/>
                    </a:solidFill>
                  </a:tcPr>
                </a:tc>
              </a:tr>
            </a:tbl>
          </a:graphicData>
        </a:graphic>
      </p:graphicFrame>
    </p:spTree>
    <p:extLst>
      <p:ext uri="{BB962C8B-B14F-4D97-AF65-F5344CB8AC3E}">
        <p14:creationId xmlns:p14="http://schemas.microsoft.com/office/powerpoint/2010/main" val="3648617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0B5D-2303-3AD1-3A37-89014B9EA6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3160DF6-7120-F974-19F2-35CE8CBC39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34406C81-0F5D-683F-7220-12572C25AAC8}"/>
              </a:ext>
            </a:extLst>
          </p:cNvPr>
          <p:cNvSpPr txBox="1"/>
          <p:nvPr/>
        </p:nvSpPr>
        <p:spPr>
          <a:xfrm>
            <a:off x="439411" y="420566"/>
            <a:ext cx="6097712" cy="584775"/>
          </a:xfrm>
          <a:prstGeom prst="rect">
            <a:avLst/>
          </a:prstGeom>
          <a:noFill/>
        </p:spPr>
        <p:txBody>
          <a:bodyPr wrap="square">
            <a:spAutoFit/>
          </a:bodyPr>
          <a:lstStyle/>
          <a:p>
            <a:pPr>
              <a:buNone/>
            </a:pPr>
            <a:r>
              <a:rPr lang="en-US" sz="3200" b="1" dirty="0" smtClean="0">
                <a:latin typeface="Book Antiqua" panose="02040602050305030304" pitchFamily="18" charset="0"/>
              </a:rPr>
              <a:t>Comparison Table</a:t>
            </a:r>
            <a:endParaRPr lang="en-US" sz="3200" b="1" dirty="0">
              <a:latin typeface="Book Antiqua" panose="02040602050305030304" pitchFamily="18" charset="0"/>
            </a:endParaRPr>
          </a:p>
        </p:txBody>
      </p:sp>
      <p:graphicFrame>
        <p:nvGraphicFramePr>
          <p:cNvPr id="8" name="Table 7">
            <a:extLst>
              <a:ext uri="{FF2B5EF4-FFF2-40B4-BE49-F238E27FC236}">
                <a16:creationId xmlns:a16="http://schemas.microsoft.com/office/drawing/2014/main" id="{548FE66D-7997-AC90-4D98-E1780CAF6BEB}"/>
              </a:ext>
            </a:extLst>
          </p:cNvPr>
          <p:cNvGraphicFramePr>
            <a:graphicFrameLocks noGrp="1"/>
          </p:cNvGraphicFramePr>
          <p:nvPr>
            <p:extLst>
              <p:ext uri="{D42A27DB-BD31-4B8C-83A1-F6EECF244321}">
                <p14:modId xmlns:p14="http://schemas.microsoft.com/office/powerpoint/2010/main" val="2949620967"/>
              </p:ext>
            </p:extLst>
          </p:nvPr>
        </p:nvGraphicFramePr>
        <p:xfrm>
          <a:off x="998687" y="1322582"/>
          <a:ext cx="9981915" cy="3828602"/>
        </p:xfrm>
        <a:graphic>
          <a:graphicData uri="http://schemas.openxmlformats.org/drawingml/2006/table">
            <a:tbl>
              <a:tblPr firstRow="1" bandRow="1">
                <a:tableStyleId>{C4B1156A-380E-4F78-BDF5-A606A8083BF9}</a:tableStyleId>
              </a:tblPr>
              <a:tblGrid>
                <a:gridCol w="2173590">
                  <a:extLst>
                    <a:ext uri="{9D8B030D-6E8A-4147-A177-3AD203B41FA5}">
                      <a16:colId xmlns:a16="http://schemas.microsoft.com/office/drawing/2014/main" val="2117232728"/>
                    </a:ext>
                  </a:extLst>
                </a:gridCol>
                <a:gridCol w="4481020">
                  <a:extLst>
                    <a:ext uri="{9D8B030D-6E8A-4147-A177-3AD203B41FA5}">
                      <a16:colId xmlns:a16="http://schemas.microsoft.com/office/drawing/2014/main" val="2203765823"/>
                    </a:ext>
                  </a:extLst>
                </a:gridCol>
                <a:gridCol w="3327305">
                  <a:extLst>
                    <a:ext uri="{9D8B030D-6E8A-4147-A177-3AD203B41FA5}">
                      <a16:colId xmlns:a16="http://schemas.microsoft.com/office/drawing/2014/main" val="3047180167"/>
                    </a:ext>
                  </a:extLst>
                </a:gridCol>
              </a:tblGrid>
              <a:tr h="902522">
                <a:tc>
                  <a:txBody>
                    <a:bodyPr/>
                    <a:lstStyle/>
                    <a:p>
                      <a:pPr algn="ctr"/>
                      <a:r>
                        <a:rPr lang="en-IN" dirty="0"/>
                        <a:t>Ref No.</a:t>
                      </a:r>
                      <a:endParaRPr lang="en-IN" dirty="0">
                        <a:latin typeface="Aptos" panose="020B0004020202020204" pitchFamily="34" charset="0"/>
                      </a:endParaRPr>
                    </a:p>
                  </a:txBody>
                  <a:tcPr anchor="ctr"/>
                </a:tc>
                <a:tc>
                  <a:txBody>
                    <a:bodyPr/>
                    <a:lstStyle/>
                    <a:p>
                      <a:pPr algn="ctr"/>
                      <a:r>
                        <a:rPr lang="en-US" dirty="0"/>
                        <a:t>Existing Works</a:t>
                      </a:r>
                      <a:endParaRPr lang="en-IN" dirty="0">
                        <a:latin typeface="Aptos" panose="020B00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smtClean="0"/>
                        <a:t>Proposed Work</a:t>
                      </a:r>
                      <a:endParaRPr lang="en-IN" dirty="0">
                        <a:latin typeface="Aptos" panose="020B0004020202020204" pitchFamily="34" charset="0"/>
                      </a:endParaRPr>
                    </a:p>
                  </a:txBody>
                  <a:tcPr anchor="ctr"/>
                </a:tc>
                <a:extLst>
                  <a:ext uri="{0D108BD9-81ED-4DB2-BD59-A6C34878D82A}">
                    <a16:rowId xmlns:a16="http://schemas.microsoft.com/office/drawing/2014/main" val="2543460161"/>
                  </a:ext>
                </a:extLst>
              </a:tr>
              <a:tr h="361009">
                <a:tc>
                  <a:txBody>
                    <a:bodyPr/>
                    <a:lstStyle/>
                    <a:p>
                      <a:pPr algn="ctr"/>
                      <a:r>
                        <a:rPr lang="en-IN" dirty="0"/>
                        <a:t>[1]</a:t>
                      </a:r>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796575507"/>
                  </a:ext>
                </a:extLst>
              </a:tr>
              <a:tr h="361009">
                <a:tc>
                  <a:txBody>
                    <a:bodyPr/>
                    <a:lstStyle/>
                    <a:p>
                      <a:pPr algn="ctr"/>
                      <a:r>
                        <a:rPr lang="en-IN" dirty="0"/>
                        <a:t>[2]</a:t>
                      </a:r>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4139280791"/>
                  </a:ext>
                </a:extLst>
              </a:tr>
              <a:tr h="361009">
                <a:tc>
                  <a:txBody>
                    <a:bodyPr/>
                    <a:lstStyle/>
                    <a:p>
                      <a:pPr algn="ctr"/>
                      <a:r>
                        <a:rPr lang="en-IN" dirty="0"/>
                        <a:t>[3]</a:t>
                      </a:r>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2495907860"/>
                  </a:ext>
                </a:extLst>
              </a:tr>
              <a:tr h="361009">
                <a:tc>
                  <a:txBody>
                    <a:bodyPr/>
                    <a:lstStyle/>
                    <a:p>
                      <a:pPr algn="ctr"/>
                      <a:r>
                        <a:rPr lang="en-IN" dirty="0"/>
                        <a:t>[4]</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164111642"/>
                  </a:ext>
                </a:extLst>
              </a:tr>
              <a:tr h="361009">
                <a:tc>
                  <a:txBody>
                    <a:bodyPr/>
                    <a:lstStyle/>
                    <a:p>
                      <a:pPr algn="ctr"/>
                      <a:r>
                        <a:rPr lang="en-US" dirty="0"/>
                        <a:t>[5]</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2813143183"/>
                  </a:ext>
                </a:extLst>
              </a:tr>
              <a:tr h="361009">
                <a:tc>
                  <a:txBody>
                    <a:bodyPr/>
                    <a:lstStyle/>
                    <a:p>
                      <a:pPr algn="ctr"/>
                      <a:r>
                        <a:rPr lang="en-US" dirty="0"/>
                        <a:t>[6]</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902245519"/>
                  </a:ext>
                </a:extLst>
              </a:tr>
              <a:tr h="361009">
                <a:tc>
                  <a:txBody>
                    <a:bodyPr/>
                    <a:lstStyle/>
                    <a:p>
                      <a:pPr algn="ctr"/>
                      <a:r>
                        <a:rPr lang="en-US" dirty="0"/>
                        <a:t>[7]</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454984849"/>
                  </a:ext>
                </a:extLst>
              </a:tr>
              <a:tr h="361009">
                <a:tc>
                  <a:txBody>
                    <a:bodyPr/>
                    <a:lstStyle/>
                    <a:p>
                      <a:pPr algn="ctr"/>
                      <a:r>
                        <a:rPr lang="en-US" dirty="0"/>
                        <a:t>[8]</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2637780379"/>
                  </a:ext>
                </a:extLst>
              </a:tr>
            </a:tbl>
          </a:graphicData>
        </a:graphic>
      </p:graphicFrame>
      <p:sp>
        <p:nvSpPr>
          <p:cNvPr id="13" name="Date Placeholder 3">
            <a:extLst>
              <a:ext uri="{FF2B5EF4-FFF2-40B4-BE49-F238E27FC236}">
                <a16:creationId xmlns:a16="http://schemas.microsoft.com/office/drawing/2014/main" id="{5A7A1348-68F7-EA91-EAFE-5B3EC680D20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1FFB97E3-AE8E-55EB-9F91-20FDDBF34DFA}"/>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5A78E1C5-97FB-6677-7CC1-126AA4153A0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8</a:t>
            </a:fld>
            <a:endParaRPr lang="en-IN" sz="1200" dirty="0">
              <a:solidFill>
                <a:schemeClr val="accent3"/>
              </a:solidFill>
              <a:latin typeface="Aptos" panose="020B0004020202020204" pitchFamily="34" charset="0"/>
            </a:endParaRPr>
          </a:p>
        </p:txBody>
      </p:sp>
      <p:graphicFrame>
        <p:nvGraphicFramePr>
          <p:cNvPr id="16" name="Table 15"/>
          <p:cNvGraphicFramePr>
            <a:graphicFrameLocks noGrp="1"/>
          </p:cNvGraphicFramePr>
          <p:nvPr/>
        </p:nvGraphicFramePr>
        <p:xfrm>
          <a:off x="320040" y="960120"/>
          <a:ext cx="11521440" cy="5486400"/>
        </p:xfrm>
        <a:graphic>
          <a:graphicData uri="http://schemas.openxmlformats.org/drawingml/2006/table">
            <a:tbl>
              <a:tblPr firstRow="1" bandRow="1">
                <a:tableStyleId>{5C22544A-7EE6-4342-B048-85BDC9FD1C3A}</a:tableStyleId>
              </a:tblPr>
              <a:tblGrid>
                <a:gridCol w="2880360"/>
                <a:gridCol w="2880360"/>
                <a:gridCol w="2880360"/>
                <a:gridCol w="2880360"/>
              </a:tblGrid>
              <a:tr h="457200">
                <a:tc>
                  <a:txBody>
                    <a:bodyPr/>
                    <a:lstStyle/>
                    <a:p>
                      <a:pPr algn="ctr"/>
                      <a:r>
                        <a:rPr sz="1000" b="1">
                          <a:solidFill>
                            <a:srgbClr val="FFFFFF"/>
                          </a:solidFill>
                          <a:latin typeface="Aptos"/>
                        </a:rPr>
                        <a:t>Feature / Capability</a:t>
                      </a:r>
                    </a:p>
                  </a:txBody>
                  <a:tcPr>
                    <a:solidFill>
                      <a:srgbClr val="263F6D"/>
                    </a:solidFill>
                  </a:tcPr>
                </a:tc>
                <a:tc>
                  <a:txBody>
                    <a:bodyPr/>
                    <a:lstStyle/>
                    <a:p>
                      <a:pPr algn="ctr"/>
                      <a:r>
                        <a:rPr sz="1000" b="1">
                          <a:solidFill>
                            <a:srgbClr val="FFFFFF"/>
                          </a:solidFill>
                          <a:latin typeface="Aptos"/>
                        </a:rPr>
                        <a:t>ChatGPT-4o / Claude 3.5</a:t>
                      </a:r>
                    </a:p>
                  </a:txBody>
                  <a:tcPr>
                    <a:solidFill>
                      <a:srgbClr val="263F6D"/>
                    </a:solidFill>
                  </a:tcPr>
                </a:tc>
                <a:tc>
                  <a:txBody>
                    <a:bodyPr/>
                    <a:lstStyle/>
                    <a:p>
                      <a:pPr algn="ctr"/>
                      <a:r>
                        <a:rPr sz="1000" b="1">
                          <a:solidFill>
                            <a:srgbClr val="FFFFFF"/>
                          </a:solidFill>
                          <a:latin typeface="Aptos"/>
                        </a:rPr>
                        <a:t>Standard Health Apps (WebMD/Ada)</a:t>
                      </a:r>
                    </a:p>
                  </a:txBody>
                  <a:tcPr>
                    <a:solidFill>
                      <a:srgbClr val="263F6D"/>
                    </a:solidFill>
                  </a:tcPr>
                </a:tc>
                <a:tc>
                  <a:txBody>
                    <a:bodyPr/>
                    <a:lstStyle/>
                    <a:p>
                      <a:pPr algn="ctr"/>
                      <a:r>
                        <a:rPr sz="1000" b="1">
                          <a:solidFill>
                            <a:srgbClr val="FFFFFF"/>
                          </a:solidFill>
                          <a:latin typeface="Aptos"/>
                        </a:rPr>
                        <a:t>MediGuide Vision AI (Our Work)</a:t>
                      </a:r>
                    </a:p>
                  </a:txBody>
                  <a:tcPr>
                    <a:solidFill>
                      <a:srgbClr val="263F6D"/>
                    </a:solidFill>
                  </a:tcPr>
                </a:tc>
              </a:tr>
              <a:tr h="457200">
                <a:tc>
                  <a:txBody>
                    <a:bodyPr wrap="square"/>
                    <a:lstStyle/>
                    <a:p>
                      <a:r>
                        <a:rPr sz="850">
                          <a:solidFill>
                            <a:srgbClr val="0D0D0D"/>
                          </a:solidFill>
                          <a:latin typeface="Aptos"/>
                        </a:rPr>
                        <a:t>Prescription OCR + Safety</a:t>
                      </a:r>
                    </a:p>
                  </a:txBody>
                  <a:tcPr>
                    <a:solidFill>
                      <a:srgbClr val="F4F2EC"/>
                    </a:solidFill>
                  </a:tcPr>
                </a:tc>
                <a:tc>
                  <a:txBody>
                    <a:bodyPr wrap="square"/>
                    <a:lstStyle/>
                    <a:p>
                      <a:r>
                        <a:rPr sz="850">
                          <a:solidFill>
                            <a:srgbClr val="0D0D0D"/>
                          </a:solidFill>
                          <a:latin typeface="Aptos"/>
                        </a:rPr>
                        <a:t>Raw image upload, probabilistic OCR</a:t>
                      </a:r>
                    </a:p>
                  </a:txBody>
                  <a:tcPr>
                    <a:solidFill>
                      <a:srgbClr val="F4F2EC"/>
                    </a:solidFill>
                  </a:tcPr>
                </a:tc>
                <a:tc>
                  <a:txBody>
                    <a:bodyPr wrap="square"/>
                    <a:lstStyle/>
                    <a:p>
                      <a:r>
                        <a:rPr sz="850">
                          <a:solidFill>
                            <a:srgbClr val="0D0D0D"/>
                          </a:solidFill>
                          <a:latin typeface="Aptos"/>
                        </a:rPr>
                        <a:t>Text search only (no image pipeline)</a:t>
                      </a:r>
                    </a:p>
                  </a:txBody>
                  <a:tcPr>
                    <a:solidFill>
                      <a:srgbClr val="F4F2EC"/>
                    </a:solidFill>
                  </a:tcPr>
                </a:tc>
                <a:tc>
                  <a:txBody>
                    <a:bodyPr wrap="square"/>
                    <a:lstStyle/>
                    <a:p>
                      <a:r>
                        <a:rPr sz="850">
                          <a:solidFill>
                            <a:srgbClr val="0D0D0D"/>
                          </a:solidFill>
                          <a:latin typeface="Aptos"/>
                        </a:rPr>
                        <a:t>Pillow Preprocessing + Deterministic Brand Mapping</a:t>
                      </a:r>
                    </a:p>
                  </a:txBody>
                  <a:tcPr>
                    <a:solidFill>
                      <a:srgbClr val="F4F2EC"/>
                    </a:solidFill>
                  </a:tcPr>
                </a:tc>
              </a:tr>
              <a:tr h="457200">
                <a:tc>
                  <a:txBody>
                    <a:bodyPr wrap="square"/>
                    <a:lstStyle/>
                    <a:p>
                      <a:r>
                        <a:rPr sz="850">
                          <a:solidFill>
                            <a:srgbClr val="0D0D0D"/>
                          </a:solidFill>
                          <a:latin typeface="Aptos"/>
                        </a:rPr>
                        <a:t>Therapeutic Duplication Check</a:t>
                      </a:r>
                    </a:p>
                  </a:txBody>
                  <a:tcPr>
                    <a:solidFill>
                      <a:srgbClr val="FFFFFF"/>
                    </a:solidFill>
                  </a:tcPr>
                </a:tc>
                <a:tc>
                  <a:txBody>
                    <a:bodyPr wrap="square"/>
                    <a:lstStyle/>
                    <a:p>
                      <a:r>
                        <a:rPr sz="850">
                          <a:solidFill>
                            <a:srgbClr val="0D0D0D"/>
                          </a:solidFill>
                          <a:latin typeface="Aptos"/>
                        </a:rPr>
                        <a:t>Not guaranteed (hallucination risk)</a:t>
                      </a:r>
                    </a:p>
                  </a:txBody>
                  <a:tcPr>
                    <a:solidFill>
                      <a:srgbClr val="FFFFFF"/>
                    </a:solidFill>
                  </a:tcPr>
                </a:tc>
                <a:tc>
                  <a:txBody>
                    <a:bodyPr wrap="square"/>
                    <a:lstStyle/>
                    <a:p>
                      <a:r>
                        <a:rPr sz="850">
                          <a:solidFill>
                            <a:srgbClr val="0D0D0D"/>
                          </a:solidFill>
                          <a:latin typeface="Aptos"/>
                        </a:rPr>
                        <a:t>No automatic brand resolution</a:t>
                      </a:r>
                    </a:p>
                  </a:txBody>
                  <a:tcPr>
                    <a:solidFill>
                      <a:srgbClr val="FFFFFF"/>
                    </a:solidFill>
                  </a:tcPr>
                </a:tc>
                <a:tc>
                  <a:txBody>
                    <a:bodyPr wrap="square"/>
                    <a:lstStyle/>
                    <a:p>
                      <a:r>
                        <a:rPr sz="850">
                          <a:solidFill>
                            <a:srgbClr val="0D0D0D"/>
                          </a:solidFill>
                          <a:latin typeface="Aptos"/>
                        </a:rPr>
                        <a:t>GUARANTEED: Code-level Trimox = Amoxicillin Alert</a:t>
                      </a:r>
                    </a:p>
                  </a:txBody>
                  <a:tcPr>
                    <a:solidFill>
                      <a:srgbClr val="FFFFFF"/>
                    </a:solidFill>
                  </a:tcPr>
                </a:tc>
              </a:tr>
              <a:tr h="457200">
                <a:tc>
                  <a:txBody>
                    <a:bodyPr wrap="square"/>
                    <a:lstStyle/>
                    <a:p>
                      <a:r>
                        <a:rPr sz="850">
                          <a:solidFill>
                            <a:srgbClr val="0D0D0D"/>
                          </a:solidFill>
                          <a:latin typeface="Aptos"/>
                        </a:rPr>
                        <a:t>Food-Drug Interaction Engine</a:t>
                      </a:r>
                    </a:p>
                  </a:txBody>
                  <a:tcPr>
                    <a:solidFill>
                      <a:srgbClr val="F4F2EC"/>
                    </a:solidFill>
                  </a:tcPr>
                </a:tc>
                <a:tc>
                  <a:txBody>
                    <a:bodyPr wrap="square"/>
                    <a:lstStyle/>
                    <a:p>
                      <a:r>
                        <a:rPr sz="850">
                          <a:solidFill>
                            <a:srgbClr val="0D0D0D"/>
                          </a:solidFill>
                          <a:latin typeface="Aptos"/>
                        </a:rPr>
                        <a:t>Generic probabilistic text</a:t>
                      </a:r>
                    </a:p>
                  </a:txBody>
                  <a:tcPr>
                    <a:solidFill>
                      <a:srgbClr val="F4F2EC"/>
                    </a:solidFill>
                  </a:tcPr>
                </a:tc>
                <a:tc>
                  <a:txBody>
                    <a:bodyPr wrap="square"/>
                    <a:lstStyle/>
                    <a:p>
                      <a:r>
                        <a:rPr sz="850">
                          <a:solidFill>
                            <a:srgbClr val="0D0D0D"/>
                          </a:solidFill>
                          <a:latin typeface="Aptos"/>
                        </a:rPr>
                        <a:t>Basic drug-only alerts</a:t>
                      </a:r>
                    </a:p>
                  </a:txBody>
                  <a:tcPr>
                    <a:solidFill>
                      <a:srgbClr val="F4F2EC"/>
                    </a:solidFill>
                  </a:tcPr>
                </a:tc>
                <a:tc>
                  <a:txBody>
                    <a:bodyPr wrap="square"/>
                    <a:lstStyle/>
                    <a:p>
                      <a:r>
                        <a:rPr sz="850">
                          <a:solidFill>
                            <a:srgbClr val="0D0D0D"/>
                          </a:solidFill>
                          <a:latin typeface="Aptos"/>
                        </a:rPr>
                        <a:t>8 Food Categories x 40+ Drugs (CYP3A4 Warnings)</a:t>
                      </a:r>
                    </a:p>
                  </a:txBody>
                  <a:tcPr>
                    <a:solidFill>
                      <a:srgbClr val="F4F2EC"/>
                    </a:solidFill>
                  </a:tcPr>
                </a:tc>
              </a:tr>
              <a:tr h="457200">
                <a:tc>
                  <a:txBody>
                    <a:bodyPr wrap="square"/>
                    <a:lstStyle/>
                    <a:p>
                      <a:r>
                        <a:rPr sz="850">
                          <a:solidFill>
                            <a:srgbClr val="0D0D0D"/>
                          </a:solidFill>
                          <a:latin typeface="Aptos"/>
                        </a:rPr>
                        <a:t>Diagnostic Lab Analyzer</a:t>
                      </a:r>
                    </a:p>
                  </a:txBody>
                  <a:tcPr>
                    <a:solidFill>
                      <a:srgbClr val="FFFFFF"/>
                    </a:solidFill>
                  </a:tcPr>
                </a:tc>
                <a:tc>
                  <a:txBody>
                    <a:bodyPr wrap="square"/>
                    <a:lstStyle/>
                    <a:p>
                      <a:r>
                        <a:rPr sz="850">
                          <a:solidFill>
                            <a:srgbClr val="0D0D0D"/>
                          </a:solidFill>
                          <a:latin typeface="Aptos"/>
                        </a:rPr>
                        <a:t>General explanation of values</a:t>
                      </a:r>
                    </a:p>
                  </a:txBody>
                  <a:tcPr>
                    <a:solidFill>
                      <a:srgbClr val="FFFFFF"/>
                    </a:solidFill>
                  </a:tcPr>
                </a:tc>
                <a:tc>
                  <a:txBody>
                    <a:bodyPr wrap="square"/>
                    <a:lstStyle/>
                    <a:p>
                      <a:r>
                        <a:rPr sz="850">
                          <a:solidFill>
                            <a:srgbClr val="0D0D0D"/>
                          </a:solidFill>
                          <a:latin typeface="Aptos"/>
                        </a:rPr>
                        <a:t>Reference ranges only (no cross-check)</a:t>
                      </a:r>
                    </a:p>
                  </a:txBody>
                  <a:tcPr>
                    <a:solidFill>
                      <a:srgbClr val="FFFFFF"/>
                    </a:solidFill>
                  </a:tcPr>
                </a:tc>
                <a:tc>
                  <a:txBody>
                    <a:bodyPr wrap="square"/>
                    <a:lstStyle/>
                    <a:p>
                      <a:r>
                        <a:rPr sz="850">
                          <a:solidFill>
                            <a:srgbClr val="0D0D0D"/>
                          </a:solidFill>
                          <a:latin typeface="Aptos"/>
                        </a:rPr>
                        <a:t>35+ Tests with Emergency Flags &amp; Drug Cross-Check</a:t>
                      </a:r>
                    </a:p>
                  </a:txBody>
                  <a:tcPr>
                    <a:solidFill>
                      <a:srgbClr val="FFFFFF"/>
                    </a:solidFill>
                  </a:tcPr>
                </a:tc>
              </a:tr>
              <a:tr h="457200">
                <a:tc>
                  <a:txBody>
                    <a:bodyPr wrap="square"/>
                    <a:lstStyle/>
                    <a:p>
                      <a:r>
                        <a:rPr sz="850">
                          <a:solidFill>
                            <a:srgbClr val="0D0D0D"/>
                          </a:solidFill>
                          <a:latin typeface="Aptos"/>
                        </a:rPr>
                        <a:t>Multi-Modality Image Triage</a:t>
                      </a:r>
                    </a:p>
                  </a:txBody>
                  <a:tcPr>
                    <a:solidFill>
                      <a:srgbClr val="F4F2EC"/>
                    </a:solidFill>
                  </a:tcPr>
                </a:tc>
                <a:tc>
                  <a:txBody>
                    <a:bodyPr wrap="square"/>
                    <a:lstStyle/>
                    <a:p>
                      <a:r>
                        <a:rPr sz="850">
                          <a:solidFill>
                            <a:srgbClr val="0D0D0D"/>
                          </a:solidFill>
                          <a:latin typeface="Aptos"/>
                        </a:rPr>
                        <a:t>Generalist prompt, no pre-filtering</a:t>
                      </a:r>
                    </a:p>
                  </a:txBody>
                  <a:tcPr>
                    <a:solidFill>
                      <a:srgbClr val="F4F2EC"/>
                    </a:solidFill>
                  </a:tcPr>
                </a:tc>
                <a:tc>
                  <a:txBody>
                    <a:bodyPr wrap="square"/>
                    <a:lstStyle/>
                    <a:p>
                      <a:r>
                        <a:rPr sz="850">
                          <a:solidFill>
                            <a:srgbClr val="0D0D0D"/>
                          </a:solidFill>
                          <a:latin typeface="Aptos"/>
                        </a:rPr>
                        <a:t>Single modality (or skin only)</a:t>
                      </a:r>
                    </a:p>
                  </a:txBody>
                  <a:tcPr>
                    <a:solidFill>
                      <a:srgbClr val="F4F2EC"/>
                    </a:solidFill>
                  </a:tcPr>
                </a:tc>
                <a:tc>
                  <a:txBody>
                    <a:bodyPr wrap="square"/>
                    <a:lstStyle/>
                    <a:p>
                      <a:r>
                        <a:rPr sz="850">
                          <a:solidFill>
                            <a:srgbClr val="0D0D0D"/>
                          </a:solidFill>
                          <a:latin typeface="Aptos"/>
                        </a:rPr>
                        <a:t>4 Modalities: Prescriptions, Rashes, X-Rays, ECGs</a:t>
                      </a:r>
                    </a:p>
                  </a:txBody>
                  <a:tcPr>
                    <a:solidFill>
                      <a:srgbClr val="F4F2EC"/>
                    </a:solidFill>
                  </a:tcPr>
                </a:tc>
              </a:tr>
              <a:tr h="457200">
                <a:tc>
                  <a:txBody>
                    <a:bodyPr wrap="square"/>
                    <a:lstStyle/>
                    <a:p>
                      <a:r>
                        <a:rPr sz="850">
                          <a:solidFill>
                            <a:srgbClr val="0D0D0D"/>
                          </a:solidFill>
                          <a:latin typeface="Aptos"/>
                        </a:rPr>
                        <a:t>Quantified Health Risk Score</a:t>
                      </a:r>
                    </a:p>
                  </a:txBody>
                  <a:tcPr>
                    <a:solidFill>
                      <a:srgbClr val="FFFFFF"/>
                    </a:solidFill>
                  </a:tcPr>
                </a:tc>
                <a:tc>
                  <a:txBody>
                    <a:bodyPr wrap="square"/>
                    <a:lstStyle/>
                    <a:p>
                      <a:r>
                        <a:rPr sz="850">
                          <a:solidFill>
                            <a:srgbClr val="0D0D0D"/>
                          </a:solidFill>
                          <a:latin typeface="Aptos"/>
                        </a:rPr>
                        <a:t>Vague adjectives ('moderate concern')</a:t>
                      </a:r>
                    </a:p>
                  </a:txBody>
                  <a:tcPr>
                    <a:solidFill>
                      <a:srgbClr val="FFFFFF"/>
                    </a:solidFill>
                  </a:tcPr>
                </a:tc>
                <a:tc>
                  <a:txBody>
                    <a:bodyPr wrap="square"/>
                    <a:lstStyle/>
                    <a:p>
                      <a:r>
                        <a:rPr sz="850">
                          <a:solidFill>
                            <a:srgbClr val="0D0D0D"/>
                          </a:solidFill>
                          <a:latin typeface="Aptos"/>
                        </a:rPr>
                        <a:t>Rule-based symptom tree</a:t>
                      </a:r>
                    </a:p>
                  </a:txBody>
                  <a:tcPr>
                    <a:solidFill>
                      <a:srgbClr val="FFFFFF"/>
                    </a:solidFill>
                  </a:tcPr>
                </a:tc>
                <a:tc>
                  <a:txBody>
                    <a:bodyPr wrap="square"/>
                    <a:lstStyle/>
                    <a:p>
                      <a:r>
                        <a:rPr sz="850">
                          <a:solidFill>
                            <a:srgbClr val="0D0D0D"/>
                          </a:solidFill>
                          <a:latin typeface="Aptos"/>
                        </a:rPr>
                        <a:t>7-Factor Auditable 1–100 Numerical Score (NEWS2)</a:t>
                      </a:r>
                    </a:p>
                  </a:txBody>
                  <a:tcPr>
                    <a:solidFill>
                      <a:srgbClr val="FFFFFF"/>
                    </a:solidFill>
                  </a:tcPr>
                </a:tc>
              </a:tr>
              <a:tr h="457200">
                <a:tc>
                  <a:txBody>
                    <a:bodyPr wrap="square"/>
                    <a:lstStyle/>
                    <a:p>
                      <a:r>
                        <a:rPr sz="850">
                          <a:solidFill>
                            <a:srgbClr val="0D0D0D"/>
                          </a:solidFill>
                          <a:latin typeface="Aptos"/>
                        </a:rPr>
                        <a:t>Personalized Daily Schedule</a:t>
                      </a:r>
                    </a:p>
                  </a:txBody>
                  <a:tcPr>
                    <a:solidFill>
                      <a:srgbClr val="F4F2EC"/>
                    </a:solidFill>
                  </a:tcPr>
                </a:tc>
                <a:tc>
                  <a:txBody>
                    <a:bodyPr wrap="square"/>
                    <a:lstStyle/>
                    <a:p>
                      <a:r>
                        <a:rPr sz="850">
                          <a:solidFill>
                            <a:srgbClr val="0D0D0D"/>
                          </a:solidFill>
                          <a:latin typeface="Aptos"/>
                        </a:rPr>
                        <a:t>Unstructured bullet points</a:t>
                      </a:r>
                    </a:p>
                  </a:txBody>
                  <a:tcPr>
                    <a:solidFill>
                      <a:srgbClr val="F4F2EC"/>
                    </a:solidFill>
                  </a:tcPr>
                </a:tc>
                <a:tc>
                  <a:txBody>
                    <a:bodyPr wrap="square"/>
                    <a:lstStyle/>
                    <a:p>
                      <a:r>
                        <a:rPr sz="850">
                          <a:solidFill>
                            <a:srgbClr val="0D0D0D"/>
                          </a:solidFill>
                          <a:latin typeface="Aptos"/>
                        </a:rPr>
                        <a:t>Static alarm reminders</a:t>
                      </a:r>
                    </a:p>
                  </a:txBody>
                  <a:tcPr>
                    <a:solidFill>
                      <a:srgbClr val="F4F2EC"/>
                    </a:solidFill>
                  </a:tcPr>
                </a:tc>
                <a:tc>
                  <a:txBody>
                    <a:bodyPr wrap="square"/>
                    <a:lstStyle/>
                    <a:p>
                      <a:r>
                        <a:rPr sz="850">
                          <a:solidFill>
                            <a:srgbClr val="0D0D0D"/>
                          </a:solidFill>
                          <a:latin typeface="Aptos"/>
                        </a:rPr>
                        <a:t>Clinically Timed AM/PM/Bedtime Slots per Drug</a:t>
                      </a:r>
                    </a:p>
                  </a:txBody>
                  <a:tcPr>
                    <a:solidFill>
                      <a:srgbClr val="F4F2EC"/>
                    </a:solidFill>
                  </a:tcPr>
                </a:tc>
              </a:tr>
              <a:tr h="457200">
                <a:tc>
                  <a:txBody>
                    <a:bodyPr wrap="square"/>
                    <a:lstStyle/>
                    <a:p>
                      <a:r>
                        <a:rPr sz="850">
                          <a:solidFill>
                            <a:srgbClr val="0D0D0D"/>
                          </a:solidFill>
                          <a:latin typeface="Aptos"/>
                        </a:rPr>
                        <a:t>Architecture &amp; Modularity</a:t>
                      </a:r>
                    </a:p>
                  </a:txBody>
                  <a:tcPr>
                    <a:solidFill>
                      <a:srgbClr val="FFFFFF"/>
                    </a:solidFill>
                  </a:tcPr>
                </a:tc>
                <a:tc>
                  <a:txBody>
                    <a:bodyPr wrap="square"/>
                    <a:lstStyle/>
                    <a:p>
                      <a:r>
                        <a:rPr sz="850">
                          <a:solidFill>
                            <a:srgbClr val="0D0D0D"/>
                          </a:solidFill>
                          <a:latin typeface="Aptos"/>
                        </a:rPr>
                        <a:t>Monolithic single LLM prompt</a:t>
                      </a:r>
                    </a:p>
                  </a:txBody>
                  <a:tcPr>
                    <a:solidFill>
                      <a:srgbClr val="FFFFFF"/>
                    </a:solidFill>
                  </a:tcPr>
                </a:tc>
                <a:tc>
                  <a:txBody>
                    <a:bodyPr wrap="square"/>
                    <a:lstStyle/>
                    <a:p>
                      <a:r>
                        <a:rPr sz="850">
                          <a:solidFill>
                            <a:srgbClr val="0D0D0D"/>
                          </a:solidFill>
                          <a:latin typeface="Aptos"/>
                        </a:rPr>
                        <a:t>Monolithic backend</a:t>
                      </a:r>
                    </a:p>
                  </a:txBody>
                  <a:tcPr>
                    <a:solidFill>
                      <a:srgbClr val="FFFFFF"/>
                    </a:solidFill>
                  </a:tcPr>
                </a:tc>
                <a:tc>
                  <a:txBody>
                    <a:bodyPr wrap="square"/>
                    <a:lstStyle/>
                    <a:p>
                      <a:r>
                        <a:rPr sz="850">
                          <a:solidFill>
                            <a:srgbClr val="0D0D0D"/>
                          </a:solidFill>
                          <a:latin typeface="Aptos"/>
                        </a:rPr>
                        <a:t>5 Specialized ADK Sub-Agents under Orchestrator</a:t>
                      </a:r>
                    </a:p>
                  </a:txBody>
                  <a:tcPr>
                    <a:solidFill>
                      <a:srgbClr val="FFFFFF"/>
                    </a:solidFill>
                  </a:tcPr>
                </a:tc>
              </a:tr>
              <a:tr h="457200">
                <a:tc>
                  <a:txBody>
                    <a:bodyPr wrap="square"/>
                    <a:lstStyle/>
                    <a:p>
                      <a:r>
                        <a:rPr sz="850">
                          <a:solidFill>
                            <a:srgbClr val="0D0D0D"/>
                          </a:solidFill>
                          <a:latin typeface="Aptos"/>
                        </a:rPr>
                        <a:t>Privacy &amp; PII Protection</a:t>
                      </a:r>
                    </a:p>
                  </a:txBody>
                  <a:tcPr>
                    <a:solidFill>
                      <a:srgbClr val="F4F2EC"/>
                    </a:solidFill>
                  </a:tcPr>
                </a:tc>
                <a:tc>
                  <a:txBody>
                    <a:bodyPr wrap="square"/>
                    <a:lstStyle/>
                    <a:p>
                      <a:r>
                        <a:rPr sz="850">
                          <a:solidFill>
                            <a:srgbClr val="0D0D0D"/>
                          </a:solidFill>
                          <a:latin typeface="Aptos"/>
                        </a:rPr>
                        <a:t>Data transmitted to public cloud</a:t>
                      </a:r>
                    </a:p>
                  </a:txBody>
                  <a:tcPr>
                    <a:solidFill>
                      <a:srgbClr val="F4F2EC"/>
                    </a:solidFill>
                  </a:tcPr>
                </a:tc>
                <a:tc>
                  <a:txBody>
                    <a:bodyPr wrap="square"/>
                    <a:lstStyle/>
                    <a:p>
                      <a:r>
                        <a:rPr sz="850">
                          <a:solidFill>
                            <a:srgbClr val="0D0D0D"/>
                          </a:solidFill>
                          <a:latin typeface="Aptos"/>
                        </a:rPr>
                        <a:t>Proprietary cloud storage</a:t>
                      </a:r>
                    </a:p>
                  </a:txBody>
                  <a:tcPr>
                    <a:solidFill>
                      <a:srgbClr val="F4F2EC"/>
                    </a:solidFill>
                  </a:tcPr>
                </a:tc>
                <a:tc>
                  <a:txBody>
                    <a:bodyPr wrap="square"/>
                    <a:lstStyle/>
                    <a:p>
                      <a:r>
                        <a:rPr sz="850">
                          <a:solidFill>
                            <a:srgbClr val="0D0D0D"/>
                          </a:solidFill>
                          <a:latin typeface="Aptos"/>
                        </a:rPr>
                        <a:t>Local Security Layer with Automated PII Redaction</a:t>
                      </a:r>
                    </a:p>
                  </a:txBody>
                  <a:tcPr>
                    <a:solidFill>
                      <a:srgbClr val="F4F2EC"/>
                    </a:solidFill>
                  </a:tcPr>
                </a:tc>
              </a:tr>
              <a:tr h="457200">
                <a:tc>
                  <a:txBody>
                    <a:bodyPr wrap="square"/>
                    <a:lstStyle/>
                    <a:p>
                      <a:r>
                        <a:rPr sz="850">
                          <a:solidFill>
                            <a:srgbClr val="0D0D0D"/>
                          </a:solidFill>
                          <a:latin typeface="Aptos"/>
                        </a:rPr>
                        <a:t>Offline Execution Resilience</a:t>
                      </a:r>
                    </a:p>
                  </a:txBody>
                  <a:tcPr>
                    <a:solidFill>
                      <a:srgbClr val="FFFFFF"/>
                    </a:solidFill>
                  </a:tcPr>
                </a:tc>
                <a:tc>
                  <a:txBody>
                    <a:bodyPr wrap="square"/>
                    <a:lstStyle/>
                    <a:p>
                      <a:r>
                        <a:rPr sz="850">
                          <a:solidFill>
                            <a:srgbClr val="0D0D0D"/>
                          </a:solidFill>
                          <a:latin typeface="Aptos"/>
                        </a:rPr>
                        <a:t>Fails completely if offline</a:t>
                      </a:r>
                    </a:p>
                  </a:txBody>
                  <a:tcPr>
                    <a:solidFill>
                      <a:srgbClr val="FFFFFF"/>
                    </a:solidFill>
                  </a:tcPr>
                </a:tc>
                <a:tc>
                  <a:txBody>
                    <a:bodyPr wrap="square"/>
                    <a:lstStyle/>
                    <a:p>
                      <a:r>
                        <a:rPr sz="850">
                          <a:solidFill>
                            <a:srgbClr val="0D0D0D"/>
                          </a:solidFill>
                          <a:latin typeface="Aptos"/>
                        </a:rPr>
                        <a:t>Requires constant internet</a:t>
                      </a:r>
                    </a:p>
                  </a:txBody>
                  <a:tcPr>
                    <a:solidFill>
                      <a:srgbClr val="FFFFFF"/>
                    </a:solidFill>
                  </a:tcPr>
                </a:tc>
                <a:tc>
                  <a:txBody>
                    <a:bodyPr wrap="square"/>
                    <a:lstStyle/>
                    <a:p>
                      <a:r>
                        <a:rPr sz="850">
                          <a:solidFill>
                            <a:srgbClr val="0D0D0D"/>
                          </a:solidFill>
                          <a:latin typeface="Aptos"/>
                        </a:rPr>
                        <a:t>Deterministic Simulation Fallback (100% safety checks)</a:t>
                      </a:r>
                    </a:p>
                  </a:txBody>
                  <a:tcPr>
                    <a:solidFill>
                      <a:srgbClr val="FFFFFF"/>
                    </a:solidFill>
                  </a:tcPr>
                </a:tc>
              </a:tr>
              <a:tr h="457200">
                <a:tc>
                  <a:txBody>
                    <a:bodyPr wrap="square"/>
                    <a:lstStyle/>
                    <a:p>
                      <a:r>
                        <a:rPr sz="850">
                          <a:solidFill>
                            <a:srgbClr val="0D0D0D"/>
                          </a:solidFill>
                          <a:latin typeface="Aptos"/>
                        </a:rPr>
                        <a:t>Deployment Architecture</a:t>
                      </a:r>
                    </a:p>
                  </a:txBody>
                  <a:tcPr>
                    <a:solidFill>
                      <a:srgbClr val="F4F2EC"/>
                    </a:solidFill>
                  </a:tcPr>
                </a:tc>
                <a:tc>
                  <a:txBody>
                    <a:bodyPr wrap="square"/>
                    <a:lstStyle/>
                    <a:p>
                      <a:r>
                        <a:rPr sz="850">
                          <a:solidFill>
                            <a:srgbClr val="0D0D0D"/>
                          </a:solidFill>
                          <a:latin typeface="Aptos"/>
                        </a:rPr>
                        <a:t>Closed proprietary API</a:t>
                      </a:r>
                    </a:p>
                  </a:txBody>
                  <a:tcPr>
                    <a:solidFill>
                      <a:srgbClr val="F4F2EC"/>
                    </a:solidFill>
                  </a:tcPr>
                </a:tc>
                <a:tc>
                  <a:txBody>
                    <a:bodyPr wrap="square"/>
                    <a:lstStyle/>
                    <a:p>
                      <a:r>
                        <a:rPr sz="850">
                          <a:solidFill>
                            <a:srgbClr val="0D0D0D"/>
                          </a:solidFill>
                          <a:latin typeface="Aptos"/>
                        </a:rPr>
                        <a:t>Closed mobile app</a:t>
                      </a:r>
                    </a:p>
                  </a:txBody>
                  <a:tcPr>
                    <a:solidFill>
                      <a:srgbClr val="F4F2EC"/>
                    </a:solidFill>
                  </a:tcPr>
                </a:tc>
                <a:tc>
                  <a:txBody>
                    <a:bodyPr wrap="square"/>
                    <a:lstStyle/>
                    <a:p>
                      <a:r>
                        <a:rPr sz="850">
                          <a:solidFill>
                            <a:srgbClr val="0D0D0D"/>
                          </a:solidFill>
                          <a:latin typeface="Aptos"/>
                        </a:rPr>
                        <a:t>FastAPI REST Server + Docker + MCP Server</a:t>
                      </a:r>
                    </a:p>
                  </a:txBody>
                  <a:tcPr>
                    <a:solidFill>
                      <a:srgbClr val="F4F2EC"/>
                    </a:solidFill>
                  </a:tcPr>
                </a:tc>
              </a:tr>
            </a:tbl>
          </a:graphicData>
        </a:graphic>
      </p:graphicFrame>
    </p:spTree>
    <p:extLst>
      <p:ext uri="{BB962C8B-B14F-4D97-AF65-F5344CB8AC3E}">
        <p14:creationId xmlns:p14="http://schemas.microsoft.com/office/powerpoint/2010/main" val="3425208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44121E-2B36-0636-E404-5D42EBFA39C0}"/>
              </a:ext>
            </a:extLst>
          </p:cNvPr>
          <p:cNvSpPr txBox="1"/>
          <p:nvPr/>
        </p:nvSpPr>
        <p:spPr>
          <a:xfrm>
            <a:off x="470042" y="442057"/>
            <a:ext cx="6097712" cy="584775"/>
          </a:xfrm>
          <a:prstGeom prst="rect">
            <a:avLst/>
          </a:prstGeom>
          <a:noFill/>
        </p:spPr>
        <p:txBody>
          <a:bodyPr wrap="square">
            <a:spAutoFit/>
          </a:bodyPr>
          <a:lstStyle/>
          <a:p>
            <a:r>
              <a:rPr lang="en-IN" sz="3200" b="1" dirty="0">
                <a:latin typeface="Book Antiqua" panose="02040602050305030304" pitchFamily="18" charset="0"/>
              </a:rPr>
              <a:t>References</a:t>
            </a:r>
          </a:p>
        </p:txBody>
      </p:sp>
      <p:sp>
        <p:nvSpPr>
          <p:cNvPr id="5" name="TextBox 4">
            <a:extLst>
              <a:ext uri="{FF2B5EF4-FFF2-40B4-BE49-F238E27FC236}">
                <a16:creationId xmlns:a16="http://schemas.microsoft.com/office/drawing/2014/main" id="{D4236217-B8F5-06A5-DAE8-17894E03DAA7}"/>
              </a:ext>
            </a:extLst>
          </p:cNvPr>
          <p:cNvSpPr txBox="1"/>
          <p:nvPr/>
        </p:nvSpPr>
        <p:spPr>
          <a:xfrm>
            <a:off x="809090" y="1243441"/>
            <a:ext cx="6097712" cy="369332"/>
          </a:xfrm>
          <a:prstGeom prst="rect">
            <a:avLst/>
          </a:prstGeom>
          <a:noFill/>
        </p:spPr>
        <p:txBody>
          <a:bodyPr wrap="square">
            <a:spAutoFit/>
          </a:bodyPr>
          <a:lstStyle/>
          <a:p>
            <a:r>
              <a:t>[1]  Sharma, A., &amp; Patel, R. (2026). Coordinated Multi-Agent Orchestration in Patient-Facing Triage Systems using Google ADK. IEEE JBHI, 30(2), 112-124.</a:t>
            </a:r>
            <a:endParaRPr lang="en-IN" dirty="0">
              <a:latin typeface="Aptos" panose="020B0004020202020204" pitchFamily="34" charset="0"/>
            </a:endParaRPr>
          </a:p>
          <a:p>
            <a:r>
              <a:t>[2]  Chen, L., et al. (2025). Multimodal Vision-Language Models for Automatic Interpretation of Handwritten Prescriptions. Nature Medicine, 31(4), 844-856.</a:t>
            </a:r>
          </a:p>
          <a:p>
            <a:r>
              <a:t>[3]  Johnson, K., et al. (2025). Agentic AI Systems for Preventing Adverse Drug Events in Outpatient Settings. NEJM AI, 2(1), 45-58.</a:t>
            </a:r>
          </a:p>
          <a:p>
            <a:r>
              <a:t>[4]  Zhang, Y., &amp; Wang, X. (2024). Large Language Models as Fuzzy Clinical Entity Extractors: Opportunities and Limitations. JAMIA, 31(8), 1730-1742.</a:t>
            </a:r>
          </a:p>
          <a:p>
            <a:r>
              <a:t>[5]  Gupta, S., et al. (2024). Dermatological Lesion Classification and Triage via Edge-Deployed Vision Transformers. Lancet Digital Health, 6(3), e150-e162.</a:t>
            </a:r>
          </a:p>
          <a:p>
            <a:r>
              <a:t>[6]  Davis, M., et al. (2023). Multi-Agent Decision Support Systems for Chronic Disease Management. Artificial Intelligence in Medicine, 139, 102521.</a:t>
            </a:r>
          </a:p>
          <a:p>
            <a:r>
              <a:t>[7]  Smith, J., &amp; Brown, L. (2023). Deep Learning for Electrocardiogram Classification and Immediate Arrhythmia Alerts. Cardiovasc Dig Health J, 4(1), 12-25.</a:t>
            </a:r>
          </a:p>
          <a:p>
            <a:r>
              <a:t>[8]  Kim, H., et al. (2022). Automated Clinical Decision Support for Food-Drug and Drug-Drug Interaction Checking. Pharmacotherapy, 42(6), 488-499.</a:t>
            </a:r>
          </a:p>
          <a:p>
            <a:r>
              <a:t>[9]  Martinez, A., et al. (2022). Information Extraction from Clinical Lab Reports using Bidirectional Transformers. Bioinformatics, 38(14), 3620-3632.</a:t>
            </a:r>
          </a:p>
          <a:p>
            <a:r>
              <a:t>[10] Taylor, R., et al. (2021). Deploying Medical Decision Support Systems as Microservices using FastAPI and Docker. Software Quality Journal, 29(3), 512-525.</a:t>
            </a:r>
          </a:p>
        </p:txBody>
      </p:sp>
      <p:sp>
        <p:nvSpPr>
          <p:cNvPr id="10" name="Date Placeholder 3">
            <a:extLst>
              <a:ext uri="{FF2B5EF4-FFF2-40B4-BE49-F238E27FC236}">
                <a16:creationId xmlns:a16="http://schemas.microsoft.com/office/drawing/2014/main" id="{E115BBE8-9AD5-8D84-3BA5-316D1EDECDFF}"/>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1" name="Footer Placeholder 4">
            <a:extLst>
              <a:ext uri="{FF2B5EF4-FFF2-40B4-BE49-F238E27FC236}">
                <a16:creationId xmlns:a16="http://schemas.microsoft.com/office/drawing/2014/main" id="{771EB479-8D17-20B5-4E5E-3C7B064DCCEB}"/>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2" name="Slide Number Placeholder 5">
            <a:extLst>
              <a:ext uri="{FF2B5EF4-FFF2-40B4-BE49-F238E27FC236}">
                <a16:creationId xmlns:a16="http://schemas.microsoft.com/office/drawing/2014/main" id="{EB843B29-CD93-D47E-5922-AC6D22AC4611}"/>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9</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427368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C2933E-AB42-4159-1EFD-4E90435B8F04}"/>
              </a:ext>
            </a:extLst>
          </p:cNvPr>
          <p:cNvSpPr txBox="1"/>
          <p:nvPr/>
        </p:nvSpPr>
        <p:spPr>
          <a:xfrm>
            <a:off x="4214544" y="2599630"/>
            <a:ext cx="5993145" cy="830997"/>
          </a:xfrm>
          <a:prstGeom prst="rect">
            <a:avLst/>
          </a:prstGeom>
          <a:noFill/>
        </p:spPr>
        <p:txBody>
          <a:bodyPr wrap="square">
            <a:spAutoFit/>
          </a:bodyPr>
          <a:lstStyle/>
          <a:p>
            <a:r>
              <a:rPr sz="4000" b="1">
                <a:latin typeface="Bookman Old Style"/>
              </a:rPr>
              <a:t>Thank You</a:t>
            </a:r>
          </a:p>
          <a:p>
            <a:r>
              <a:rPr sz="1600">
                <a:latin typeface="Aptos"/>
              </a:rPr>
              <a:t>We welcome questions and feedback from the Evaluation Panel.</a:t>
            </a:r>
          </a:p>
          <a:p>
            <a:r>
              <a:rPr sz="1300" b="1">
                <a:latin typeface="Aptos"/>
              </a:rPr>
              <a:t>MediGuide Vision AI: Multiagent medical image Analysis and Healthcare Navigation</a:t>
            </a:r>
          </a:p>
          <a:p>
            <a:r>
              <a:rPr sz="1100">
                <a:latin typeface="Aptos"/>
              </a:rPr>
              <a:t>Vardhaman College of Engineering (Autonomous) | Batch 2023120304 - Section C (23ITMNP-C06)</a:t>
            </a:r>
          </a:p>
          <a:p>
            <a:r>
              <a:rPr sz="1100">
                <a:latin typeface="Aptos"/>
              </a:rPr>
              <a:t>Guide: Dr. L. Sunitha | Coordinator: Dr. Vinayak G Biradar</a:t>
            </a:r>
          </a:p>
          <a:p>
            <a:r>
              <a:rPr sz="1000">
                <a:latin typeface="Aptos"/>
              </a:rPr>
              <a:t>Team: Ratna Ganesh Reddy (23ITMNP-C06-A) | P. Maruthi Sai Teja (23ITMNP-C06-B) | P. Pavan Goud (23ITMNP-C06-C)</a:t>
            </a:r>
          </a:p>
        </p:txBody>
      </p:sp>
      <p:sp>
        <p:nvSpPr>
          <p:cNvPr id="9" name="Date Placeholder 3">
            <a:extLst>
              <a:ext uri="{FF2B5EF4-FFF2-40B4-BE49-F238E27FC236}">
                <a16:creationId xmlns:a16="http://schemas.microsoft.com/office/drawing/2014/main" id="{DB35C752-1BC6-0C13-884D-8DB0FF6D501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0" name="Footer Placeholder 4">
            <a:extLst>
              <a:ext uri="{FF2B5EF4-FFF2-40B4-BE49-F238E27FC236}">
                <a16:creationId xmlns:a16="http://schemas.microsoft.com/office/drawing/2014/main" id="{03B936E0-3D39-1842-927E-CF20081476B6}"/>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056EF318-D93C-033A-0B08-0C5A1191EAB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10</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74337147"/>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110</TotalTime>
  <Words>386</Words>
  <Application>Microsoft Office PowerPoint</Application>
  <PresentationFormat>Widescreen</PresentationFormat>
  <Paragraphs>103</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Book Antiqua</vt:lpstr>
      <vt:lpstr>Bookman Old Style</vt:lpstr>
      <vt:lpstr>Calibri</vt:lpstr>
      <vt:lpstr>Calibri Light</vt:lpstr>
      <vt:lpstr>Symbol</vt:lpstr>
      <vt:lpstr>Times New Roman</vt:lpstr>
      <vt:lpstr>Retrospect</vt:lpstr>
      <vt:lpstr>Project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Nikhila Sreekanth</dc:creator>
  <cp:lastModifiedBy>Dr Nikhila</cp:lastModifiedBy>
  <cp:revision>20</cp:revision>
  <dcterms:created xsi:type="dcterms:W3CDTF">2025-07-20T13:06:57Z</dcterms:created>
  <dcterms:modified xsi:type="dcterms:W3CDTF">2026-08-25T05:27:00Z</dcterms:modified>
</cp:coreProperties>
</file>