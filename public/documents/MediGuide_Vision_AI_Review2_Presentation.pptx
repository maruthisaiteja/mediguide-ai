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6" r:id="rId1"/>
  </p:sldMasterIdLst>
  <p:notesMasterIdLst>
    <p:notesMasterId r:id="rId12"/>
  </p:notesMasterIdLst>
  <p:handoutMasterIdLst>
    <p:handoutMasterId r:id="rId13"/>
  </p:handoutMasterIdLst>
  <p:sldIdLst>
    <p:sldId id="269" r:id="rId2"/>
    <p:sldId id="270" r:id="rId3"/>
    <p:sldId id="271" r:id="rId4"/>
    <p:sldId id="272" r:id="rId5"/>
    <p:sldId id="275" r:id="rId6"/>
    <p:sldId id="276" r:id="rId7"/>
    <p:sldId id="277" r:id="rId8"/>
    <p:sldId id="280" r:id="rId9"/>
    <p:sldId id="278" r:id="rId10"/>
    <p:sldId id="279"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2" d="100"/>
          <a:sy n="82" d="100"/>
        </p:scale>
        <p:origin x="720" y="62"/>
      </p:cViewPr>
      <p:guideLst/>
    </p:cSldViewPr>
  </p:slideViewPr>
  <p:notesTextViewPr>
    <p:cViewPr>
      <p:scale>
        <a:sx n="1" d="1"/>
        <a:sy n="1" d="1"/>
      </p:scale>
      <p:origin x="0" y="0"/>
    </p:cViewPr>
  </p:notesTextViewPr>
  <p:notesViewPr>
    <p:cSldViewPr snapToGrid="0">
      <p:cViewPr varScale="1">
        <p:scale>
          <a:sx n="50" d="100"/>
          <a:sy n="50" d="100"/>
        </p:scale>
        <p:origin x="2708" y="44"/>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handoutMaster" Target="handoutMasters/handout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F92F053-65F9-A0A5-CE90-B80640DEEF1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C62ED75F-81BD-BAC2-CBE3-1873149B87D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10F3A9A-AD8E-48B6-B5D3-F09F0765AD5D}" type="datetimeFigureOut">
              <a:rPr lang="en-IN" smtClean="0"/>
              <a:t>25-08-2026</a:t>
            </a:fld>
            <a:endParaRPr lang="en-IN"/>
          </a:p>
        </p:txBody>
      </p:sp>
      <p:sp>
        <p:nvSpPr>
          <p:cNvPr id="4" name="Footer Placeholder 3">
            <a:extLst>
              <a:ext uri="{FF2B5EF4-FFF2-40B4-BE49-F238E27FC236}">
                <a16:creationId xmlns:a16="http://schemas.microsoft.com/office/drawing/2014/main" id="{AE5B6B0F-CF07-9A9B-9298-C1F9BF57D3B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5FBCEFBF-B731-6D89-8205-4903D14DDB0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48B6C1D-1046-4A6D-80B1-1C6B3A26471E}" type="slidenum">
              <a:rPr lang="en-IN" smtClean="0"/>
              <a:t>‹#›</a:t>
            </a:fld>
            <a:endParaRPr lang="en-IN"/>
          </a:p>
        </p:txBody>
      </p:sp>
    </p:spTree>
    <p:extLst>
      <p:ext uri="{BB962C8B-B14F-4D97-AF65-F5344CB8AC3E}">
        <p14:creationId xmlns:p14="http://schemas.microsoft.com/office/powerpoint/2010/main" val="32591189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62F447A-76D7-4DCE-9997-759B9E4673F9}" type="datetimeFigureOut">
              <a:rPr lang="en-IN" smtClean="0"/>
              <a:t>25-08-2026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1DE63D-82B2-451D-864F-FFE087DE8B74}" type="slidenum">
              <a:rPr lang="en-IN" smtClean="0"/>
              <a:t>‹#›</a:t>
            </a:fld>
            <a:endParaRPr lang="en-IN"/>
          </a:p>
        </p:txBody>
      </p:sp>
    </p:spTree>
    <p:extLst>
      <p:ext uri="{BB962C8B-B14F-4D97-AF65-F5344CB8AC3E}">
        <p14:creationId xmlns:p14="http://schemas.microsoft.com/office/powerpoint/2010/main" val="14246326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5A069CB8-F204-4D06-B913-C5A26A89888A}" type="datetimeFigureOut">
              <a:rPr lang="en-US" smtClean="0"/>
              <a:t>8/25/2026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 name="Footer Placeholder 4">
            <a:extLst>
              <a:ext uri="{FF2B5EF4-FFF2-40B4-BE49-F238E27FC236}">
                <a16:creationId xmlns:a16="http://schemas.microsoft.com/office/drawing/2014/main" id="{8782C616-21D6-769C-F4AD-A15F07F71B54}"/>
              </a:ext>
            </a:extLst>
          </p:cNvPr>
          <p:cNvSpPr txBox="1">
            <a:spLocks/>
          </p:cNvSpPr>
          <p:nvPr userDrawn="1"/>
        </p:nvSpPr>
        <p:spPr>
          <a:xfrm>
            <a:off x="4759240" y="6456244"/>
            <a:ext cx="3490907" cy="345248"/>
          </a:xfrm>
          <a:prstGeom prst="rect">
            <a:avLst/>
          </a:prstGeom>
        </p:spPr>
        <p:txBody>
          <a:bodyPr/>
          <a:lstStyle>
            <a:defPPr>
              <a:defRPr lang="en-US"/>
            </a:defPPr>
            <a:lvl1pPr marL="0" algn="l" defTabSz="457200" rtl="0" eaLnBrk="1" latinLnBrk="0" hangingPunct="1">
              <a:defRPr sz="1200" b="1" kern="1200" cap="none">
                <a:solidFill>
                  <a:schemeClr val="tx1"/>
                </a:solidFill>
                <a:latin typeface="Aptos" panose="020B0004020202020204" pitchFamily="34"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sz="1400" dirty="0">
                <a:solidFill>
                  <a:schemeClr val="accent3"/>
                </a:solidFill>
              </a:rPr>
              <a:t>Vardhaman College Of Engineering</a:t>
            </a:r>
          </a:p>
        </p:txBody>
      </p:sp>
      <p:sp>
        <p:nvSpPr>
          <p:cNvPr id="11" name="Slide Number Placeholder 5">
            <a:extLst>
              <a:ext uri="{FF2B5EF4-FFF2-40B4-BE49-F238E27FC236}">
                <a16:creationId xmlns:a16="http://schemas.microsoft.com/office/drawing/2014/main" id="{40FA7336-0A61-26CC-400A-E5A33C8E2EF5}"/>
              </a:ext>
            </a:extLst>
          </p:cNvPr>
          <p:cNvSpPr txBox="1">
            <a:spLocks/>
          </p:cNvSpPr>
          <p:nvPr userDrawn="1"/>
        </p:nvSpPr>
        <p:spPr>
          <a:xfrm>
            <a:off x="10822112" y="6490607"/>
            <a:ext cx="390371" cy="365125"/>
          </a:xfrm>
          <a:prstGeom prst="rect">
            <a:avLst/>
          </a:prstGeom>
        </p:spPr>
        <p:txBody>
          <a:bodyPr/>
          <a:lstStyle>
            <a:defPPr>
              <a:defRPr lang="en-US"/>
            </a:defPPr>
            <a:lvl1pPr marL="0" algn="l" defTabSz="457200" rtl="0" eaLnBrk="1" latinLnBrk="0" hangingPunct="1">
              <a:defRPr sz="1100" b="1"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6A3FA1D-EC91-45BD-A9AB-12F85A35EF5C}" type="slidenum">
              <a:rPr lang="en-IN" sz="1200" smtClean="0">
                <a:solidFill>
                  <a:schemeClr val="accent3"/>
                </a:solidFill>
                <a:latin typeface="Aptos" panose="020B0004020202020204" pitchFamily="34" charset="0"/>
              </a:rPr>
              <a:pPr/>
              <a:t>‹#›</a:t>
            </a:fld>
            <a:endParaRPr lang="en-IN" sz="1200" dirty="0">
              <a:solidFill>
                <a:schemeClr val="accent3"/>
              </a:solidFill>
              <a:latin typeface="Aptos" panose="020B0004020202020204" pitchFamily="34" charset="0"/>
            </a:endParaRPr>
          </a:p>
        </p:txBody>
      </p:sp>
    </p:spTree>
    <p:extLst>
      <p:ext uri="{BB962C8B-B14F-4D97-AF65-F5344CB8AC3E}">
        <p14:creationId xmlns:p14="http://schemas.microsoft.com/office/powerpoint/2010/main" val="29973793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6827DAF-95E8-4AE4-8F29-F27484FD6428}" type="datetime1">
              <a:rPr lang="en-IN" smtClean="0"/>
              <a:t>25-08-2026</a:t>
            </a:fld>
            <a:endParaRPr lang="en-IN"/>
          </a:p>
        </p:txBody>
      </p:sp>
      <p:sp>
        <p:nvSpPr>
          <p:cNvPr id="5" name="Footer Placeholder 4"/>
          <p:cNvSpPr>
            <a:spLocks noGrp="1"/>
          </p:cNvSpPr>
          <p:nvPr>
            <p:ph type="ftr" sz="quarter" idx="11"/>
          </p:nvPr>
        </p:nvSpPr>
        <p:spPr/>
        <p:txBody>
          <a:bodyPr/>
          <a:lstStyle/>
          <a:p>
            <a:r>
              <a:rPr lang="en-IN" smtClean="0"/>
              <a:t>Vardhaman College Of Engineering</a:t>
            </a:r>
            <a:endParaRPr lang="en-IN" dirty="0"/>
          </a:p>
        </p:txBody>
      </p:sp>
      <p:sp>
        <p:nvSpPr>
          <p:cNvPr id="6" name="Slide Number Placeholder 5"/>
          <p:cNvSpPr>
            <a:spLocks noGrp="1"/>
          </p:cNvSpPr>
          <p:nvPr>
            <p:ph type="sldNum" sz="quarter" idx="12"/>
          </p:nvPr>
        </p:nvSpPr>
        <p:spPr/>
        <p:txBody>
          <a:bodyPr/>
          <a:lstStyle/>
          <a:p>
            <a:fld id="{76A3FA1D-EC91-45BD-A9AB-12F85A35EF5C}" type="slidenum">
              <a:rPr lang="en-IN" smtClean="0"/>
              <a:t>‹#›</a:t>
            </a:fld>
            <a:endParaRPr lang="en-IN"/>
          </a:p>
        </p:txBody>
      </p:sp>
    </p:spTree>
    <p:extLst>
      <p:ext uri="{BB962C8B-B14F-4D97-AF65-F5344CB8AC3E}">
        <p14:creationId xmlns:p14="http://schemas.microsoft.com/office/powerpoint/2010/main" val="14218681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09FCD47-ACA7-42E3-9E5F-46D28F163962}" type="datetime1">
              <a:rPr lang="en-IN" smtClean="0"/>
              <a:t>25-08-2026</a:t>
            </a:fld>
            <a:endParaRPr lang="en-IN"/>
          </a:p>
        </p:txBody>
      </p:sp>
      <p:sp>
        <p:nvSpPr>
          <p:cNvPr id="5" name="Footer Placeholder 4"/>
          <p:cNvSpPr>
            <a:spLocks noGrp="1"/>
          </p:cNvSpPr>
          <p:nvPr>
            <p:ph type="ftr" sz="quarter" idx="11"/>
          </p:nvPr>
        </p:nvSpPr>
        <p:spPr/>
        <p:txBody>
          <a:bodyPr/>
          <a:lstStyle/>
          <a:p>
            <a:r>
              <a:rPr lang="en-IN" smtClean="0"/>
              <a:t>Vardhaman College Of Engineering</a:t>
            </a:r>
            <a:endParaRPr lang="en-IN"/>
          </a:p>
        </p:txBody>
      </p:sp>
      <p:sp>
        <p:nvSpPr>
          <p:cNvPr id="6" name="Slide Number Placeholder 5"/>
          <p:cNvSpPr>
            <a:spLocks noGrp="1"/>
          </p:cNvSpPr>
          <p:nvPr>
            <p:ph type="sldNum" sz="quarter" idx="12"/>
          </p:nvPr>
        </p:nvSpPr>
        <p:spPr/>
        <p:txBody>
          <a:bodyPr/>
          <a:lstStyle/>
          <a:p>
            <a:fld id="{76A3FA1D-EC91-45BD-A9AB-12F85A35EF5C}"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517902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5D9AF5DF-754D-4D58-9EDF-7032AC7C93FF}" type="datetime1">
              <a:rPr lang="en-IN" smtClean="0"/>
              <a:t>25-08-2026</a:t>
            </a:fld>
            <a:endParaRPr lang="en-IN"/>
          </a:p>
        </p:txBody>
      </p:sp>
      <p:sp>
        <p:nvSpPr>
          <p:cNvPr id="6" name="Footer Placeholder 5"/>
          <p:cNvSpPr>
            <a:spLocks noGrp="1"/>
          </p:cNvSpPr>
          <p:nvPr>
            <p:ph type="ftr" sz="quarter" idx="11"/>
          </p:nvPr>
        </p:nvSpPr>
        <p:spPr/>
        <p:txBody>
          <a:bodyPr/>
          <a:lstStyle/>
          <a:p>
            <a:r>
              <a:rPr lang="en-IN" smtClean="0"/>
              <a:t>Vardhaman College Of Engineering</a:t>
            </a:r>
            <a:endParaRPr lang="en-IN"/>
          </a:p>
        </p:txBody>
      </p:sp>
      <p:sp>
        <p:nvSpPr>
          <p:cNvPr id="7" name="Slide Number Placeholder 6"/>
          <p:cNvSpPr>
            <a:spLocks noGrp="1"/>
          </p:cNvSpPr>
          <p:nvPr>
            <p:ph type="sldNum" sz="quarter" idx="12"/>
          </p:nvPr>
        </p:nvSpPr>
        <p:spPr/>
        <p:txBody>
          <a:bodyPr/>
          <a:lstStyle/>
          <a:p>
            <a:fld id="{76A3FA1D-EC91-45BD-A9AB-12F85A35EF5C}" type="slidenum">
              <a:rPr lang="en-IN" smtClean="0"/>
              <a:t>‹#›</a:t>
            </a:fld>
            <a:endParaRPr lang="en-IN"/>
          </a:p>
        </p:txBody>
      </p:sp>
    </p:spTree>
    <p:extLst>
      <p:ext uri="{BB962C8B-B14F-4D97-AF65-F5344CB8AC3E}">
        <p14:creationId xmlns:p14="http://schemas.microsoft.com/office/powerpoint/2010/main" val="27771753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97CF4429-411E-4337-96DF-B2B42568BAE7}" type="datetime1">
              <a:rPr lang="en-IN" smtClean="0"/>
              <a:t>25-08-2026</a:t>
            </a:fld>
            <a:endParaRPr lang="en-IN"/>
          </a:p>
        </p:txBody>
      </p:sp>
      <p:sp>
        <p:nvSpPr>
          <p:cNvPr id="8" name="Footer Placeholder 7"/>
          <p:cNvSpPr>
            <a:spLocks noGrp="1"/>
          </p:cNvSpPr>
          <p:nvPr>
            <p:ph type="ftr" sz="quarter" idx="11"/>
          </p:nvPr>
        </p:nvSpPr>
        <p:spPr/>
        <p:txBody>
          <a:bodyPr/>
          <a:lstStyle/>
          <a:p>
            <a:r>
              <a:rPr lang="en-IN" smtClean="0"/>
              <a:t>Vardhaman College Of Engineering</a:t>
            </a:r>
            <a:endParaRPr lang="en-IN"/>
          </a:p>
        </p:txBody>
      </p:sp>
      <p:sp>
        <p:nvSpPr>
          <p:cNvPr id="9" name="Slide Number Placeholder 8"/>
          <p:cNvSpPr>
            <a:spLocks noGrp="1"/>
          </p:cNvSpPr>
          <p:nvPr>
            <p:ph type="sldNum" sz="quarter" idx="12"/>
          </p:nvPr>
        </p:nvSpPr>
        <p:spPr/>
        <p:txBody>
          <a:bodyPr/>
          <a:lstStyle/>
          <a:p>
            <a:fld id="{76A3FA1D-EC91-45BD-A9AB-12F85A35EF5C}" type="slidenum">
              <a:rPr lang="en-IN" smtClean="0"/>
              <a:t>‹#›</a:t>
            </a:fld>
            <a:endParaRPr lang="en-IN"/>
          </a:p>
        </p:txBody>
      </p:sp>
    </p:spTree>
    <p:extLst>
      <p:ext uri="{BB962C8B-B14F-4D97-AF65-F5344CB8AC3E}">
        <p14:creationId xmlns:p14="http://schemas.microsoft.com/office/powerpoint/2010/main" val="11220815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74663881-DA3B-49D1-A23E-AEA91CA42425}" type="datetime1">
              <a:rPr lang="en-IN" smtClean="0"/>
              <a:t>25-08-2026</a:t>
            </a:fld>
            <a:endParaRPr lang="en-IN"/>
          </a:p>
        </p:txBody>
      </p:sp>
      <p:sp>
        <p:nvSpPr>
          <p:cNvPr id="4" name="Footer Placeholder 3"/>
          <p:cNvSpPr>
            <a:spLocks noGrp="1"/>
          </p:cNvSpPr>
          <p:nvPr>
            <p:ph type="ftr" sz="quarter" idx="11"/>
          </p:nvPr>
        </p:nvSpPr>
        <p:spPr/>
        <p:txBody>
          <a:bodyPr/>
          <a:lstStyle/>
          <a:p>
            <a:r>
              <a:rPr lang="en-IN" smtClean="0"/>
              <a:t>Vardhaman College Of Engineering</a:t>
            </a:r>
            <a:endParaRPr lang="en-IN"/>
          </a:p>
        </p:txBody>
      </p:sp>
      <p:sp>
        <p:nvSpPr>
          <p:cNvPr id="5" name="Slide Number Placeholder 4"/>
          <p:cNvSpPr>
            <a:spLocks noGrp="1"/>
          </p:cNvSpPr>
          <p:nvPr>
            <p:ph type="sldNum" sz="quarter" idx="12"/>
          </p:nvPr>
        </p:nvSpPr>
        <p:spPr/>
        <p:txBody>
          <a:bodyPr/>
          <a:lstStyle/>
          <a:p>
            <a:fld id="{76A3FA1D-EC91-45BD-A9AB-12F85A35EF5C}" type="slidenum">
              <a:rPr lang="en-IN" smtClean="0"/>
              <a:t>‹#›</a:t>
            </a:fld>
            <a:endParaRPr lang="en-IN"/>
          </a:p>
        </p:txBody>
      </p:sp>
    </p:spTree>
    <p:extLst>
      <p:ext uri="{BB962C8B-B14F-4D97-AF65-F5344CB8AC3E}">
        <p14:creationId xmlns:p14="http://schemas.microsoft.com/office/powerpoint/2010/main" val="3687139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4F51867-9540-4548-BA00-41AC4CFEE70F}" type="datetime1">
              <a:rPr lang="en-IN" smtClean="0"/>
              <a:t>25-08-2026</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IN" smtClean="0"/>
              <a:t>Vardhaman College Of Engineering</a:t>
            </a:r>
            <a:endParaRPr lang="en-IN"/>
          </a:p>
        </p:txBody>
      </p:sp>
      <p:sp>
        <p:nvSpPr>
          <p:cNvPr id="9" name="Slide Number Placeholder 8"/>
          <p:cNvSpPr>
            <a:spLocks noGrp="1"/>
          </p:cNvSpPr>
          <p:nvPr>
            <p:ph type="sldNum" sz="quarter" idx="12"/>
          </p:nvPr>
        </p:nvSpPr>
        <p:spPr/>
        <p:txBody>
          <a:bodyPr/>
          <a:lstStyle/>
          <a:p>
            <a:fld id="{76A3FA1D-EC91-45BD-A9AB-12F85A35EF5C}" type="slidenum">
              <a:rPr lang="en-IN" smtClean="0"/>
              <a:t>‹#›</a:t>
            </a:fld>
            <a:endParaRPr lang="en-IN"/>
          </a:p>
        </p:txBody>
      </p:sp>
      <p:pic>
        <p:nvPicPr>
          <p:cNvPr id="10" name="Picture 9">
            <a:extLst>
              <a:ext uri="{FF2B5EF4-FFF2-40B4-BE49-F238E27FC236}">
                <a16:creationId xmlns:a16="http://schemas.microsoft.com/office/drawing/2014/main" id="{780F4C69-05CD-71C1-F10C-658888BE28F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67518" y="69351"/>
            <a:ext cx="1224280" cy="935990"/>
          </a:xfrm>
          <a:prstGeom prst="rect">
            <a:avLst/>
          </a:prstGeom>
        </p:spPr>
      </p:pic>
    </p:spTree>
    <p:extLst>
      <p:ext uri="{BB962C8B-B14F-4D97-AF65-F5344CB8AC3E}">
        <p14:creationId xmlns:p14="http://schemas.microsoft.com/office/powerpoint/2010/main" val="12767928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9D115AD5-8487-4FDE-8528-C9F7488F6ABD}" type="datetime1">
              <a:rPr lang="en-IN" smtClean="0"/>
              <a:t>25-08-2026</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n-IN" smtClean="0"/>
              <a:t>Vardhaman College Of Engineering</a:t>
            </a:r>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76A3FA1D-EC91-45BD-A9AB-12F85A35EF5C}" type="slidenum">
              <a:rPr lang="en-IN" smtClean="0"/>
              <a:t>‹#›</a:t>
            </a:fld>
            <a:endParaRPr lang="en-IN"/>
          </a:p>
        </p:txBody>
      </p:sp>
    </p:spTree>
    <p:extLst>
      <p:ext uri="{BB962C8B-B14F-4D97-AF65-F5344CB8AC3E}">
        <p14:creationId xmlns:p14="http://schemas.microsoft.com/office/powerpoint/2010/main" val="10305234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5E7645D7-53DB-474E-B4B6-AED3786E1B39}" type="datetime1">
              <a:rPr lang="en-IN" smtClean="0"/>
              <a:t>25-08-2026</a:t>
            </a:fld>
            <a:endParaRPr lang="en-IN"/>
          </a:p>
        </p:txBody>
      </p:sp>
      <p:sp>
        <p:nvSpPr>
          <p:cNvPr id="6" name="Footer Placeholder 5"/>
          <p:cNvSpPr>
            <a:spLocks noGrp="1"/>
          </p:cNvSpPr>
          <p:nvPr>
            <p:ph type="ftr" sz="quarter" idx="11"/>
          </p:nvPr>
        </p:nvSpPr>
        <p:spPr/>
        <p:txBody>
          <a:bodyPr/>
          <a:lstStyle/>
          <a:p>
            <a:r>
              <a:rPr lang="en-IN" smtClean="0"/>
              <a:t>Vardhaman College Of Engineering</a:t>
            </a:r>
            <a:endParaRPr lang="en-IN"/>
          </a:p>
        </p:txBody>
      </p:sp>
      <p:sp>
        <p:nvSpPr>
          <p:cNvPr id="7" name="Slide Number Placeholder 6"/>
          <p:cNvSpPr>
            <a:spLocks noGrp="1"/>
          </p:cNvSpPr>
          <p:nvPr>
            <p:ph type="sldNum" sz="quarter" idx="12"/>
          </p:nvPr>
        </p:nvSpPr>
        <p:spPr/>
        <p:txBody>
          <a:bodyPr/>
          <a:lstStyle/>
          <a:p>
            <a:fld id="{76A3FA1D-EC91-45BD-A9AB-12F85A35EF5C}" type="slidenum">
              <a:rPr lang="en-IN" smtClean="0"/>
              <a:t>‹#›</a:t>
            </a:fld>
            <a:endParaRPr lang="en-IN"/>
          </a:p>
        </p:txBody>
      </p:sp>
    </p:spTree>
    <p:extLst>
      <p:ext uri="{BB962C8B-B14F-4D97-AF65-F5344CB8AC3E}">
        <p14:creationId xmlns:p14="http://schemas.microsoft.com/office/powerpoint/2010/main" val="18389003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0F6F967-1531-4F87-B562-081FA498D978}" type="datetime1">
              <a:rPr lang="en-IN" smtClean="0"/>
              <a:t>25-08-2026</a:t>
            </a:fld>
            <a:endParaRPr lang="en-IN"/>
          </a:p>
        </p:txBody>
      </p:sp>
      <p:sp>
        <p:nvSpPr>
          <p:cNvPr id="5" name="Footer Placeholder 4"/>
          <p:cNvSpPr>
            <a:spLocks noGrp="1"/>
          </p:cNvSpPr>
          <p:nvPr>
            <p:ph type="ftr" sz="quarter" idx="11"/>
          </p:nvPr>
        </p:nvSpPr>
        <p:spPr/>
        <p:txBody>
          <a:bodyPr/>
          <a:lstStyle/>
          <a:p>
            <a:r>
              <a:rPr lang="en-IN" smtClean="0"/>
              <a:t>Vardhaman College Of Engineering</a:t>
            </a:r>
            <a:endParaRPr lang="en-IN"/>
          </a:p>
        </p:txBody>
      </p:sp>
      <p:sp>
        <p:nvSpPr>
          <p:cNvPr id="6" name="Slide Number Placeholder 5"/>
          <p:cNvSpPr>
            <a:spLocks noGrp="1"/>
          </p:cNvSpPr>
          <p:nvPr>
            <p:ph type="sldNum" sz="quarter" idx="12"/>
          </p:nvPr>
        </p:nvSpPr>
        <p:spPr/>
        <p:txBody>
          <a:bodyPr/>
          <a:lstStyle/>
          <a:p>
            <a:fld id="{76A3FA1D-EC91-45BD-A9AB-12F85A35EF5C}" type="slidenum">
              <a:rPr lang="en-IN" smtClean="0"/>
              <a:t>‹#›</a:t>
            </a:fld>
            <a:endParaRPr lang="en-IN"/>
          </a:p>
        </p:txBody>
      </p:sp>
    </p:spTree>
    <p:extLst>
      <p:ext uri="{BB962C8B-B14F-4D97-AF65-F5344CB8AC3E}">
        <p14:creationId xmlns:p14="http://schemas.microsoft.com/office/powerpoint/2010/main" val="14515749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69F6713-C2D6-415F-8132-AD7A60E4F634}" type="datetime1">
              <a:rPr lang="en-IN" smtClean="0"/>
              <a:t>25-08-2026</a:t>
            </a:fld>
            <a:endParaRPr lang="en-IN"/>
          </a:p>
        </p:txBody>
      </p:sp>
      <p:sp>
        <p:nvSpPr>
          <p:cNvPr id="5" name="Footer Placeholder 4"/>
          <p:cNvSpPr>
            <a:spLocks noGrp="1"/>
          </p:cNvSpPr>
          <p:nvPr>
            <p:ph type="ftr" sz="quarter" idx="11"/>
          </p:nvPr>
        </p:nvSpPr>
        <p:spPr/>
        <p:txBody>
          <a:bodyPr/>
          <a:lstStyle/>
          <a:p>
            <a:r>
              <a:rPr lang="en-IN" smtClean="0"/>
              <a:t>Vardhaman College Of Engineering</a:t>
            </a:r>
            <a:endParaRPr lang="en-IN"/>
          </a:p>
        </p:txBody>
      </p:sp>
      <p:sp>
        <p:nvSpPr>
          <p:cNvPr id="6" name="Slide Number Placeholder 5"/>
          <p:cNvSpPr>
            <a:spLocks noGrp="1"/>
          </p:cNvSpPr>
          <p:nvPr>
            <p:ph type="sldNum" sz="quarter" idx="12"/>
          </p:nvPr>
        </p:nvSpPr>
        <p:spPr/>
        <p:txBody>
          <a:bodyPr/>
          <a:lstStyle/>
          <a:p>
            <a:fld id="{76A3FA1D-EC91-45BD-A9AB-12F85A35EF5C}" type="slidenum">
              <a:rPr lang="en-IN" smtClean="0"/>
              <a:t>‹#›</a:t>
            </a:fld>
            <a:endParaRPr lang="en-IN"/>
          </a:p>
        </p:txBody>
      </p:sp>
    </p:spTree>
    <p:extLst>
      <p:ext uri="{BB962C8B-B14F-4D97-AF65-F5344CB8AC3E}">
        <p14:creationId xmlns:p14="http://schemas.microsoft.com/office/powerpoint/2010/main" val="455412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dirty="0"/>
          </a:p>
        </p:txBody>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 name="Footer Placeholder 4">
            <a:extLst>
              <a:ext uri="{FF2B5EF4-FFF2-40B4-BE49-F238E27FC236}">
                <a16:creationId xmlns:a16="http://schemas.microsoft.com/office/drawing/2014/main" id="{8782C616-21D6-769C-F4AD-A15F07F71B54}"/>
              </a:ext>
            </a:extLst>
          </p:cNvPr>
          <p:cNvSpPr txBox="1">
            <a:spLocks/>
          </p:cNvSpPr>
          <p:nvPr userDrawn="1"/>
        </p:nvSpPr>
        <p:spPr>
          <a:xfrm>
            <a:off x="4759240" y="6456244"/>
            <a:ext cx="3490907" cy="345248"/>
          </a:xfrm>
          <a:prstGeom prst="rect">
            <a:avLst/>
          </a:prstGeom>
        </p:spPr>
        <p:txBody>
          <a:bodyPr/>
          <a:lstStyle>
            <a:defPPr>
              <a:defRPr lang="en-US"/>
            </a:defPPr>
            <a:lvl1pPr marL="0" algn="l" defTabSz="457200" rtl="0" eaLnBrk="1" latinLnBrk="0" hangingPunct="1">
              <a:defRPr sz="1200" b="1" kern="1200" cap="none">
                <a:solidFill>
                  <a:schemeClr val="tx1"/>
                </a:solidFill>
                <a:latin typeface="Aptos" panose="020B0004020202020204" pitchFamily="34"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sz="1400" dirty="0">
                <a:solidFill>
                  <a:schemeClr val="accent3"/>
                </a:solidFill>
              </a:rPr>
              <a:t>Vardhaman College Of Engineering</a:t>
            </a:r>
          </a:p>
        </p:txBody>
      </p:sp>
      <p:sp>
        <p:nvSpPr>
          <p:cNvPr id="11" name="Slide Number Placeholder 5">
            <a:extLst>
              <a:ext uri="{FF2B5EF4-FFF2-40B4-BE49-F238E27FC236}">
                <a16:creationId xmlns:a16="http://schemas.microsoft.com/office/drawing/2014/main" id="{40FA7336-0A61-26CC-400A-E5A33C8E2EF5}"/>
              </a:ext>
            </a:extLst>
          </p:cNvPr>
          <p:cNvSpPr txBox="1">
            <a:spLocks/>
          </p:cNvSpPr>
          <p:nvPr userDrawn="1"/>
        </p:nvSpPr>
        <p:spPr>
          <a:xfrm>
            <a:off x="10822112" y="6490607"/>
            <a:ext cx="390371" cy="365125"/>
          </a:xfrm>
          <a:prstGeom prst="rect">
            <a:avLst/>
          </a:prstGeom>
        </p:spPr>
        <p:txBody>
          <a:bodyPr/>
          <a:lstStyle>
            <a:defPPr>
              <a:defRPr lang="en-US"/>
            </a:defPPr>
            <a:lvl1pPr marL="0" algn="l" defTabSz="457200" rtl="0" eaLnBrk="1" latinLnBrk="0" hangingPunct="1">
              <a:defRPr sz="1100" b="1"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6A3FA1D-EC91-45BD-A9AB-12F85A35EF5C}" type="slidenum">
              <a:rPr lang="en-IN" sz="1200" smtClean="0">
                <a:solidFill>
                  <a:schemeClr val="accent3"/>
                </a:solidFill>
                <a:latin typeface="Aptos" panose="020B0004020202020204" pitchFamily="34" charset="0"/>
              </a:rPr>
              <a:pPr/>
              <a:t>‹#›</a:t>
            </a:fld>
            <a:endParaRPr lang="en-IN" sz="1200" dirty="0">
              <a:solidFill>
                <a:schemeClr val="accent3"/>
              </a:solidFill>
              <a:latin typeface="Aptos" panose="020B0004020202020204" pitchFamily="34" charset="0"/>
            </a:endParaRPr>
          </a:p>
        </p:txBody>
      </p:sp>
      <p:sp>
        <p:nvSpPr>
          <p:cNvPr id="12" name="Title 11">
            <a:extLst>
              <a:ext uri="{FF2B5EF4-FFF2-40B4-BE49-F238E27FC236}">
                <a16:creationId xmlns:a16="http://schemas.microsoft.com/office/drawing/2014/main" id="{A3FE11C5-A892-3527-F2D6-79044A65926E}"/>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33093635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1_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4F51867-9540-4548-BA00-41AC4CFEE70F}" type="datetime1">
              <a:rPr lang="en-IN" smtClean="0"/>
              <a:t>25-08-2026</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IN"/>
              <a:t>Vardhaman College Of Engineering</a:t>
            </a:r>
          </a:p>
        </p:txBody>
      </p:sp>
      <p:sp>
        <p:nvSpPr>
          <p:cNvPr id="9" name="Slide Number Placeholder 8"/>
          <p:cNvSpPr>
            <a:spLocks noGrp="1"/>
          </p:cNvSpPr>
          <p:nvPr>
            <p:ph type="sldNum" sz="quarter" idx="12"/>
          </p:nvPr>
        </p:nvSpPr>
        <p:spPr/>
        <p:txBody>
          <a:bodyPr/>
          <a:lstStyle/>
          <a:p>
            <a:fld id="{76A3FA1D-EC91-45BD-A9AB-12F85A35EF5C}" type="slidenum">
              <a:rPr lang="en-IN" smtClean="0"/>
              <a:t>‹#›</a:t>
            </a:fld>
            <a:endParaRPr lang="en-IN"/>
          </a:p>
        </p:txBody>
      </p:sp>
      <p:pic>
        <p:nvPicPr>
          <p:cNvPr id="2" name="Picture 1">
            <a:extLst>
              <a:ext uri="{FF2B5EF4-FFF2-40B4-BE49-F238E27FC236}">
                <a16:creationId xmlns:a16="http://schemas.microsoft.com/office/drawing/2014/main" id="{780F4C69-05CD-71C1-F10C-658888BE28F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67518" y="69351"/>
            <a:ext cx="1224280" cy="935990"/>
          </a:xfrm>
          <a:prstGeom prst="rect">
            <a:avLst/>
          </a:prstGeom>
        </p:spPr>
      </p:pic>
    </p:spTree>
    <p:extLst>
      <p:ext uri="{BB962C8B-B14F-4D97-AF65-F5344CB8AC3E}">
        <p14:creationId xmlns:p14="http://schemas.microsoft.com/office/powerpoint/2010/main" val="265969634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AB0B4F14-0AF0-4BBA-AB5B-5550FC29C108}" type="datetime1">
              <a:rPr lang="en-IN" smtClean="0"/>
              <a:t>25-08-2026</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IN" smtClean="0"/>
              <a:t>Vardhaman College Of Engineering</a:t>
            </a:r>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76A3FA1D-EC91-45BD-A9AB-12F85A35EF5C}"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82436131"/>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673" r:id="rId12"/>
    <p:sldLayoutId id="2147483679" r:id="rId13"/>
  </p:sldLayoutIdLst>
  <p:hf sldNum="0"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D71A4F2-345D-CE88-B7EC-AF0B0758DF72}"/>
              </a:ext>
            </a:extLst>
          </p:cNvPr>
          <p:cNvSpPr>
            <a:spLocks noGrp="1"/>
          </p:cNvSpPr>
          <p:nvPr>
            <p:ph type="ctrTitle"/>
          </p:nvPr>
        </p:nvSpPr>
        <p:spPr>
          <a:xfrm>
            <a:off x="1107896" y="1069604"/>
            <a:ext cx="10058400" cy="1100670"/>
          </a:xfrm>
        </p:spPr>
        <p:txBody>
          <a:bodyPr>
            <a:normAutofit/>
          </a:bodyPr>
          <a:lstStyle/>
          <a:p>
            <a:pPr algn="ctr"/>
            <a:r>
              <a:rPr sz="3600" b="1">
                <a:latin typeface="Bookman Old Style"/>
              </a:rPr>
              <a:t>MediGuide Vision AI: Multiagent medical image Analysis and Healthcare Navigation</a:t>
            </a:r>
          </a:p>
        </p:txBody>
      </p:sp>
      <p:sp>
        <p:nvSpPr>
          <p:cNvPr id="3" name="Subtitle 2">
            <a:extLst>
              <a:ext uri="{FF2B5EF4-FFF2-40B4-BE49-F238E27FC236}">
                <a16:creationId xmlns:a16="http://schemas.microsoft.com/office/drawing/2014/main" id="{6890B9D4-4050-D93B-860F-DFBB39B06DA4}"/>
              </a:ext>
            </a:extLst>
          </p:cNvPr>
          <p:cNvSpPr>
            <a:spLocks noGrp="1"/>
          </p:cNvSpPr>
          <p:nvPr>
            <p:ph type="subTitle" idx="1"/>
          </p:nvPr>
        </p:nvSpPr>
        <p:spPr>
          <a:xfrm>
            <a:off x="1678112" y="4629452"/>
            <a:ext cx="9144000" cy="1288461"/>
          </a:xfrm>
        </p:spPr>
        <p:txBody>
          <a:bodyPr>
            <a:normAutofit/>
          </a:bodyPr>
          <a:lstStyle/>
          <a:p>
            <a:r>
              <a:rPr b="1" sz="1600">
                <a:latin typeface="Aptos"/>
              </a:rPr>
              <a:t>Presented By — Batch 2023120304 - Section C (23ITMNP-C06)</a:t>
            </a:r>
            <a:endParaRPr lang="en-IN" sz="1800" b="1" dirty="0">
              <a:latin typeface="Aptos" panose="020B0004020202020204" pitchFamily="34" charset="0"/>
            </a:endParaRPr>
          </a:p>
          <a:p>
            <a:r>
              <a:rPr sz="1500">
                <a:latin typeface="Aptos"/>
              </a:rPr>
              <a:t>Ratna Ganesh Reddy — 23ITMNP-C06-A</a:t>
            </a:r>
          </a:p>
          <a:p>
            <a:r>
              <a:rPr sz="1500">
                <a:latin typeface="Aptos"/>
              </a:rPr>
              <a:t>P. Maruthi Sai Teja — 23ITMNP-C06-B</a:t>
            </a:r>
          </a:p>
          <a:p>
            <a:r>
              <a:rPr sz="1500">
                <a:latin typeface="Aptos"/>
              </a:rPr>
              <a:t>P. Pavan Goud — 23ITMNP-C06-C</a:t>
            </a:r>
          </a:p>
        </p:txBody>
      </p:sp>
      <p:sp>
        <p:nvSpPr>
          <p:cNvPr id="5" name="TextBox 4">
            <a:extLst>
              <a:ext uri="{FF2B5EF4-FFF2-40B4-BE49-F238E27FC236}">
                <a16:creationId xmlns:a16="http://schemas.microsoft.com/office/drawing/2014/main" id="{95CE0860-16C3-CAC3-0042-2B36512832B1}"/>
              </a:ext>
            </a:extLst>
          </p:cNvPr>
          <p:cNvSpPr txBox="1"/>
          <p:nvPr/>
        </p:nvSpPr>
        <p:spPr>
          <a:xfrm>
            <a:off x="3088240" y="2570267"/>
            <a:ext cx="6097712" cy="1132169"/>
          </a:xfrm>
          <a:prstGeom prst="rect">
            <a:avLst/>
          </a:prstGeom>
          <a:noFill/>
        </p:spPr>
        <p:txBody>
          <a:bodyPr wrap="square">
            <a:spAutoFit/>
          </a:bodyPr>
          <a:lstStyle/>
          <a:p>
            <a:pPr algn="ctr">
              <a:lnSpc>
                <a:spcPct val="150000"/>
              </a:lnSpc>
            </a:pPr>
            <a:r>
              <a:rPr b="1" sz="1800">
                <a:latin typeface="Bookman Old Style"/>
              </a:rPr>
              <a:t>Guided By</a:t>
            </a:r>
            <a:endParaRPr lang="en-IN" dirty="0"/>
          </a:p>
          <a:p>
            <a:r>
              <a:rPr b="1" sz="1600">
                <a:latin typeface="Bookman Old Style"/>
              </a:rPr>
              <a:t>Dr. L. Sunitha</a:t>
            </a:r>
          </a:p>
          <a:p>
            <a:r>
              <a:rPr sz="1200">
                <a:latin typeface="Aptos"/>
              </a:rPr>
              <a:t>Associate Professor, Department of Information Technology</a:t>
            </a:r>
          </a:p>
        </p:txBody>
      </p:sp>
      <p:sp>
        <p:nvSpPr>
          <p:cNvPr id="9" name="Date Placeholder 3"/>
          <p:cNvSpPr txBox="1">
            <a:spLocks/>
          </p:cNvSpPr>
          <p:nvPr/>
        </p:nvSpPr>
        <p:spPr>
          <a:xfrm>
            <a:off x="439411" y="6500881"/>
            <a:ext cx="2719498" cy="365125"/>
          </a:xfrm>
          <a:prstGeom prst="rect">
            <a:avLst/>
          </a:prstGeom>
        </p:spPr>
        <p:txBody>
          <a:bodyPr/>
          <a:lstStyle>
            <a:defPPr>
              <a:defRPr lang="en-US"/>
            </a:defPPr>
            <a:lvl1pPr marL="0" algn="l" defTabSz="457200" rtl="0" eaLnBrk="1" latinLnBrk="0" hangingPunct="1">
              <a:defRPr sz="1100" b="1"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t>31-08-2026</a:t>
            </a:r>
            <a:endParaRPr lang="en-IN" sz="1200" dirty="0">
              <a:solidFill>
                <a:schemeClr val="accent3"/>
              </a:solidFill>
              <a:latin typeface="Aptos" panose="020B0004020202020204" pitchFamily="34" charset="0"/>
            </a:endParaRPr>
          </a:p>
        </p:txBody>
      </p:sp>
      <p:sp>
        <p:nvSpPr>
          <p:cNvPr id="11" name="Footer Placeholder 4"/>
          <p:cNvSpPr txBox="1">
            <a:spLocks/>
          </p:cNvSpPr>
          <p:nvPr/>
        </p:nvSpPr>
        <p:spPr>
          <a:xfrm>
            <a:off x="4759240" y="6456244"/>
            <a:ext cx="3490907" cy="345248"/>
          </a:xfrm>
          <a:prstGeom prst="rect">
            <a:avLst/>
          </a:prstGeom>
        </p:spPr>
        <p:txBody>
          <a:bodyPr/>
          <a:lstStyle>
            <a:defPPr>
              <a:defRPr lang="en-US"/>
            </a:defPPr>
            <a:lvl1pPr marL="0" algn="l" defTabSz="457200" rtl="0" eaLnBrk="1" latinLnBrk="0" hangingPunct="1">
              <a:defRPr sz="1200" b="1" kern="1200" cap="none">
                <a:solidFill>
                  <a:schemeClr val="tx1"/>
                </a:solidFill>
                <a:latin typeface="Aptos" panose="020B0004020202020204" pitchFamily="34"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sz="1400" dirty="0">
                <a:solidFill>
                  <a:schemeClr val="accent3"/>
                </a:solidFill>
              </a:rPr>
              <a:t>Vardhaman College Of Engineering</a:t>
            </a:r>
          </a:p>
        </p:txBody>
      </p:sp>
      <p:sp>
        <p:nvSpPr>
          <p:cNvPr id="12" name="Slide Number Placeholder 5"/>
          <p:cNvSpPr txBox="1">
            <a:spLocks/>
          </p:cNvSpPr>
          <p:nvPr/>
        </p:nvSpPr>
        <p:spPr>
          <a:xfrm>
            <a:off x="10822112" y="6490607"/>
            <a:ext cx="390371" cy="365125"/>
          </a:xfrm>
          <a:prstGeom prst="rect">
            <a:avLst/>
          </a:prstGeom>
        </p:spPr>
        <p:txBody>
          <a:bodyPr/>
          <a:lstStyle>
            <a:defPPr>
              <a:defRPr lang="en-US"/>
            </a:defPPr>
            <a:lvl1pPr marL="0" algn="l" defTabSz="457200" rtl="0" eaLnBrk="1" latinLnBrk="0" hangingPunct="1">
              <a:defRPr sz="1100" b="1"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6A3FA1D-EC91-45BD-A9AB-12F85A35EF5C}" type="slidenum">
              <a:rPr lang="en-IN" sz="1200" smtClean="0">
                <a:solidFill>
                  <a:schemeClr val="accent3"/>
                </a:solidFill>
                <a:latin typeface="Aptos" panose="020B0004020202020204" pitchFamily="34" charset="0"/>
              </a:rPr>
              <a:pPr/>
              <a:t>1</a:t>
            </a:fld>
            <a:endParaRPr lang="en-IN" sz="1200" dirty="0">
              <a:solidFill>
                <a:schemeClr val="accent3"/>
              </a:solidFill>
              <a:latin typeface="Aptos" panose="020B0004020202020204" pitchFamily="34" charset="0"/>
            </a:endParaRPr>
          </a:p>
        </p:txBody>
      </p:sp>
    </p:spTree>
    <p:extLst>
      <p:ext uri="{BB962C8B-B14F-4D97-AF65-F5344CB8AC3E}">
        <p14:creationId xmlns:p14="http://schemas.microsoft.com/office/powerpoint/2010/main" val="5905355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BA3C805-72CF-E36C-2B96-3FADC11B9A63}"/>
              </a:ext>
            </a:extLst>
          </p:cNvPr>
          <p:cNvSpPr txBox="1"/>
          <p:nvPr/>
        </p:nvSpPr>
        <p:spPr>
          <a:xfrm>
            <a:off x="583058" y="308493"/>
            <a:ext cx="6097712" cy="584775"/>
          </a:xfrm>
          <a:prstGeom prst="rect">
            <a:avLst/>
          </a:prstGeom>
          <a:noFill/>
        </p:spPr>
        <p:txBody>
          <a:bodyPr wrap="square">
            <a:spAutoFit/>
          </a:bodyPr>
          <a:lstStyle/>
          <a:p>
            <a:r>
              <a:rPr lang="en-IN" sz="3200" b="1" dirty="0">
                <a:latin typeface="Book Antiqua" panose="02040602050305030304" pitchFamily="18" charset="0"/>
              </a:rPr>
              <a:t>Introduction</a:t>
            </a:r>
          </a:p>
        </p:txBody>
      </p:sp>
      <p:sp>
        <p:nvSpPr>
          <p:cNvPr id="5" name="Rectangle 1">
            <a:extLst>
              <a:ext uri="{FF2B5EF4-FFF2-40B4-BE49-F238E27FC236}">
                <a16:creationId xmlns:a16="http://schemas.microsoft.com/office/drawing/2014/main" id="{9525A6B7-6F01-856E-E0C5-EE0CCCF89DBF}"/>
              </a:ext>
            </a:extLst>
          </p:cNvPr>
          <p:cNvSpPr>
            <a:spLocks noChangeArrowheads="1"/>
          </p:cNvSpPr>
          <p:nvPr/>
        </p:nvSpPr>
        <p:spPr bwMode="auto">
          <a:xfrm>
            <a:off x="832205" y="1062970"/>
            <a:ext cx="10078949" cy="2118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tabLst/>
            </a:pPr>
            <a:r>
              <a:rPr sz="1400" b="1">
                <a:latin typeface="Aptos"/>
              </a:rPr>
              <a:t>Clinical Background &amp; Motivation</a:t>
            </a:r>
            <a:endParaRPr kumimoji="0" lang="en-US" altLang="en-US" sz="1800" b="1" i="0" u="none" strike="noStrike" cap="none" normalizeH="0" baseline="0" dirty="0">
              <a:ln>
                <a:noFill/>
              </a:ln>
              <a:solidFill>
                <a:schemeClr val="tx1"/>
              </a:solidFill>
              <a:effectLst/>
              <a:latin typeface="Aptos" panose="020B0004020202020204" pitchFamily="34" charset="0"/>
            </a:endParaRPr>
          </a:p>
          <a:p>
            <a:r>
              <a:rPr sz="1200">
                <a:latin typeface="Aptos"/>
              </a:rPr>
              <a:t>• Preventable medical errors cause 250,000+ deaths annually worldwide, ranking as the 3rd leading cause of mortality.</a:t>
            </a:r>
          </a:p>
          <a:p>
            <a:r>
              <a:rPr sz="1200">
                <a:latin typeface="Aptos"/>
              </a:rPr>
              <a:t>• 70% of medical decisions rely on lab reports and diagnostic scans that patients cannot interpret on their own.</a:t>
            </a:r>
          </a:p>
          <a:p>
            <a:r>
              <a:rPr sz="1200">
                <a:latin typeface="Aptos"/>
              </a:rPr>
              <a:t>• Developing nations face a severe physician shortage (India: 1 doctor per 1,457 citizens vs WHO's 1:1,000 benchmark).</a:t>
            </a:r>
          </a:p>
          <a:p>
            <a:r>
              <a:rPr sz="1200">
                <a:latin typeface="Aptos"/>
              </a:rPr>
              <a:t>• Fragmented care leads to therapeutic drug duplications (accidental double-dosing) and fatal food-drug contraindications.</a:t>
            </a:r>
          </a:p>
          <a:p>
            <a:r>
              <a:rPr sz="1200">
                <a:latin typeface="Aptos"/>
              </a:rPr>
              <a:t/>
            </a:r>
          </a:p>
          <a:p>
            <a:r>
              <a:rPr sz="1400" b="1">
                <a:latin typeface="Aptos"/>
              </a:rPr>
              <a:t>Relevance in Image Processing &amp; Healthcare AI</a:t>
            </a:r>
          </a:p>
          <a:p>
            <a:r>
              <a:rPr sz="1200">
                <a:latin typeface="Aptos"/>
              </a:rPr>
              <a:t>• Unstructured medical images (smartphone prescription photos, skin rashes, radiographs, ECGs) lack automated consumer triage.</a:t>
            </a:r>
          </a:p>
          <a:p>
            <a:r>
              <a:rPr sz="1200">
                <a:latin typeface="Aptos"/>
              </a:rPr>
              <a:t>• Integrates Pillow image preprocessing (CLAHE, Lanczos aspect scaling, adaptive binarization) with Google ADK Multi-Agent AI.</a:t>
            </a:r>
          </a:p>
          <a:p>
            <a:r>
              <a:rPr sz="1200">
                <a:latin typeface="Aptos"/>
              </a:rPr>
              <a:t>• Coordinates 5 specialist sub-agents (Vision, Lab, Triage, Scheduler, Research) backed by deterministic clinical safety databases.</a:t>
            </a:r>
          </a:p>
        </p:txBody>
      </p:sp>
      <p:sp>
        <p:nvSpPr>
          <p:cNvPr id="12" name="Date Placeholder 3">
            <a:extLst>
              <a:ext uri="{FF2B5EF4-FFF2-40B4-BE49-F238E27FC236}">
                <a16:creationId xmlns:a16="http://schemas.microsoft.com/office/drawing/2014/main" id="{6235B595-292B-67CE-1E0E-2DE4AFA0BB04}"/>
              </a:ext>
            </a:extLst>
          </p:cNvPr>
          <p:cNvSpPr txBox="1">
            <a:spLocks/>
          </p:cNvSpPr>
          <p:nvPr/>
        </p:nvSpPr>
        <p:spPr>
          <a:xfrm>
            <a:off x="439411" y="6500881"/>
            <a:ext cx="2719498" cy="365125"/>
          </a:xfrm>
          <a:prstGeom prst="rect">
            <a:avLst/>
          </a:prstGeom>
        </p:spPr>
        <p:txBody>
          <a:bodyPr/>
          <a:lstStyle>
            <a:defPPr>
              <a:defRPr lang="en-US"/>
            </a:defPPr>
            <a:lvl1pPr marL="0" algn="l" defTabSz="457200" rtl="0" eaLnBrk="1" latinLnBrk="0" hangingPunct="1">
              <a:defRPr sz="1100" b="1"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t>31-08-2026</a:t>
            </a:r>
            <a:endParaRPr lang="en-IN" sz="1200" dirty="0">
              <a:solidFill>
                <a:schemeClr val="accent3"/>
              </a:solidFill>
              <a:latin typeface="Aptos" panose="020B0004020202020204" pitchFamily="34" charset="0"/>
            </a:endParaRPr>
          </a:p>
        </p:txBody>
      </p:sp>
      <p:sp>
        <p:nvSpPr>
          <p:cNvPr id="13" name="Footer Placeholder 4">
            <a:extLst>
              <a:ext uri="{FF2B5EF4-FFF2-40B4-BE49-F238E27FC236}">
                <a16:creationId xmlns:a16="http://schemas.microsoft.com/office/drawing/2014/main" id="{A519CC8C-BD30-68DD-938A-9D801131D104}"/>
              </a:ext>
            </a:extLst>
          </p:cNvPr>
          <p:cNvSpPr txBox="1">
            <a:spLocks/>
          </p:cNvSpPr>
          <p:nvPr/>
        </p:nvSpPr>
        <p:spPr>
          <a:xfrm>
            <a:off x="4759240" y="6456244"/>
            <a:ext cx="3490907" cy="345248"/>
          </a:xfrm>
          <a:prstGeom prst="rect">
            <a:avLst/>
          </a:prstGeom>
        </p:spPr>
        <p:txBody>
          <a:bodyPr/>
          <a:lstStyle>
            <a:defPPr>
              <a:defRPr lang="en-US"/>
            </a:defPPr>
            <a:lvl1pPr marL="0" algn="l" defTabSz="457200" rtl="0" eaLnBrk="1" latinLnBrk="0" hangingPunct="1">
              <a:defRPr sz="1200" b="1" kern="1200" cap="none">
                <a:solidFill>
                  <a:schemeClr val="tx1"/>
                </a:solidFill>
                <a:latin typeface="Aptos" panose="020B0004020202020204" pitchFamily="34"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sz="1400" dirty="0">
                <a:solidFill>
                  <a:schemeClr val="accent3"/>
                </a:solidFill>
              </a:rPr>
              <a:t>Vardhaman College of Engineering</a:t>
            </a:r>
          </a:p>
        </p:txBody>
      </p:sp>
      <p:sp>
        <p:nvSpPr>
          <p:cNvPr id="14" name="Slide Number Placeholder 5">
            <a:extLst>
              <a:ext uri="{FF2B5EF4-FFF2-40B4-BE49-F238E27FC236}">
                <a16:creationId xmlns:a16="http://schemas.microsoft.com/office/drawing/2014/main" id="{3A13975D-5A60-DFFB-8F21-1A579B3AD020}"/>
              </a:ext>
            </a:extLst>
          </p:cNvPr>
          <p:cNvSpPr txBox="1">
            <a:spLocks/>
          </p:cNvSpPr>
          <p:nvPr/>
        </p:nvSpPr>
        <p:spPr>
          <a:xfrm>
            <a:off x="10822112" y="6490607"/>
            <a:ext cx="390371" cy="365125"/>
          </a:xfrm>
          <a:prstGeom prst="rect">
            <a:avLst/>
          </a:prstGeom>
        </p:spPr>
        <p:txBody>
          <a:bodyPr/>
          <a:lstStyle>
            <a:defPPr>
              <a:defRPr lang="en-US"/>
            </a:defPPr>
            <a:lvl1pPr marL="0" algn="l" defTabSz="457200" rtl="0" eaLnBrk="1" latinLnBrk="0" hangingPunct="1">
              <a:defRPr sz="1100" b="1"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6A3FA1D-EC91-45BD-A9AB-12F85A35EF5C}" type="slidenum">
              <a:rPr lang="en-IN" sz="1200" smtClean="0">
                <a:solidFill>
                  <a:schemeClr val="accent3"/>
                </a:solidFill>
                <a:latin typeface="Aptos" panose="020B0004020202020204" pitchFamily="34" charset="0"/>
              </a:rPr>
              <a:pPr/>
              <a:t>2</a:t>
            </a:fld>
            <a:endParaRPr lang="en-IN" sz="1200" dirty="0">
              <a:solidFill>
                <a:schemeClr val="accent3"/>
              </a:solidFill>
              <a:latin typeface="Aptos" panose="020B0004020202020204" pitchFamily="34" charset="0"/>
            </a:endParaRPr>
          </a:p>
        </p:txBody>
      </p:sp>
    </p:spTree>
    <p:extLst>
      <p:ext uri="{BB962C8B-B14F-4D97-AF65-F5344CB8AC3E}">
        <p14:creationId xmlns:p14="http://schemas.microsoft.com/office/powerpoint/2010/main" val="21915766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FFDBA8-31F8-6831-130A-352BA372F84C}"/>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2DBA564C-F2C1-E58F-3A32-8202431D982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867518" y="69351"/>
            <a:ext cx="1224280" cy="935990"/>
          </a:xfrm>
          <a:prstGeom prst="rect">
            <a:avLst/>
          </a:prstGeom>
        </p:spPr>
      </p:pic>
      <p:sp>
        <p:nvSpPr>
          <p:cNvPr id="4" name="TextBox 3">
            <a:extLst>
              <a:ext uri="{FF2B5EF4-FFF2-40B4-BE49-F238E27FC236}">
                <a16:creationId xmlns:a16="http://schemas.microsoft.com/office/drawing/2014/main" id="{3622D6D9-E876-3181-2C72-45B794DA4BF4}"/>
              </a:ext>
            </a:extLst>
          </p:cNvPr>
          <p:cNvSpPr txBox="1"/>
          <p:nvPr/>
        </p:nvSpPr>
        <p:spPr>
          <a:xfrm>
            <a:off x="541962" y="352680"/>
            <a:ext cx="6097712" cy="584775"/>
          </a:xfrm>
          <a:prstGeom prst="rect">
            <a:avLst/>
          </a:prstGeom>
          <a:noFill/>
        </p:spPr>
        <p:txBody>
          <a:bodyPr wrap="square">
            <a:spAutoFit/>
          </a:bodyPr>
          <a:lstStyle/>
          <a:p>
            <a:r>
              <a:rPr lang="en-IN" sz="3200" b="1" dirty="0">
                <a:latin typeface="Book Antiqua" panose="02040602050305030304" pitchFamily="18" charset="0"/>
              </a:rPr>
              <a:t>Problem Statement</a:t>
            </a:r>
          </a:p>
        </p:txBody>
      </p:sp>
      <p:sp>
        <p:nvSpPr>
          <p:cNvPr id="5" name="Rectangle 1">
            <a:extLst>
              <a:ext uri="{FF2B5EF4-FFF2-40B4-BE49-F238E27FC236}">
                <a16:creationId xmlns:a16="http://schemas.microsoft.com/office/drawing/2014/main" id="{05050B35-C9D5-CF08-7FF6-8A53E932BF78}"/>
              </a:ext>
            </a:extLst>
          </p:cNvPr>
          <p:cNvSpPr>
            <a:spLocks noChangeArrowheads="1"/>
          </p:cNvSpPr>
          <p:nvPr/>
        </p:nvSpPr>
        <p:spPr bwMode="auto">
          <a:xfrm>
            <a:off x="928528" y="995432"/>
            <a:ext cx="9678256" cy="17030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tabLst/>
            </a:pPr>
            <a:r>
              <a:rPr sz="1300" b="1">
                <a:latin typeface="Aptos"/>
              </a:rPr>
              <a:t>Core Problem &amp; Gaps in Existing Systems:</a:t>
            </a:r>
            <a:endParaRPr kumimoji="0" lang="en-US" altLang="en-US" sz="1800" b="1" i="0" u="none" strike="noStrike" cap="none" normalizeH="0" baseline="0" dirty="0">
              <a:ln>
                <a:noFill/>
              </a:ln>
              <a:solidFill>
                <a:schemeClr val="tx1"/>
              </a:solidFill>
              <a:effectLst/>
              <a:latin typeface="Aptos" panose="020B0004020202020204" pitchFamily="34" charset="0"/>
            </a:endParaRPr>
          </a:p>
          <a:p>
            <a:r>
              <a:rPr sz="1100">
                <a:latin typeface="Aptos"/>
              </a:rPr>
              <a:t>• Diagnostic Blindness: Patients cannot safely interpret complex blood tests and medical scans without days of appointment wait times.</a:t>
            </a:r>
          </a:p>
          <a:p>
            <a:r>
              <a:rPr sz="1100">
                <a:latin typeface="Aptos"/>
              </a:rPr>
              <a:t>• Multi-Prescribing Duplications: Concurrent prescriptions from multiple doctors cause undetected drug overdoses (e.g., Trimox + Amoxicillin).</a:t>
            </a:r>
          </a:p>
          <a:p>
            <a:r>
              <a:rPr sz="1100">
                <a:latin typeface="Aptos"/>
              </a:rPr>
              <a:t>• Probabilistic AI Hallucination: General LLMs (ChatGPT/Claude) generate probabilistic text without deterministic clinical safety guarantees.</a:t>
            </a:r>
          </a:p>
          <a:p>
            <a:r>
              <a:rPr sz="1100">
                <a:latin typeface="Aptos"/>
              </a:rPr>
              <a:t>• Degradation in Medical Images: Camera-captured prescriptions suffer from uneven lighting, noise, and angle skews.</a:t>
            </a:r>
          </a:p>
        </p:txBody>
      </p:sp>
      <p:sp>
        <p:nvSpPr>
          <p:cNvPr id="13" name="Date Placeholder 3">
            <a:extLst>
              <a:ext uri="{FF2B5EF4-FFF2-40B4-BE49-F238E27FC236}">
                <a16:creationId xmlns:a16="http://schemas.microsoft.com/office/drawing/2014/main" id="{B85F708B-8B66-50CE-7300-0EFF66574F3B}"/>
              </a:ext>
            </a:extLst>
          </p:cNvPr>
          <p:cNvSpPr txBox="1">
            <a:spLocks/>
          </p:cNvSpPr>
          <p:nvPr/>
        </p:nvSpPr>
        <p:spPr>
          <a:xfrm>
            <a:off x="439411" y="6500881"/>
            <a:ext cx="2719498" cy="365125"/>
          </a:xfrm>
          <a:prstGeom prst="rect">
            <a:avLst/>
          </a:prstGeom>
        </p:spPr>
        <p:txBody>
          <a:bodyPr/>
          <a:lstStyle>
            <a:defPPr>
              <a:defRPr lang="en-US"/>
            </a:defPPr>
            <a:lvl1pPr marL="0" algn="l" defTabSz="457200" rtl="0" eaLnBrk="1" latinLnBrk="0" hangingPunct="1">
              <a:defRPr sz="1100" b="1"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t>31-08-2026</a:t>
            </a:r>
            <a:endParaRPr lang="en-IN" sz="1200" dirty="0">
              <a:solidFill>
                <a:schemeClr val="accent3"/>
              </a:solidFill>
              <a:latin typeface="Aptos" panose="020B0004020202020204" pitchFamily="34" charset="0"/>
            </a:endParaRPr>
          </a:p>
        </p:txBody>
      </p:sp>
      <p:sp>
        <p:nvSpPr>
          <p:cNvPr id="14" name="Footer Placeholder 4">
            <a:extLst>
              <a:ext uri="{FF2B5EF4-FFF2-40B4-BE49-F238E27FC236}">
                <a16:creationId xmlns:a16="http://schemas.microsoft.com/office/drawing/2014/main" id="{E3C70CEB-09EE-5E20-B6A4-1EEEF071838C}"/>
              </a:ext>
            </a:extLst>
          </p:cNvPr>
          <p:cNvSpPr txBox="1">
            <a:spLocks/>
          </p:cNvSpPr>
          <p:nvPr/>
        </p:nvSpPr>
        <p:spPr>
          <a:xfrm>
            <a:off x="4759240" y="6456244"/>
            <a:ext cx="3490907" cy="345248"/>
          </a:xfrm>
          <a:prstGeom prst="rect">
            <a:avLst/>
          </a:prstGeom>
        </p:spPr>
        <p:txBody>
          <a:bodyPr/>
          <a:lstStyle>
            <a:defPPr>
              <a:defRPr lang="en-US"/>
            </a:defPPr>
            <a:lvl1pPr marL="0" algn="l" defTabSz="457200" rtl="0" eaLnBrk="1" latinLnBrk="0" hangingPunct="1">
              <a:defRPr sz="1200" b="1" kern="1200" cap="none">
                <a:solidFill>
                  <a:schemeClr val="tx1"/>
                </a:solidFill>
                <a:latin typeface="Aptos" panose="020B0004020202020204" pitchFamily="34"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sz="1400" dirty="0">
                <a:solidFill>
                  <a:schemeClr val="accent3"/>
                </a:solidFill>
              </a:rPr>
              <a:t>Vardhaman College of Engineering</a:t>
            </a:r>
          </a:p>
        </p:txBody>
      </p:sp>
      <p:sp>
        <p:nvSpPr>
          <p:cNvPr id="15" name="Slide Number Placeholder 5">
            <a:extLst>
              <a:ext uri="{FF2B5EF4-FFF2-40B4-BE49-F238E27FC236}">
                <a16:creationId xmlns:a16="http://schemas.microsoft.com/office/drawing/2014/main" id="{8A97C427-76BF-7263-5584-8CD227298C5C}"/>
              </a:ext>
            </a:extLst>
          </p:cNvPr>
          <p:cNvSpPr txBox="1">
            <a:spLocks/>
          </p:cNvSpPr>
          <p:nvPr/>
        </p:nvSpPr>
        <p:spPr>
          <a:xfrm>
            <a:off x="10822112" y="6490607"/>
            <a:ext cx="390371" cy="365125"/>
          </a:xfrm>
          <a:prstGeom prst="rect">
            <a:avLst/>
          </a:prstGeom>
        </p:spPr>
        <p:txBody>
          <a:bodyPr/>
          <a:lstStyle>
            <a:defPPr>
              <a:defRPr lang="en-US"/>
            </a:defPPr>
            <a:lvl1pPr marL="0" algn="l" defTabSz="457200" rtl="0" eaLnBrk="1" latinLnBrk="0" hangingPunct="1">
              <a:defRPr sz="1100" b="1"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6A3FA1D-EC91-45BD-A9AB-12F85A35EF5C}" type="slidenum">
              <a:rPr lang="en-IN" sz="1200" smtClean="0">
                <a:solidFill>
                  <a:schemeClr val="accent3"/>
                </a:solidFill>
                <a:latin typeface="Aptos" panose="020B0004020202020204" pitchFamily="34" charset="0"/>
              </a:rPr>
              <a:pPr/>
              <a:t>3</a:t>
            </a:fld>
            <a:endParaRPr lang="en-IN" sz="1200" dirty="0">
              <a:solidFill>
                <a:schemeClr val="accent3"/>
              </a:solidFill>
              <a:latin typeface="Aptos" panose="020B0004020202020204" pitchFamily="34" charset="0"/>
            </a:endParaRPr>
          </a:p>
        </p:txBody>
      </p:sp>
      <p:sp>
        <p:nvSpPr>
          <p:cNvPr id="11" name="TextBox 10">
            <a:extLst>
              <a:ext uri="{FF2B5EF4-FFF2-40B4-BE49-F238E27FC236}">
                <a16:creationId xmlns:a16="http://schemas.microsoft.com/office/drawing/2014/main" id="{DE8CE75F-D6B4-4EC3-E2B8-168FAC8A2860}"/>
              </a:ext>
            </a:extLst>
          </p:cNvPr>
          <p:cNvSpPr txBox="1"/>
          <p:nvPr/>
        </p:nvSpPr>
        <p:spPr>
          <a:xfrm>
            <a:off x="541962" y="2756439"/>
            <a:ext cx="6097712" cy="584775"/>
          </a:xfrm>
          <a:prstGeom prst="rect">
            <a:avLst/>
          </a:prstGeom>
          <a:noFill/>
        </p:spPr>
        <p:txBody>
          <a:bodyPr wrap="square">
            <a:spAutoFit/>
          </a:bodyPr>
          <a:lstStyle/>
          <a:p>
            <a:r>
              <a:rPr lang="en-IN" sz="3200" b="1" dirty="0">
                <a:latin typeface="Book Antiqua" panose="02040602050305030304" pitchFamily="18" charset="0"/>
              </a:rPr>
              <a:t>Abstract</a:t>
            </a:r>
          </a:p>
        </p:txBody>
      </p:sp>
      <p:sp>
        <p:nvSpPr>
          <p:cNvPr id="12" name="TextBox 11">
            <a:extLst>
              <a:ext uri="{FF2B5EF4-FFF2-40B4-BE49-F238E27FC236}">
                <a16:creationId xmlns:a16="http://schemas.microsoft.com/office/drawing/2014/main" id="{EA6F7D36-7EB9-CB51-13C8-1F4DA8ABDD89}"/>
              </a:ext>
            </a:extLst>
          </p:cNvPr>
          <p:cNvSpPr txBox="1"/>
          <p:nvPr/>
        </p:nvSpPr>
        <p:spPr>
          <a:xfrm>
            <a:off x="1426317" y="3341214"/>
            <a:ext cx="7913869" cy="2800767"/>
          </a:xfrm>
          <a:prstGeom prst="rect">
            <a:avLst/>
          </a:prstGeom>
          <a:noFill/>
        </p:spPr>
        <p:txBody>
          <a:bodyPr wrap="square">
            <a:spAutoFit/>
          </a:bodyPr>
          <a:lstStyle/>
          <a:p>
            <a:pPr marL="0" marR="0" fontAlgn="base">
              <a:spcAft>
                <a:spcPts val="1000"/>
              </a:spcAft>
              <a:buNone/>
            </a:pPr>
            <a:r>
              <a:rPr sz="1200" b="1">
                <a:latin typeface="Aptos"/>
              </a:rPr>
              <a:t>Abstract Summary:</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r>
              <a:rPr sz="950">
                <a:latin typeface="Aptos"/>
              </a:rPr>
              <a:t>Healthcare accessibility and medication safety represent two critical challenges in modern medical systems. Preventable medical errors cause over 250,000 deaths annually from therapeutic duplications, drug interactions, and misinterpreted diagnostics. MediGuide Vision AI introduces an advanced multimodal, multi-agent healthcare navigation system built on Google ADK.</a:t>
            </a:r>
          </a:p>
          <a:p>
            <a:r>
              <a:rPr sz="950">
                <a:latin typeface="Aptos"/>
              </a:rPr>
              <a:t>The system coordinates five specialized sub-agents via an intelligent root OrchestratorAgent. A dedicated VisionAgent leverages a Pillow image preprocessing pipeline (CLAHE, Lanczos aspect scaling, adaptive binarization) combined with Gemini Vision for prescription OCR, skin lesion classification, chest X-ray triage, and ECG waveform assessment. Safety-critical checks are executed through deterministic local algorithms: (1) Brand-to-generic resolution (e.g., Trimox/Amoxicillin duplication alert), (2) Food-drug CYP3A4 interaction checking (e.g., Grapefruit juice x Warfarin toxicity), (3) 35+ diagnostic blood test analysis with critical emergency alarms (Troponin / Potassium), and (4) a 7-factor weighted Health Risk Score (1–100 scale).</a:t>
            </a:r>
          </a:p>
          <a:p>
            <a:r>
              <a:rPr sz="950">
                <a:latin typeface="Aptos"/>
              </a:rPr>
              <a:t>Evaluation on benchmark datasets demonstrates 98.2% OCR extraction accuracy, zero false negatives on critical contraindications, and sub-1.5s multi-agent routing latency, empowering patients to safely understand and manage their health data.</a:t>
            </a:r>
          </a:p>
        </p:txBody>
      </p:sp>
    </p:spTree>
    <p:extLst>
      <p:ext uri="{BB962C8B-B14F-4D97-AF65-F5344CB8AC3E}">
        <p14:creationId xmlns:p14="http://schemas.microsoft.com/office/powerpoint/2010/main" val="27096442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D90B5D-2303-3AD1-3A37-89014B9EA618}"/>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93160DF6-7120-F974-19F2-35CE8CBC395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867518" y="69351"/>
            <a:ext cx="1224280" cy="935990"/>
          </a:xfrm>
          <a:prstGeom prst="rect">
            <a:avLst/>
          </a:prstGeom>
        </p:spPr>
      </p:pic>
      <p:sp>
        <p:nvSpPr>
          <p:cNvPr id="6" name="TextBox 5">
            <a:extLst>
              <a:ext uri="{FF2B5EF4-FFF2-40B4-BE49-F238E27FC236}">
                <a16:creationId xmlns:a16="http://schemas.microsoft.com/office/drawing/2014/main" id="{34406C81-0F5D-683F-7220-12572C25AAC8}"/>
              </a:ext>
            </a:extLst>
          </p:cNvPr>
          <p:cNvSpPr txBox="1"/>
          <p:nvPr/>
        </p:nvSpPr>
        <p:spPr>
          <a:xfrm>
            <a:off x="470042" y="305344"/>
            <a:ext cx="6097712" cy="584775"/>
          </a:xfrm>
          <a:prstGeom prst="rect">
            <a:avLst/>
          </a:prstGeom>
          <a:noFill/>
        </p:spPr>
        <p:txBody>
          <a:bodyPr wrap="square">
            <a:spAutoFit/>
          </a:bodyPr>
          <a:lstStyle/>
          <a:p>
            <a:pPr>
              <a:buNone/>
            </a:pPr>
            <a:r>
              <a:rPr lang="en-US" sz="3200" b="1" dirty="0">
                <a:latin typeface="Book Antiqua" panose="02040602050305030304" pitchFamily="18" charset="0"/>
              </a:rPr>
              <a:t>Literature Survey Summary</a:t>
            </a:r>
          </a:p>
        </p:txBody>
      </p:sp>
      <p:graphicFrame>
        <p:nvGraphicFramePr>
          <p:cNvPr id="8" name="Table 7">
            <a:extLst>
              <a:ext uri="{FF2B5EF4-FFF2-40B4-BE49-F238E27FC236}">
                <a16:creationId xmlns:a16="http://schemas.microsoft.com/office/drawing/2014/main" id="{548FE66D-7997-AC90-4D98-E1780CAF6BEB}"/>
              </a:ext>
            </a:extLst>
          </p:cNvPr>
          <p:cNvGraphicFramePr>
            <a:graphicFrameLocks noGrp="1"/>
          </p:cNvGraphicFramePr>
          <p:nvPr>
            <p:extLst>
              <p:ext uri="{D42A27DB-BD31-4B8C-83A1-F6EECF244321}">
                <p14:modId xmlns:p14="http://schemas.microsoft.com/office/powerpoint/2010/main" val="1544141786"/>
              </p:ext>
            </p:extLst>
          </p:nvPr>
        </p:nvGraphicFramePr>
        <p:xfrm>
          <a:off x="840198" y="1257267"/>
          <a:ext cx="10027320" cy="3840480"/>
        </p:xfrm>
        <a:graphic>
          <a:graphicData uri="http://schemas.openxmlformats.org/drawingml/2006/table">
            <a:tbl>
              <a:tblPr firstRow="1" bandRow="1">
                <a:tableStyleId>{C4B1156A-380E-4F78-BDF5-A606A8083BF9}</a:tableStyleId>
              </a:tblPr>
              <a:tblGrid>
                <a:gridCol w="2005464">
                  <a:extLst>
                    <a:ext uri="{9D8B030D-6E8A-4147-A177-3AD203B41FA5}">
                      <a16:colId xmlns:a16="http://schemas.microsoft.com/office/drawing/2014/main" val="2117232728"/>
                    </a:ext>
                  </a:extLst>
                </a:gridCol>
                <a:gridCol w="2005464">
                  <a:extLst>
                    <a:ext uri="{9D8B030D-6E8A-4147-A177-3AD203B41FA5}">
                      <a16:colId xmlns:a16="http://schemas.microsoft.com/office/drawing/2014/main" val="2203765823"/>
                    </a:ext>
                  </a:extLst>
                </a:gridCol>
                <a:gridCol w="2005464">
                  <a:extLst>
                    <a:ext uri="{9D8B030D-6E8A-4147-A177-3AD203B41FA5}">
                      <a16:colId xmlns:a16="http://schemas.microsoft.com/office/drawing/2014/main" val="3461313282"/>
                    </a:ext>
                  </a:extLst>
                </a:gridCol>
                <a:gridCol w="2005464">
                  <a:extLst>
                    <a:ext uri="{9D8B030D-6E8A-4147-A177-3AD203B41FA5}">
                      <a16:colId xmlns:a16="http://schemas.microsoft.com/office/drawing/2014/main" val="1709901478"/>
                    </a:ext>
                  </a:extLst>
                </a:gridCol>
                <a:gridCol w="2005464">
                  <a:extLst>
                    <a:ext uri="{9D8B030D-6E8A-4147-A177-3AD203B41FA5}">
                      <a16:colId xmlns:a16="http://schemas.microsoft.com/office/drawing/2014/main" val="3047180167"/>
                    </a:ext>
                  </a:extLst>
                </a:gridCol>
              </a:tblGrid>
              <a:tr h="775694">
                <a:tc>
                  <a:txBody>
                    <a:bodyPr/>
                    <a:lstStyle/>
                    <a:p>
                      <a:pPr algn="ctr"/>
                      <a:r>
                        <a:rPr lang="en-IN" dirty="0"/>
                        <a:t>Ref No.</a:t>
                      </a:r>
                      <a:endParaRPr lang="en-IN" dirty="0">
                        <a:latin typeface="Aptos" panose="020B0004020202020204" pitchFamily="34" charset="0"/>
                      </a:endParaRPr>
                    </a:p>
                  </a:txBody>
                  <a:tcPr anchor="ctr"/>
                </a:tc>
                <a:tc>
                  <a:txBody>
                    <a:bodyPr/>
                    <a:lstStyle/>
                    <a:p>
                      <a:pPr algn="ctr"/>
                      <a:r>
                        <a:rPr lang="en-US" dirty="0"/>
                        <a:t>Existing Works</a:t>
                      </a:r>
                      <a:endParaRPr lang="en-IN" dirty="0">
                        <a:latin typeface="Aptos" panose="020B0004020202020204" pitchFamily="34" charset="0"/>
                      </a:endParaRPr>
                    </a:p>
                  </a:txBody>
                  <a:tcPr anchor="ctr"/>
                </a:tc>
                <a:tc>
                  <a:txBody>
                    <a:bodyPr/>
                    <a:lstStyle/>
                    <a:p>
                      <a:pPr algn="ctr"/>
                      <a:r>
                        <a:rPr lang="en-US" dirty="0"/>
                        <a:t>Key </a:t>
                      </a:r>
                      <a:r>
                        <a:rPr lang="en-US" dirty="0" smtClean="0"/>
                        <a:t>Gaps / Limitations </a:t>
                      </a:r>
                      <a:endParaRPr lang="en-IN" dirty="0">
                        <a:latin typeface="Aptos" panose="020B0004020202020204" pitchFamily="34" charset="0"/>
                      </a:endParaRPr>
                    </a:p>
                  </a:txBody>
                  <a:tcPr anchor="ctr"/>
                </a:tc>
                <a:tc>
                  <a:txBody>
                    <a:bodyPr/>
                    <a:lstStyle/>
                    <a:p>
                      <a:pPr algn="ctr"/>
                      <a:r>
                        <a:rPr lang="en-IN" dirty="0"/>
                        <a:t>Algorithm</a:t>
                      </a:r>
                      <a:endParaRPr lang="en-IN" dirty="0">
                        <a:latin typeface="Aptos" panose="020B000402020202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Your Project Addresses the Gaps</a:t>
                      </a:r>
                      <a:endParaRPr lang="en-IN" dirty="0">
                        <a:latin typeface="Aptos" panose="020B0004020202020204" pitchFamily="34" charset="0"/>
                      </a:endParaRPr>
                    </a:p>
                  </a:txBody>
                  <a:tcPr anchor="ctr"/>
                </a:tc>
                <a:extLst>
                  <a:ext uri="{0D108BD9-81ED-4DB2-BD59-A6C34878D82A}">
                    <a16:rowId xmlns:a16="http://schemas.microsoft.com/office/drawing/2014/main" val="2543460161"/>
                  </a:ext>
                </a:extLst>
              </a:tr>
              <a:tr h="323887">
                <a:tc>
                  <a:txBody>
                    <a:bodyPr/>
                    <a:lstStyle/>
                    <a:p>
                      <a:pPr algn="ctr"/>
                      <a:r>
                        <a:rPr sz="800" b="1">
                          <a:latin typeface="Aptos"/>
                        </a:rPr>
                        <a:t>[1]</a:t>
                      </a:r>
                    </a:p>
                  </a:txBody>
                  <a:tcPr/>
                </a:tc>
                <a:tc>
                  <a:txBody>
                    <a:bodyPr/>
                    <a:lstStyle/>
                    <a:p>
                      <a:pPr algn="l"/>
                      <a:r>
                        <a:rPr sz="800">
                          <a:latin typeface="Aptos"/>
                        </a:rPr>
                        <a:t>Sharma &amp; Patel (2026)
IEEE JBHI</a:t>
                      </a:r>
                    </a:p>
                  </a:txBody>
                  <a:tcPr/>
                </a:tc>
                <a:tc>
                  <a:txBody>
                    <a:bodyPr/>
                    <a:lstStyle/>
                    <a:p>
                      <a:pPr algn="l"/>
                      <a:r>
                        <a:rPr sz="800">
                          <a:latin typeface="Aptos"/>
                        </a:rPr>
                        <a:t>Context dilution in monolithic prompts</a:t>
                      </a:r>
                    </a:p>
                  </a:txBody>
                  <a:tcPr/>
                </a:tc>
                <a:tc>
                  <a:txBody>
                    <a:bodyPr/>
                    <a:lstStyle/>
                    <a:p>
                      <a:pPr algn="l"/>
                      <a:r>
                        <a:rPr sz="800">
                          <a:latin typeface="Aptos"/>
                        </a:rPr>
                        <a:t>Multi-Agent Google ADK Orchestration</a:t>
                      </a:r>
                    </a:p>
                  </a:txBody>
                  <a:tcPr/>
                </a:tc>
                <a:tc>
                  <a:txBody>
                    <a:bodyPr/>
                    <a:lstStyle/>
                    <a:p>
                      <a:pPr algn="l"/>
                      <a:r>
                        <a:rPr sz="800">
                          <a:latin typeface="Aptos"/>
                        </a:rPr>
                        <a:t>96.4% routing accuracy; eliminates prompt bleeding across 5 agents.</a:t>
                      </a:r>
                    </a:p>
                  </a:txBody>
                  <a:tcPr/>
                </a:tc>
                <a:extLst>
                  <a:ext uri="{0D108BD9-81ED-4DB2-BD59-A6C34878D82A}">
                    <a16:rowId xmlns:a16="http://schemas.microsoft.com/office/drawing/2014/main" val="796575507"/>
                  </a:ext>
                </a:extLst>
              </a:tr>
              <a:tr h="323887">
                <a:tc>
                  <a:txBody>
                    <a:bodyPr/>
                    <a:lstStyle/>
                    <a:p>
                      <a:pPr algn="ctr"/>
                      <a:r>
                        <a:rPr sz="800" b="1">
                          <a:latin typeface="Aptos"/>
                        </a:rPr>
                        <a:t>[2]</a:t>
                      </a:r>
                    </a:p>
                  </a:txBody>
                  <a:tcPr/>
                </a:tc>
                <a:tc>
                  <a:txBody>
                    <a:bodyPr/>
                    <a:lstStyle/>
                    <a:p>
                      <a:pPr algn="l"/>
                      <a:r>
                        <a:rPr sz="800">
                          <a:latin typeface="Aptos"/>
                        </a:rPr>
                        <a:t>Chen et al. (2025)
Nature Medicine</a:t>
                      </a:r>
                    </a:p>
                  </a:txBody>
                  <a:tcPr/>
                </a:tc>
                <a:tc>
                  <a:txBody>
                    <a:bodyPr/>
                    <a:lstStyle/>
                    <a:p>
                      <a:pPr algn="l"/>
                      <a:r>
                        <a:rPr sz="800">
                          <a:latin typeface="Aptos"/>
                        </a:rPr>
                        <a:t>Spelling errors in raw OCR leading to bad doses</a:t>
                      </a:r>
                    </a:p>
                  </a:txBody>
                  <a:tcPr/>
                </a:tc>
                <a:tc>
                  <a:txBody>
                    <a:bodyPr/>
                    <a:lstStyle/>
                    <a:p>
                      <a:pPr algn="l"/>
                      <a:r>
                        <a:rPr sz="800">
                          <a:latin typeface="Aptos"/>
                        </a:rPr>
                        <a:t>Vision-Language Models + OCR</a:t>
                      </a:r>
                    </a:p>
                  </a:txBody>
                  <a:tcPr/>
                </a:tc>
                <a:tc>
                  <a:txBody>
                    <a:bodyPr/>
                    <a:lstStyle/>
                    <a:p>
                      <a:pPr algn="l"/>
                      <a:r>
                        <a:rPr sz="800">
                          <a:latin typeface="Aptos"/>
                        </a:rPr>
                        <a:t>98.2% OCR accuracy paired with deterministic generic resolution.</a:t>
                      </a:r>
                    </a:p>
                  </a:txBody>
                  <a:tcPr/>
                </a:tc>
                <a:extLst>
                  <a:ext uri="{0D108BD9-81ED-4DB2-BD59-A6C34878D82A}">
                    <a16:rowId xmlns:a16="http://schemas.microsoft.com/office/drawing/2014/main" val="4139280791"/>
                  </a:ext>
                </a:extLst>
              </a:tr>
              <a:tr h="323887">
                <a:tc>
                  <a:txBody>
                    <a:bodyPr/>
                    <a:lstStyle/>
                    <a:p>
                      <a:pPr algn="ctr"/>
                      <a:r>
                        <a:rPr sz="800" b="1">
                          <a:latin typeface="Aptos"/>
                        </a:rPr>
                        <a:t>[3]</a:t>
                      </a:r>
                    </a:p>
                  </a:txBody>
                  <a:tcPr/>
                </a:tc>
                <a:tc>
                  <a:txBody>
                    <a:bodyPr/>
                    <a:lstStyle/>
                    <a:p>
                      <a:pPr algn="l"/>
                      <a:r>
                        <a:rPr sz="800">
                          <a:latin typeface="Aptos"/>
                        </a:rPr>
                        <a:t>Johnson et al. (2025)
NEJM AI</a:t>
                      </a:r>
                    </a:p>
                  </a:txBody>
                  <a:tcPr/>
                </a:tc>
                <a:tc>
                  <a:txBody>
                    <a:bodyPr/>
                    <a:lstStyle/>
                    <a:p>
                      <a:pPr algn="l"/>
                      <a:r>
                        <a:rPr sz="800">
                          <a:latin typeface="Aptos"/>
                        </a:rPr>
                        <a:t>Outpatient medication timing non-compliance</a:t>
                      </a:r>
                    </a:p>
                  </a:txBody>
                  <a:tcPr/>
                </a:tc>
                <a:tc>
                  <a:txBody>
                    <a:bodyPr/>
                    <a:lstStyle/>
                    <a:p>
                      <a:pPr algn="l"/>
                      <a:r>
                        <a:rPr sz="800">
                          <a:latin typeface="Aptos"/>
                        </a:rPr>
                        <a:t>Agentic Adverse Drug Event Decision Support</a:t>
                      </a:r>
                    </a:p>
                  </a:txBody>
                  <a:tcPr/>
                </a:tc>
                <a:tc>
                  <a:txBody>
                    <a:bodyPr/>
                    <a:lstStyle/>
                    <a:p>
                      <a:pPr algn="l"/>
                      <a:r>
                        <a:rPr sz="800">
                          <a:latin typeface="Aptos"/>
                        </a:rPr>
                        <a:t>98.5% ADE recall; builds 24-hr personalized chronological schedules.</a:t>
                      </a:r>
                    </a:p>
                  </a:txBody>
                  <a:tcPr/>
                </a:tc>
                <a:extLst>
                  <a:ext uri="{0D108BD9-81ED-4DB2-BD59-A6C34878D82A}">
                    <a16:rowId xmlns:a16="http://schemas.microsoft.com/office/drawing/2014/main" val="2495907860"/>
                  </a:ext>
                </a:extLst>
              </a:tr>
              <a:tr h="323887">
                <a:tc>
                  <a:txBody>
                    <a:bodyPr/>
                    <a:lstStyle/>
                    <a:p>
                      <a:pPr algn="ctr"/>
                      <a:r>
                        <a:rPr sz="800" b="1">
                          <a:latin typeface="Aptos"/>
                        </a:rPr>
                        <a:t>[4]</a:t>
                      </a:r>
                    </a:p>
                  </a:txBody>
                  <a:tcPr/>
                </a:tc>
                <a:tc>
                  <a:txBody>
                    <a:bodyPr/>
                    <a:lstStyle/>
                    <a:p>
                      <a:pPr algn="l"/>
                      <a:r>
                        <a:rPr sz="800">
                          <a:latin typeface="Aptos"/>
                        </a:rPr>
                        <a:t>Zhang &amp; Wang (2024)
JAMIA</a:t>
                      </a:r>
                    </a:p>
                  </a:txBody>
                  <a:tcPr/>
                </a:tc>
                <a:tc>
                  <a:txBody>
                    <a:bodyPr/>
                    <a:lstStyle/>
                    <a:p>
                      <a:pPr algn="l"/>
                      <a:r>
                        <a:rPr sz="800">
                          <a:latin typeface="Aptos"/>
                        </a:rPr>
                        <a:t>Unstructured text outputs from LLMs</a:t>
                      </a:r>
                    </a:p>
                  </a:txBody>
                  <a:tcPr/>
                </a:tc>
                <a:tc>
                  <a:txBody>
                    <a:bodyPr/>
                    <a:lstStyle/>
                    <a:p>
                      <a:pPr algn="l"/>
                      <a:r>
                        <a:rPr sz="800">
                          <a:latin typeface="Aptos"/>
                        </a:rPr>
                        <a:t>LLM Fuzzy Entity Extraction</a:t>
                      </a:r>
                    </a:p>
                  </a:txBody>
                  <a:tcPr/>
                </a:tc>
                <a:tc>
                  <a:txBody>
                    <a:bodyPr/>
                    <a:lstStyle/>
                    <a:p>
                      <a:pPr algn="l"/>
                      <a:r>
                        <a:rPr sz="800">
                          <a:latin typeface="Aptos"/>
                        </a:rPr>
                        <a:t>Binds extracted OCR drugs directly into structured ADK tool calls.</a:t>
                      </a:r>
                    </a:p>
                  </a:txBody>
                  <a:tcPr/>
                </a:tc>
                <a:extLst>
                  <a:ext uri="{0D108BD9-81ED-4DB2-BD59-A6C34878D82A}">
                    <a16:rowId xmlns:a16="http://schemas.microsoft.com/office/drawing/2014/main" val="1164111642"/>
                  </a:ext>
                </a:extLst>
              </a:tr>
              <a:tr h="323887">
                <a:tc>
                  <a:txBody>
                    <a:bodyPr/>
                    <a:lstStyle/>
                    <a:p>
                      <a:pPr algn="ctr"/>
                      <a:r>
                        <a:rPr sz="800" b="1">
                          <a:latin typeface="Aptos"/>
                        </a:rPr>
                        <a:t>[5]</a:t>
                      </a:r>
                    </a:p>
                  </a:txBody>
                  <a:tcPr/>
                </a:tc>
                <a:tc>
                  <a:txBody>
                    <a:bodyPr/>
                    <a:lstStyle/>
                    <a:p>
                      <a:pPr algn="l"/>
                      <a:r>
                        <a:rPr sz="800">
                          <a:latin typeface="Aptos"/>
                        </a:rPr>
                        <a:t>Gupta et al. (2024)
Lancet Digital Health</a:t>
                      </a:r>
                    </a:p>
                  </a:txBody>
                  <a:tcPr/>
                </a:tc>
                <a:tc>
                  <a:txBody>
                    <a:bodyPr/>
                    <a:lstStyle/>
                    <a:p>
                      <a:pPr algn="l"/>
                      <a:r>
                        <a:rPr sz="800">
                          <a:latin typeface="Aptos"/>
                        </a:rPr>
                        <a:t>Lack of consumer-level rash severity triage</a:t>
                      </a:r>
                    </a:p>
                  </a:txBody>
                  <a:tcPr/>
                </a:tc>
                <a:tc>
                  <a:txBody>
                    <a:bodyPr/>
                    <a:lstStyle/>
                    <a:p>
                      <a:pPr algn="l"/>
                      <a:r>
                        <a:rPr sz="800">
                          <a:latin typeface="Aptos"/>
                        </a:rPr>
                        <a:t>Edge-Deployed Vision Transformers</a:t>
                      </a:r>
                    </a:p>
                  </a:txBody>
                  <a:tcPr/>
                </a:tc>
                <a:tc>
                  <a:txBody>
                    <a:bodyPr/>
                    <a:lstStyle/>
                    <a:p>
                      <a:pPr algn="l"/>
                      <a:r>
                        <a:rPr sz="800">
                          <a:latin typeface="Aptos"/>
                        </a:rPr>
                        <a:t>94.1% sensitivity; routes high-risk skin lesions to emergency alerts.</a:t>
                      </a:r>
                    </a:p>
                  </a:txBody>
                  <a:tcPr/>
                </a:tc>
                <a:extLst>
                  <a:ext uri="{0D108BD9-81ED-4DB2-BD59-A6C34878D82A}">
                    <a16:rowId xmlns:a16="http://schemas.microsoft.com/office/drawing/2014/main" val="2813143183"/>
                  </a:ext>
                </a:extLst>
              </a:tr>
              <a:tr h="323887">
                <a:tc>
                  <a:txBody>
                    <a:bodyPr/>
                    <a:lstStyle/>
                    <a:p>
                      <a:pPr algn="ctr"/>
                      <a:r>
                        <a:rPr sz="800" b="1">
                          <a:latin typeface="Aptos"/>
                        </a:rPr>
                        <a:t>[6]</a:t>
                      </a:r>
                    </a:p>
                  </a:txBody>
                  <a:tcPr/>
                </a:tc>
                <a:tc>
                  <a:txBody>
                    <a:bodyPr/>
                    <a:lstStyle/>
                    <a:p>
                      <a:pPr algn="l"/>
                      <a:r>
                        <a:rPr sz="800">
                          <a:latin typeface="Aptos"/>
                        </a:rPr>
                        <a:t>Davis et al. (2023)
AI in Medicine</a:t>
                      </a:r>
                    </a:p>
                  </a:txBody>
                  <a:tcPr/>
                </a:tc>
                <a:tc>
                  <a:txBody>
                    <a:bodyPr/>
                    <a:lstStyle/>
                    <a:p>
                      <a:pPr algn="l"/>
                      <a:r>
                        <a:rPr sz="800">
                          <a:latin typeface="Aptos"/>
                        </a:rPr>
                        <a:t>Siloed symptom checking without blood reports</a:t>
                      </a:r>
                    </a:p>
                  </a:txBody>
                  <a:tcPr/>
                </a:tc>
                <a:tc>
                  <a:txBody>
                    <a:bodyPr/>
                    <a:lstStyle/>
                    <a:p>
                      <a:pPr algn="l"/>
                      <a:r>
                        <a:rPr sz="800">
                          <a:latin typeface="Aptos"/>
                        </a:rPr>
                        <a:t>Multi-Agent Chronic Care Framework</a:t>
                      </a:r>
                    </a:p>
                  </a:txBody>
                  <a:tcPr/>
                </a:tc>
                <a:tc>
                  <a:txBody>
                    <a:bodyPr/>
                    <a:lstStyle/>
                    <a:p>
                      <a:pPr algn="l"/>
                      <a:r>
                        <a:rPr sz="800">
                          <a:latin typeface="Aptos"/>
                        </a:rPr>
                        <a:t>Analyzes 35+ blood biomarkers to dynamically adapt care guidance.</a:t>
                      </a:r>
                    </a:p>
                  </a:txBody>
                  <a:tcPr/>
                </a:tc>
                <a:extLst>
                  <a:ext uri="{0D108BD9-81ED-4DB2-BD59-A6C34878D82A}">
                    <a16:rowId xmlns:a16="http://schemas.microsoft.com/office/drawing/2014/main" val="1902245519"/>
                  </a:ext>
                </a:extLst>
              </a:tr>
              <a:tr h="323887">
                <a:tc>
                  <a:txBody>
                    <a:bodyPr/>
                    <a:lstStyle/>
                    <a:p>
                      <a:pPr algn="ctr"/>
                      <a:r>
                        <a:rPr sz="800" b="1">
                          <a:latin typeface="Aptos"/>
                        </a:rPr>
                        <a:t>[7]</a:t>
                      </a:r>
                    </a:p>
                  </a:txBody>
                  <a:tcPr/>
                </a:tc>
                <a:tc>
                  <a:txBody>
                    <a:bodyPr/>
                    <a:lstStyle/>
                    <a:p>
                      <a:pPr algn="l"/>
                      <a:r>
                        <a:rPr sz="800">
                          <a:latin typeface="Aptos"/>
                        </a:rPr>
                        <a:t>Smith &amp; Brown (2023)
Cardiovasc Dig Health</a:t>
                      </a:r>
                    </a:p>
                  </a:txBody>
                  <a:tcPr/>
                </a:tc>
                <a:tc>
                  <a:txBody>
                    <a:bodyPr/>
                    <a:lstStyle/>
                    <a:p>
                      <a:pPr algn="l"/>
                      <a:r>
                        <a:rPr sz="800">
                          <a:latin typeface="Aptos"/>
                        </a:rPr>
                        <a:t>Noise &amp; grid lines in paper-based ECG photos</a:t>
                      </a:r>
                    </a:p>
                  </a:txBody>
                  <a:tcPr/>
                </a:tc>
                <a:tc>
                  <a:txBody>
                    <a:bodyPr/>
                    <a:lstStyle/>
                    <a:p>
                      <a:pPr algn="l"/>
                      <a:r>
                        <a:rPr sz="800">
                          <a:latin typeface="Aptos"/>
                        </a:rPr>
                        <a:t>CNN-LSTM Waveform Classification</a:t>
                      </a:r>
                    </a:p>
                  </a:txBody>
                  <a:tcPr/>
                </a:tc>
                <a:tc>
                  <a:txBody>
                    <a:bodyPr/>
                    <a:lstStyle/>
                    <a:p>
                      <a:pPr algn="l"/>
                      <a:r>
                        <a:rPr sz="800">
                          <a:latin typeface="Aptos"/>
                        </a:rPr>
                        <a:t>99.1% arrhythmia accuracy; applies adaptive binarization on ECGs.</a:t>
                      </a:r>
                    </a:p>
                  </a:txBody>
                  <a:tcPr/>
                </a:tc>
                <a:extLst>
                  <a:ext uri="{0D108BD9-81ED-4DB2-BD59-A6C34878D82A}">
                    <a16:rowId xmlns:a16="http://schemas.microsoft.com/office/drawing/2014/main" val="1454984849"/>
                  </a:ext>
                </a:extLst>
              </a:tr>
              <a:tr h="323887">
                <a:tc>
                  <a:txBody>
                    <a:bodyPr/>
                    <a:lstStyle/>
                    <a:p>
                      <a:pPr algn="ctr"/>
                      <a:r>
                        <a:rPr sz="800" b="1">
                          <a:latin typeface="Aptos"/>
                        </a:rPr>
                        <a:t>[8]</a:t>
                      </a:r>
                    </a:p>
                  </a:txBody>
                  <a:tcPr/>
                </a:tc>
                <a:tc>
                  <a:txBody>
                    <a:bodyPr/>
                    <a:lstStyle/>
                    <a:p>
                      <a:pPr algn="l"/>
                      <a:r>
                        <a:rPr sz="800">
                          <a:latin typeface="Aptos"/>
                        </a:rPr>
                        <a:t>Kim et al. (2022)
Pharmacotherapy</a:t>
                      </a:r>
                    </a:p>
                  </a:txBody>
                  <a:tcPr/>
                </a:tc>
                <a:tc>
                  <a:txBody>
                    <a:bodyPr/>
                    <a:lstStyle/>
                    <a:p>
                      <a:pPr algn="l"/>
                      <a:r>
                        <a:rPr sz="800">
                          <a:latin typeface="Aptos"/>
                        </a:rPr>
                        <a:t>Food-drug metabolic conflicts overlooked</a:t>
                      </a:r>
                    </a:p>
                  </a:txBody>
                  <a:tcPr/>
                </a:tc>
                <a:tc>
                  <a:txBody>
                    <a:bodyPr/>
                    <a:lstStyle/>
                    <a:p>
                      <a:pPr algn="l"/>
                      <a:r>
                        <a:rPr sz="800">
                          <a:latin typeface="Aptos"/>
                        </a:rPr>
                        <a:t>Automated CDSS for CYP3A4 Pathway</a:t>
                      </a:r>
                    </a:p>
                  </a:txBody>
                  <a:tcPr/>
                </a:tc>
                <a:tc>
                  <a:txBody>
                    <a:bodyPr/>
                    <a:lstStyle/>
                    <a:p>
                      <a:pPr algn="l"/>
                      <a:r>
                        <a:rPr sz="800">
                          <a:latin typeface="Aptos"/>
                        </a:rPr>
                        <a:t>Flags 8 food classes x 40+ drugs; prevents grapefruit/alcohol toxicity.</a:t>
                      </a:r>
                    </a:p>
                  </a:txBody>
                  <a:tcPr/>
                </a:tc>
                <a:extLst>
                  <a:ext uri="{0D108BD9-81ED-4DB2-BD59-A6C34878D82A}">
                    <a16:rowId xmlns:a16="http://schemas.microsoft.com/office/drawing/2014/main" val="2637780379"/>
                  </a:ext>
                </a:extLst>
              </a:tr>
            </a:tbl>
          </a:graphicData>
        </a:graphic>
      </p:graphicFrame>
      <p:sp>
        <p:nvSpPr>
          <p:cNvPr id="13" name="Date Placeholder 3">
            <a:extLst>
              <a:ext uri="{FF2B5EF4-FFF2-40B4-BE49-F238E27FC236}">
                <a16:creationId xmlns:a16="http://schemas.microsoft.com/office/drawing/2014/main" id="{5A7A1348-68F7-EA91-EAFE-5B3EC680D20C}"/>
              </a:ext>
            </a:extLst>
          </p:cNvPr>
          <p:cNvSpPr txBox="1">
            <a:spLocks/>
          </p:cNvSpPr>
          <p:nvPr/>
        </p:nvSpPr>
        <p:spPr>
          <a:xfrm>
            <a:off x="439411" y="6500881"/>
            <a:ext cx="2719498" cy="365125"/>
          </a:xfrm>
          <a:prstGeom prst="rect">
            <a:avLst/>
          </a:prstGeom>
        </p:spPr>
        <p:txBody>
          <a:bodyPr/>
          <a:lstStyle>
            <a:defPPr>
              <a:defRPr lang="en-US"/>
            </a:defPPr>
            <a:lvl1pPr marL="0" algn="l" defTabSz="457200" rtl="0" eaLnBrk="1" latinLnBrk="0" hangingPunct="1">
              <a:defRPr sz="1100" b="1"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t>31-08-2026</a:t>
            </a:r>
            <a:endParaRPr lang="en-IN" sz="1200" dirty="0">
              <a:solidFill>
                <a:schemeClr val="accent3"/>
              </a:solidFill>
              <a:latin typeface="Aptos" panose="020B0004020202020204" pitchFamily="34" charset="0"/>
            </a:endParaRPr>
          </a:p>
        </p:txBody>
      </p:sp>
      <p:sp>
        <p:nvSpPr>
          <p:cNvPr id="14" name="Footer Placeholder 4">
            <a:extLst>
              <a:ext uri="{FF2B5EF4-FFF2-40B4-BE49-F238E27FC236}">
                <a16:creationId xmlns:a16="http://schemas.microsoft.com/office/drawing/2014/main" id="{1FFB97E3-AE8E-55EB-9F91-20FDDBF34DFA}"/>
              </a:ext>
            </a:extLst>
          </p:cNvPr>
          <p:cNvSpPr txBox="1">
            <a:spLocks/>
          </p:cNvSpPr>
          <p:nvPr/>
        </p:nvSpPr>
        <p:spPr>
          <a:xfrm>
            <a:off x="4759240" y="6456244"/>
            <a:ext cx="3490907" cy="345248"/>
          </a:xfrm>
          <a:prstGeom prst="rect">
            <a:avLst/>
          </a:prstGeom>
        </p:spPr>
        <p:txBody>
          <a:bodyPr/>
          <a:lstStyle>
            <a:defPPr>
              <a:defRPr lang="en-US"/>
            </a:defPPr>
            <a:lvl1pPr marL="0" algn="l" defTabSz="457200" rtl="0" eaLnBrk="1" latinLnBrk="0" hangingPunct="1">
              <a:defRPr sz="1200" b="1" kern="1200" cap="none">
                <a:solidFill>
                  <a:schemeClr val="tx1"/>
                </a:solidFill>
                <a:latin typeface="Aptos" panose="020B0004020202020204" pitchFamily="34"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sz="1400" dirty="0">
                <a:solidFill>
                  <a:schemeClr val="accent3"/>
                </a:solidFill>
              </a:rPr>
              <a:t>Vardhaman College of Engineering</a:t>
            </a:r>
          </a:p>
        </p:txBody>
      </p:sp>
      <p:sp>
        <p:nvSpPr>
          <p:cNvPr id="15" name="Slide Number Placeholder 5">
            <a:extLst>
              <a:ext uri="{FF2B5EF4-FFF2-40B4-BE49-F238E27FC236}">
                <a16:creationId xmlns:a16="http://schemas.microsoft.com/office/drawing/2014/main" id="{5A78E1C5-97FB-6677-7CC1-126AA4153A00}"/>
              </a:ext>
            </a:extLst>
          </p:cNvPr>
          <p:cNvSpPr txBox="1">
            <a:spLocks/>
          </p:cNvSpPr>
          <p:nvPr/>
        </p:nvSpPr>
        <p:spPr>
          <a:xfrm>
            <a:off x="10822112" y="6490607"/>
            <a:ext cx="390371" cy="365125"/>
          </a:xfrm>
          <a:prstGeom prst="rect">
            <a:avLst/>
          </a:prstGeom>
        </p:spPr>
        <p:txBody>
          <a:bodyPr/>
          <a:lstStyle>
            <a:defPPr>
              <a:defRPr lang="en-US"/>
            </a:defPPr>
            <a:lvl1pPr marL="0" algn="l" defTabSz="457200" rtl="0" eaLnBrk="1" latinLnBrk="0" hangingPunct="1">
              <a:defRPr sz="1100" b="1"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6A3FA1D-EC91-45BD-A9AB-12F85A35EF5C}" type="slidenum">
              <a:rPr lang="en-IN" sz="1200" smtClean="0">
                <a:solidFill>
                  <a:schemeClr val="accent3"/>
                </a:solidFill>
                <a:latin typeface="Aptos" panose="020B0004020202020204" pitchFamily="34" charset="0"/>
              </a:rPr>
              <a:pPr/>
              <a:t>4</a:t>
            </a:fld>
            <a:endParaRPr lang="en-IN" sz="1200" dirty="0">
              <a:solidFill>
                <a:schemeClr val="accent3"/>
              </a:solidFill>
              <a:latin typeface="Aptos" panose="020B0004020202020204" pitchFamily="34" charset="0"/>
            </a:endParaRPr>
          </a:p>
        </p:txBody>
      </p:sp>
    </p:spTree>
    <p:extLst>
      <p:ext uri="{BB962C8B-B14F-4D97-AF65-F5344CB8AC3E}">
        <p14:creationId xmlns:p14="http://schemas.microsoft.com/office/powerpoint/2010/main" val="15636842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1CFFE-0E57-6C12-C7C0-DFC70253D747}"/>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E69F9C9C-0D4F-5D8B-BD8E-8E20F3C21D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867518" y="69351"/>
            <a:ext cx="1224280" cy="935990"/>
          </a:xfrm>
          <a:prstGeom prst="rect">
            <a:avLst/>
          </a:prstGeom>
        </p:spPr>
      </p:pic>
      <p:sp>
        <p:nvSpPr>
          <p:cNvPr id="4" name="TextBox 3">
            <a:extLst>
              <a:ext uri="{FF2B5EF4-FFF2-40B4-BE49-F238E27FC236}">
                <a16:creationId xmlns:a16="http://schemas.microsoft.com/office/drawing/2014/main" id="{C1766489-E1FE-962C-85E0-4FE40C0A7900}"/>
              </a:ext>
            </a:extLst>
          </p:cNvPr>
          <p:cNvSpPr txBox="1"/>
          <p:nvPr/>
        </p:nvSpPr>
        <p:spPr>
          <a:xfrm>
            <a:off x="922104" y="978551"/>
            <a:ext cx="10058429" cy="1298882"/>
          </a:xfrm>
          <a:prstGeom prst="rect">
            <a:avLst/>
          </a:prstGeom>
          <a:noFill/>
        </p:spPr>
        <p:txBody>
          <a:bodyPr wrap="square">
            <a:spAutoFit/>
          </a:bodyPr>
          <a:lstStyle/>
          <a:p>
            <a:pPr>
              <a:lnSpc>
                <a:spcPct val="150000"/>
              </a:lnSpc>
            </a:pPr>
            <a:r>
              <a:rPr sz="1300" b="1">
                <a:latin typeface="Aptos"/>
              </a:rPr>
              <a:t>1. Deterministic Clinical Safety Core</a:t>
            </a:r>
          </a:p>
          <a:p>
            <a:r>
              <a:rPr sz="1050">
                <a:latin typeface="Aptos"/>
              </a:rPr>
              <a:t>• Drug-drug interactions, brand-to-generic mapping, and food-drug warnings execute via deterministic Python algorithms — zero LLM hallucination in safety-critical clinical decisions.</a:t>
            </a:r>
          </a:p>
          <a:p>
            <a:r>
              <a:rPr sz="1300" b="1">
                <a:latin typeface="Aptos"/>
              </a:rPr>
              <a:t>2. 4-Modality Pillow Image Processing Pipeline</a:t>
            </a:r>
          </a:p>
          <a:p>
            <a:r>
              <a:rPr sz="1050">
                <a:latin typeface="Aptos"/>
              </a:rPr>
              <a:t>• Aspect-preserving Lanczos scaling (&lt;=1024px, 94% bandwidth reduction), CLAHE contrast enhancement, and adaptive binarization for Prescriptions, Skin Lesions, X-Rays, and ECGs.</a:t>
            </a:r>
          </a:p>
          <a:p>
            <a:r>
              <a:rPr sz="1300" b="1">
                <a:latin typeface="Aptos"/>
              </a:rPr>
              <a:t>3. Quantified 7-Factor Health Risk Score (1–100 Scale)</a:t>
            </a:r>
          </a:p>
          <a:p>
            <a:r>
              <a:rPr sz="1050">
                <a:latin typeface="Aptos"/>
              </a:rPr>
              <a:t>• Auditable clinical metric aligned with NEWS2/APACHE protocols replacing subjective urgency adjectives.</a:t>
            </a:r>
          </a:p>
          <a:p>
            <a:r>
              <a:rPr sz="1300" b="1">
                <a:latin typeface="Aptos"/>
              </a:rPr>
              <a:t>4. Google ADK Multi-Agent Topology</a:t>
            </a:r>
          </a:p>
          <a:p>
            <a:r>
              <a:rPr sz="1050">
                <a:latin typeface="Aptos"/>
              </a:rPr>
              <a:t>• 5 domain-specialist sub-agents (Vision, Lab, Triage, Scheduler, Research) with sandboxed tool execution.</a:t>
            </a:r>
          </a:p>
        </p:txBody>
      </p:sp>
      <p:sp>
        <p:nvSpPr>
          <p:cNvPr id="6" name="TextBox 5">
            <a:extLst>
              <a:ext uri="{FF2B5EF4-FFF2-40B4-BE49-F238E27FC236}">
                <a16:creationId xmlns:a16="http://schemas.microsoft.com/office/drawing/2014/main" id="{B1E80B1F-40AD-F8B2-0D55-CFB4AC08A382}"/>
              </a:ext>
            </a:extLst>
          </p:cNvPr>
          <p:cNvSpPr txBox="1"/>
          <p:nvPr/>
        </p:nvSpPr>
        <p:spPr>
          <a:xfrm>
            <a:off x="922104" y="3338517"/>
            <a:ext cx="8496756" cy="1298882"/>
          </a:xfrm>
          <a:prstGeom prst="rect">
            <a:avLst/>
          </a:prstGeom>
          <a:noFill/>
        </p:spPr>
        <p:txBody>
          <a:bodyPr wrap="square">
            <a:spAutoFit/>
          </a:bodyPr>
          <a:lstStyle/>
          <a:p>
            <a:pPr>
              <a:lnSpc>
                <a:spcPct val="150000"/>
              </a:lnSpc>
            </a:pPr>
            <a:r>
              <a:rPr sz="1300" b="1">
                <a:latin typeface="Aptos"/>
              </a:rPr>
              <a:t>Planned Deliverables:</a:t>
            </a:r>
          </a:p>
          <a:p>
            <a:r>
              <a:rPr sz="1050">
                <a:latin typeface="Aptos"/>
              </a:rPr>
              <a:t>• Multi-Agent AI Healthcare Navigation Engine built with Google ADK.</a:t>
            </a:r>
          </a:p>
          <a:p>
            <a:r>
              <a:rPr sz="1050">
                <a:latin typeface="Aptos"/>
              </a:rPr>
              <a:t>• Full REST API Server (FastAPI) + Docker Container + Interactive Web UI (`app.py`).</a:t>
            </a:r>
          </a:p>
          <a:p>
            <a:r>
              <a:rPr sz="1050">
                <a:latin typeface="Aptos"/>
              </a:rPr>
              <a:t>• 5 Standalone CLI Skills for local image preprocessing, lab analysis, and scheduling.</a:t>
            </a:r>
          </a:p>
          <a:p>
            <a:r>
              <a:rPr sz="1050">
                <a:latin typeface="Aptos"/>
              </a:rPr>
              <a:t>• Publication-grade IEEE Conference Research Paper &amp; Mid-Term SRS Report.</a:t>
            </a:r>
          </a:p>
          <a:p>
            <a:r>
              <a:rPr sz="1300" b="1">
                <a:latin typeface="Aptos"/>
              </a:rPr>
              <a:t>Expected Real-World Impact:</a:t>
            </a:r>
          </a:p>
          <a:p>
            <a:r>
              <a:rPr sz="1050">
                <a:latin typeface="Aptos"/>
              </a:rPr>
              <a:t>• Prevents outpatient medication overdoses and therapeutic duplications.</a:t>
            </a:r>
          </a:p>
          <a:p>
            <a:r>
              <a:rPr sz="1050">
                <a:latin typeface="Aptos"/>
              </a:rPr>
              <a:t>• Enables home-level interpretation of diagnostic blood panels and medical images.</a:t>
            </a:r>
          </a:p>
        </p:txBody>
      </p:sp>
      <p:sp>
        <p:nvSpPr>
          <p:cNvPr id="8" name="TextBox 7">
            <a:extLst>
              <a:ext uri="{FF2B5EF4-FFF2-40B4-BE49-F238E27FC236}">
                <a16:creationId xmlns:a16="http://schemas.microsoft.com/office/drawing/2014/main" id="{184DB8FA-8D5C-3599-7F98-9D13643289BA}"/>
              </a:ext>
            </a:extLst>
          </p:cNvPr>
          <p:cNvSpPr txBox="1"/>
          <p:nvPr/>
        </p:nvSpPr>
        <p:spPr>
          <a:xfrm>
            <a:off x="562510" y="352680"/>
            <a:ext cx="6097712" cy="584775"/>
          </a:xfrm>
          <a:prstGeom prst="rect">
            <a:avLst/>
          </a:prstGeom>
          <a:noFill/>
        </p:spPr>
        <p:txBody>
          <a:bodyPr wrap="square">
            <a:spAutoFit/>
          </a:bodyPr>
          <a:lstStyle/>
          <a:p>
            <a:pPr>
              <a:buNone/>
            </a:pPr>
            <a:r>
              <a:rPr lang="en-US" sz="3200" b="1" dirty="0">
                <a:latin typeface="Book Antiqua" panose="02040602050305030304" pitchFamily="18" charset="0"/>
              </a:rPr>
              <a:t>Novelty / Innovation</a:t>
            </a:r>
          </a:p>
        </p:txBody>
      </p:sp>
      <p:sp>
        <p:nvSpPr>
          <p:cNvPr id="10" name="TextBox 9">
            <a:extLst>
              <a:ext uri="{FF2B5EF4-FFF2-40B4-BE49-F238E27FC236}">
                <a16:creationId xmlns:a16="http://schemas.microsoft.com/office/drawing/2014/main" id="{906092D4-C0D2-83BA-70BC-9E5FE2DD03F8}"/>
              </a:ext>
            </a:extLst>
          </p:cNvPr>
          <p:cNvSpPr txBox="1"/>
          <p:nvPr/>
        </p:nvSpPr>
        <p:spPr>
          <a:xfrm>
            <a:off x="562510" y="2753742"/>
            <a:ext cx="6097712" cy="584775"/>
          </a:xfrm>
          <a:prstGeom prst="rect">
            <a:avLst/>
          </a:prstGeom>
          <a:noFill/>
        </p:spPr>
        <p:txBody>
          <a:bodyPr wrap="square">
            <a:spAutoFit/>
          </a:bodyPr>
          <a:lstStyle/>
          <a:p>
            <a:pPr>
              <a:buNone/>
            </a:pPr>
            <a:r>
              <a:rPr lang="en-US" sz="3200" b="1" dirty="0">
                <a:latin typeface="Book Antiqua" panose="02040602050305030304" pitchFamily="18" charset="0"/>
              </a:rPr>
              <a:t>Expected Outcomes</a:t>
            </a:r>
          </a:p>
        </p:txBody>
      </p:sp>
      <p:sp>
        <p:nvSpPr>
          <p:cNvPr id="13" name="Date Placeholder 3">
            <a:extLst>
              <a:ext uri="{FF2B5EF4-FFF2-40B4-BE49-F238E27FC236}">
                <a16:creationId xmlns:a16="http://schemas.microsoft.com/office/drawing/2014/main" id="{088FBEB9-E56D-5C2E-8771-9B8716579C46}"/>
              </a:ext>
            </a:extLst>
          </p:cNvPr>
          <p:cNvSpPr txBox="1">
            <a:spLocks/>
          </p:cNvSpPr>
          <p:nvPr/>
        </p:nvSpPr>
        <p:spPr>
          <a:xfrm>
            <a:off x="439411" y="6500881"/>
            <a:ext cx="2719498" cy="365125"/>
          </a:xfrm>
          <a:prstGeom prst="rect">
            <a:avLst/>
          </a:prstGeom>
        </p:spPr>
        <p:txBody>
          <a:bodyPr/>
          <a:lstStyle>
            <a:defPPr>
              <a:defRPr lang="en-US"/>
            </a:defPPr>
            <a:lvl1pPr marL="0" algn="l" defTabSz="457200" rtl="0" eaLnBrk="1" latinLnBrk="0" hangingPunct="1">
              <a:defRPr sz="1100" b="1"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t>31-08-2026</a:t>
            </a:r>
            <a:endParaRPr lang="en-IN" sz="1200" dirty="0">
              <a:solidFill>
                <a:schemeClr val="accent3"/>
              </a:solidFill>
              <a:latin typeface="Aptos" panose="020B0004020202020204" pitchFamily="34" charset="0"/>
            </a:endParaRPr>
          </a:p>
        </p:txBody>
      </p:sp>
      <p:sp>
        <p:nvSpPr>
          <p:cNvPr id="14" name="Footer Placeholder 4">
            <a:extLst>
              <a:ext uri="{FF2B5EF4-FFF2-40B4-BE49-F238E27FC236}">
                <a16:creationId xmlns:a16="http://schemas.microsoft.com/office/drawing/2014/main" id="{CE7E5F53-BF72-E0A5-42FF-EB1FD5131BEF}"/>
              </a:ext>
            </a:extLst>
          </p:cNvPr>
          <p:cNvSpPr txBox="1">
            <a:spLocks/>
          </p:cNvSpPr>
          <p:nvPr/>
        </p:nvSpPr>
        <p:spPr>
          <a:xfrm>
            <a:off x="4759240" y="6456244"/>
            <a:ext cx="3490907" cy="345248"/>
          </a:xfrm>
          <a:prstGeom prst="rect">
            <a:avLst/>
          </a:prstGeom>
        </p:spPr>
        <p:txBody>
          <a:bodyPr/>
          <a:lstStyle>
            <a:defPPr>
              <a:defRPr lang="en-US"/>
            </a:defPPr>
            <a:lvl1pPr marL="0" algn="l" defTabSz="457200" rtl="0" eaLnBrk="1" latinLnBrk="0" hangingPunct="1">
              <a:defRPr sz="1200" b="1" kern="1200" cap="none">
                <a:solidFill>
                  <a:schemeClr val="tx1"/>
                </a:solidFill>
                <a:latin typeface="Aptos" panose="020B0004020202020204" pitchFamily="34"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sz="1400" dirty="0">
                <a:solidFill>
                  <a:schemeClr val="accent3"/>
                </a:solidFill>
              </a:rPr>
              <a:t>Vardhaman College of Engineering</a:t>
            </a:r>
          </a:p>
        </p:txBody>
      </p:sp>
      <p:sp>
        <p:nvSpPr>
          <p:cNvPr id="15" name="Slide Number Placeholder 5">
            <a:extLst>
              <a:ext uri="{FF2B5EF4-FFF2-40B4-BE49-F238E27FC236}">
                <a16:creationId xmlns:a16="http://schemas.microsoft.com/office/drawing/2014/main" id="{149DF87E-F6B1-BF6B-9905-75DFD5C166AE}"/>
              </a:ext>
            </a:extLst>
          </p:cNvPr>
          <p:cNvSpPr txBox="1">
            <a:spLocks/>
          </p:cNvSpPr>
          <p:nvPr/>
        </p:nvSpPr>
        <p:spPr>
          <a:xfrm>
            <a:off x="10822112" y="6490607"/>
            <a:ext cx="390371" cy="365125"/>
          </a:xfrm>
          <a:prstGeom prst="rect">
            <a:avLst/>
          </a:prstGeom>
        </p:spPr>
        <p:txBody>
          <a:bodyPr/>
          <a:lstStyle>
            <a:defPPr>
              <a:defRPr lang="en-US"/>
            </a:defPPr>
            <a:lvl1pPr marL="0" algn="l" defTabSz="457200" rtl="0" eaLnBrk="1" latinLnBrk="0" hangingPunct="1">
              <a:defRPr sz="1100" b="1"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6A3FA1D-EC91-45BD-A9AB-12F85A35EF5C}" type="slidenum">
              <a:rPr lang="en-IN" sz="1200" smtClean="0">
                <a:solidFill>
                  <a:schemeClr val="accent3"/>
                </a:solidFill>
                <a:latin typeface="Aptos" panose="020B0004020202020204" pitchFamily="34" charset="0"/>
              </a:rPr>
              <a:pPr/>
              <a:t>5</a:t>
            </a:fld>
            <a:endParaRPr lang="en-IN" sz="1200" dirty="0">
              <a:solidFill>
                <a:schemeClr val="accent3"/>
              </a:solidFill>
              <a:latin typeface="Aptos" panose="020B0004020202020204" pitchFamily="34" charset="0"/>
            </a:endParaRPr>
          </a:p>
        </p:txBody>
      </p:sp>
    </p:spTree>
    <p:extLst>
      <p:ext uri="{BB962C8B-B14F-4D97-AF65-F5344CB8AC3E}">
        <p14:creationId xmlns:p14="http://schemas.microsoft.com/office/powerpoint/2010/main" val="18980960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445BAFB-7EF4-2023-4132-1AABA9780B4B}"/>
              </a:ext>
            </a:extLst>
          </p:cNvPr>
          <p:cNvSpPr txBox="1"/>
          <p:nvPr/>
        </p:nvSpPr>
        <p:spPr>
          <a:xfrm>
            <a:off x="850187" y="1202750"/>
            <a:ext cx="6097712" cy="1295868"/>
          </a:xfrm>
          <a:prstGeom prst="rect">
            <a:avLst/>
          </a:prstGeom>
          <a:noFill/>
        </p:spPr>
        <p:txBody>
          <a:bodyPr wrap="square">
            <a:spAutoFit/>
          </a:bodyPr>
          <a:lstStyle/>
          <a:p>
            <a:pPr>
              <a:lnSpc>
                <a:spcPct val="150000"/>
              </a:lnSpc>
            </a:pPr>
            <a:r>
              <a:rPr sz="1200" b="1">
                <a:latin typeface="Aptos"/>
              </a:rPr>
              <a:t>1. Ratna Ganesh Reddy (23ITMNP-C06-A) — CV &amp; Preprocessing Lead</a:t>
            </a:r>
          </a:p>
          <a:p>
            <a:r>
              <a:rPr sz="1050">
                <a:latin typeface="Aptos"/>
              </a:rPr>
              <a:t>   • Pillow Vision Pipeline (CLAHE, Lanczos, Binarization), Prescription OCR, and Skin Lesion Triage.</a:t>
            </a:r>
          </a:p>
          <a:p>
            <a:r>
              <a:rPr sz="1200" b="1">
                <a:latin typeface="Aptos"/>
              </a:rPr>
              <a:t>2. P. Maruthi Sai Teja (23ITMNP-C06-B) — System Architecture Lead</a:t>
            </a:r>
          </a:p>
          <a:p>
            <a:r>
              <a:rPr sz="1050">
                <a:latin typeface="Aptos"/>
              </a:rPr>
              <a:t>   • Google ADK Multi-Agent Orchestrator, LabAgent, 7-Factor Health Risk Score, and System Integration.</a:t>
            </a:r>
          </a:p>
          <a:p>
            <a:r>
              <a:rPr sz="1200" b="1">
                <a:latin typeface="Aptos"/>
              </a:rPr>
              <a:t>3. P. Pavan Goud (23ITMNP-C06-C) — Knowledge Base &amp; Deployment Lead</a:t>
            </a:r>
          </a:p>
          <a:p>
            <a:r>
              <a:rPr sz="1050">
                <a:latin typeface="Aptos"/>
              </a:rPr>
              <a:t>   • Food-Drug Interaction Engine, SchedulerAgent, FastAPI Backend, Docker Containerization, and Testing.</a:t>
            </a:r>
          </a:p>
        </p:txBody>
      </p:sp>
      <p:sp>
        <p:nvSpPr>
          <p:cNvPr id="5" name="TextBox 4">
            <a:extLst>
              <a:ext uri="{FF2B5EF4-FFF2-40B4-BE49-F238E27FC236}">
                <a16:creationId xmlns:a16="http://schemas.microsoft.com/office/drawing/2014/main" id="{D3B20567-F3E9-70F2-2D44-04B5DB9DFD9B}"/>
              </a:ext>
            </a:extLst>
          </p:cNvPr>
          <p:cNvSpPr txBox="1"/>
          <p:nvPr/>
        </p:nvSpPr>
        <p:spPr>
          <a:xfrm>
            <a:off x="850187" y="3919197"/>
            <a:ext cx="10369193" cy="880369"/>
          </a:xfrm>
          <a:prstGeom prst="rect">
            <a:avLst/>
          </a:prstGeom>
          <a:noFill/>
        </p:spPr>
        <p:txBody>
          <a:bodyPr wrap="square">
            <a:spAutoFit/>
          </a:bodyPr>
          <a:lstStyle/>
          <a:p>
            <a:pPr>
              <a:lnSpc>
                <a:spcPct val="150000"/>
              </a:lnSpc>
            </a:pPr>
            <a:r>
              <a:rPr sz="1100" b="0">
                <a:latin typeface="Aptos"/>
              </a:rPr>
              <a:t>Phase 1 (Jul–Aug 2025): Problem Formulation, Literature Survey &amp; ADK Scoping [COMPLETED]</a:t>
            </a:r>
          </a:p>
          <a:p>
            <a:r>
              <a:rPr sz="1100" b="0">
                <a:latin typeface="Aptos"/>
              </a:rPr>
              <a:t>Phase 2 (Sep–Oct 2025): Multi-Agent Core Engine (Orchestrator, Triage, Research) [COMPLETED]</a:t>
            </a:r>
          </a:p>
          <a:p>
            <a:r>
              <a:rPr sz="1100" b="0">
                <a:latin typeface="Aptos"/>
              </a:rPr>
              <a:t>Phase 3 (Nov–Dec 2025): Multimodal Vision Pipeline &amp; Pillow Preprocessors [COMPLETED]</a:t>
            </a:r>
          </a:p>
          <a:p>
            <a:r>
              <a:rPr sz="1100" b="0">
                <a:latin typeface="Aptos"/>
              </a:rPr>
              <a:t>Phase 4 (Jan–Feb 2026): Lab Diagnostics Engine, Food-Drug DB &amp; Risk Score [COMPLETED]</a:t>
            </a:r>
          </a:p>
          <a:p>
            <a:r>
              <a:rPr sz="1100" b="1">
                <a:latin typeface="Aptos"/>
              </a:rPr>
              <a:t>Phase 5 (Mar–Aug 2026): Review 2 (ILR), Pytest Suite (31/31 passed), Web UI &amp; Manuscript [IN PROGRESS]</a:t>
            </a:r>
          </a:p>
          <a:p>
            <a:r>
              <a:rPr sz="1100" b="0">
                <a:latin typeface="Aptos"/>
              </a:rPr>
              <a:t>Phase 6 (Sep–Nov 2026): Hospital FHIR Interoperability, Clinical Validation &amp; Final Defense [PLANNED]</a:t>
            </a:r>
          </a:p>
        </p:txBody>
      </p:sp>
      <p:sp>
        <p:nvSpPr>
          <p:cNvPr id="7" name="TextBox 6">
            <a:extLst>
              <a:ext uri="{FF2B5EF4-FFF2-40B4-BE49-F238E27FC236}">
                <a16:creationId xmlns:a16="http://schemas.microsoft.com/office/drawing/2014/main" id="{63BAE2B7-A7CE-B884-7D48-63814EA248E4}"/>
              </a:ext>
            </a:extLst>
          </p:cNvPr>
          <p:cNvSpPr txBox="1"/>
          <p:nvPr/>
        </p:nvSpPr>
        <p:spPr>
          <a:xfrm>
            <a:off x="480316" y="483153"/>
            <a:ext cx="7625993" cy="584775"/>
          </a:xfrm>
          <a:prstGeom prst="rect">
            <a:avLst/>
          </a:prstGeom>
          <a:noFill/>
        </p:spPr>
        <p:txBody>
          <a:bodyPr wrap="square">
            <a:spAutoFit/>
          </a:bodyPr>
          <a:lstStyle/>
          <a:p>
            <a:pPr>
              <a:buNone/>
            </a:pPr>
            <a:r>
              <a:rPr lang="en-US" sz="3200" b="1" dirty="0">
                <a:latin typeface="Book Antiqua" panose="02040602050305030304" pitchFamily="18" charset="0"/>
              </a:rPr>
              <a:t>Team Roles &amp; Work Distribution</a:t>
            </a:r>
          </a:p>
        </p:txBody>
      </p:sp>
      <p:sp>
        <p:nvSpPr>
          <p:cNvPr id="9" name="TextBox 8">
            <a:extLst>
              <a:ext uri="{FF2B5EF4-FFF2-40B4-BE49-F238E27FC236}">
                <a16:creationId xmlns:a16="http://schemas.microsoft.com/office/drawing/2014/main" id="{E149DCF2-ACFD-DBDE-B900-B7C2E0FC594C}"/>
              </a:ext>
            </a:extLst>
          </p:cNvPr>
          <p:cNvSpPr txBox="1"/>
          <p:nvPr/>
        </p:nvSpPr>
        <p:spPr>
          <a:xfrm>
            <a:off x="439411" y="3154992"/>
            <a:ext cx="6097712" cy="584775"/>
          </a:xfrm>
          <a:prstGeom prst="rect">
            <a:avLst/>
          </a:prstGeom>
          <a:noFill/>
        </p:spPr>
        <p:txBody>
          <a:bodyPr wrap="square">
            <a:spAutoFit/>
          </a:bodyPr>
          <a:lstStyle/>
          <a:p>
            <a:pPr>
              <a:buNone/>
            </a:pPr>
            <a:r>
              <a:rPr lang="en-US" sz="3200" b="1" dirty="0">
                <a:latin typeface="Book Antiqua" panose="02040602050305030304" pitchFamily="18" charset="0"/>
              </a:rPr>
              <a:t>Timeline / Gantt Chart</a:t>
            </a:r>
          </a:p>
        </p:txBody>
      </p:sp>
      <p:sp>
        <p:nvSpPr>
          <p:cNvPr id="12" name="Date Placeholder 3">
            <a:extLst>
              <a:ext uri="{FF2B5EF4-FFF2-40B4-BE49-F238E27FC236}">
                <a16:creationId xmlns:a16="http://schemas.microsoft.com/office/drawing/2014/main" id="{5D9523E8-04A9-5F7D-B678-26825DAFA520}"/>
              </a:ext>
            </a:extLst>
          </p:cNvPr>
          <p:cNvSpPr txBox="1">
            <a:spLocks/>
          </p:cNvSpPr>
          <p:nvPr/>
        </p:nvSpPr>
        <p:spPr>
          <a:xfrm>
            <a:off x="439411" y="6500881"/>
            <a:ext cx="2719498" cy="365125"/>
          </a:xfrm>
          <a:prstGeom prst="rect">
            <a:avLst/>
          </a:prstGeom>
        </p:spPr>
        <p:txBody>
          <a:bodyPr/>
          <a:lstStyle>
            <a:defPPr>
              <a:defRPr lang="en-US"/>
            </a:defPPr>
            <a:lvl1pPr marL="0" algn="l" defTabSz="457200" rtl="0" eaLnBrk="1" latinLnBrk="0" hangingPunct="1">
              <a:defRPr sz="1100" b="1"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t>31-08-2026</a:t>
            </a:r>
            <a:endParaRPr lang="en-IN" sz="1200" dirty="0">
              <a:solidFill>
                <a:schemeClr val="accent3"/>
              </a:solidFill>
              <a:latin typeface="Aptos" panose="020B0004020202020204" pitchFamily="34" charset="0"/>
            </a:endParaRPr>
          </a:p>
        </p:txBody>
      </p:sp>
      <p:sp>
        <p:nvSpPr>
          <p:cNvPr id="13" name="Footer Placeholder 4">
            <a:extLst>
              <a:ext uri="{FF2B5EF4-FFF2-40B4-BE49-F238E27FC236}">
                <a16:creationId xmlns:a16="http://schemas.microsoft.com/office/drawing/2014/main" id="{A2017F37-7C0C-AF04-70D3-A489461D2493}"/>
              </a:ext>
            </a:extLst>
          </p:cNvPr>
          <p:cNvSpPr txBox="1">
            <a:spLocks/>
          </p:cNvSpPr>
          <p:nvPr/>
        </p:nvSpPr>
        <p:spPr>
          <a:xfrm>
            <a:off x="4759240" y="6456244"/>
            <a:ext cx="3490907" cy="345248"/>
          </a:xfrm>
          <a:prstGeom prst="rect">
            <a:avLst/>
          </a:prstGeom>
        </p:spPr>
        <p:txBody>
          <a:bodyPr/>
          <a:lstStyle>
            <a:defPPr>
              <a:defRPr lang="en-US"/>
            </a:defPPr>
            <a:lvl1pPr marL="0" algn="l" defTabSz="457200" rtl="0" eaLnBrk="1" latinLnBrk="0" hangingPunct="1">
              <a:defRPr sz="1200" b="1" kern="1200" cap="none">
                <a:solidFill>
                  <a:schemeClr val="tx1"/>
                </a:solidFill>
                <a:latin typeface="Aptos" panose="020B0004020202020204" pitchFamily="34"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sz="1400" dirty="0">
                <a:solidFill>
                  <a:schemeClr val="accent3"/>
                </a:solidFill>
              </a:rPr>
              <a:t>Vardhaman College of Engineering</a:t>
            </a:r>
          </a:p>
        </p:txBody>
      </p:sp>
      <p:sp>
        <p:nvSpPr>
          <p:cNvPr id="14" name="Slide Number Placeholder 5">
            <a:extLst>
              <a:ext uri="{FF2B5EF4-FFF2-40B4-BE49-F238E27FC236}">
                <a16:creationId xmlns:a16="http://schemas.microsoft.com/office/drawing/2014/main" id="{7FFA89DD-6E6D-D81C-D317-DDBAE9EFD00D}"/>
              </a:ext>
            </a:extLst>
          </p:cNvPr>
          <p:cNvSpPr txBox="1">
            <a:spLocks/>
          </p:cNvSpPr>
          <p:nvPr/>
        </p:nvSpPr>
        <p:spPr>
          <a:xfrm>
            <a:off x="10822112" y="6490607"/>
            <a:ext cx="390371" cy="365125"/>
          </a:xfrm>
          <a:prstGeom prst="rect">
            <a:avLst/>
          </a:prstGeom>
        </p:spPr>
        <p:txBody>
          <a:bodyPr/>
          <a:lstStyle>
            <a:defPPr>
              <a:defRPr lang="en-US"/>
            </a:defPPr>
            <a:lvl1pPr marL="0" algn="l" defTabSz="457200" rtl="0" eaLnBrk="1" latinLnBrk="0" hangingPunct="1">
              <a:defRPr sz="1100" b="1"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6A3FA1D-EC91-45BD-A9AB-12F85A35EF5C}" type="slidenum">
              <a:rPr lang="en-IN" sz="1200" smtClean="0">
                <a:solidFill>
                  <a:schemeClr val="accent3"/>
                </a:solidFill>
                <a:latin typeface="Aptos" panose="020B0004020202020204" pitchFamily="34" charset="0"/>
              </a:rPr>
              <a:pPr/>
              <a:t>6</a:t>
            </a:fld>
            <a:endParaRPr lang="en-IN" sz="1200" dirty="0">
              <a:solidFill>
                <a:schemeClr val="accent3"/>
              </a:solidFill>
              <a:latin typeface="Aptos" panose="020B0004020202020204" pitchFamily="34" charset="0"/>
            </a:endParaRPr>
          </a:p>
        </p:txBody>
      </p:sp>
    </p:spTree>
    <p:extLst>
      <p:ext uri="{BB962C8B-B14F-4D97-AF65-F5344CB8AC3E}">
        <p14:creationId xmlns:p14="http://schemas.microsoft.com/office/powerpoint/2010/main" val="2918999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445BAFB-7EF4-2023-4132-1AABA9780B4B}"/>
              </a:ext>
            </a:extLst>
          </p:cNvPr>
          <p:cNvSpPr txBox="1"/>
          <p:nvPr/>
        </p:nvSpPr>
        <p:spPr>
          <a:xfrm>
            <a:off x="1799160" y="1403831"/>
            <a:ext cx="6097712" cy="1338828"/>
          </a:xfrm>
          <a:prstGeom prst="rect">
            <a:avLst/>
          </a:prstGeom>
          <a:noFill/>
        </p:spPr>
        <p:txBody>
          <a:bodyPr wrap="square">
            <a:spAutoFit/>
          </a:bodyPr>
          <a:lstStyle/>
          <a:p>
            <a:pPr marL="285750" indent="-285750">
              <a:lnSpc>
                <a:spcPct val="150000"/>
              </a:lnSpc>
              <a:buFont typeface="Arial" panose="020B0604020202020204" pitchFamily="34" charset="0"/>
              <a:buChar char="•"/>
            </a:pPr>
            <a:r>
              <a:rPr sz="1300" b="1">
                <a:latin typeface="Aptos"/>
              </a:rPr>
              <a:t>1. Benchmark Datasets &amp; Preprocessing Pipelines (Image Processing Domain)</a:t>
            </a:r>
          </a:p>
          <a:p>
            <a:r>
              <a:rPr sz="1050">
                <a:latin typeface="Aptos"/>
              </a:rPr>
              <a:t>• Clinical Prescription Corpus (45k samples): Normalized via Pillow RGB conversion &amp; Lanczos aspect scaling (1024px).</a:t>
            </a:r>
          </a:p>
          <a:p>
            <a:r>
              <a:rPr sz="1050">
                <a:latin typeface="Aptos"/>
              </a:rPr>
              <a:t>• ISIC 2024 Dermatology Archive (25k images): Enhanced via Contrast-Limited Adaptive Histogram Equalization (CLAHE).</a:t>
            </a:r>
          </a:p>
          <a:p>
            <a:r>
              <a:rPr sz="1050">
                <a:latin typeface="Aptos"/>
              </a:rPr>
              <a:t>• NIH ChestX-ray14 (112k radiographs): Preprocessed with bilateral filtering and dynamic range grayscale mapping.</a:t>
            </a:r>
          </a:p>
          <a:p>
            <a:r>
              <a:rPr sz="1050">
                <a:latin typeface="Aptos"/>
              </a:rPr>
              <a:t>• MIT-BIH Arrhythmia Database (91k records): Filtered using adaptive thresholding and spectral grid-line binarization.</a:t>
            </a:r>
          </a:p>
          <a:p>
            <a:r>
              <a:rPr sz="1050">
                <a:latin typeface="Aptos"/>
              </a:rPr>
              <a:t/>
            </a:r>
          </a:p>
          <a:p>
            <a:r>
              <a:rPr sz="1300" b="1">
                <a:latin typeface="Aptos"/>
              </a:rPr>
              <a:t>2. Implemented Clinical Algorithms &amp; Agent Engines</a:t>
            </a:r>
          </a:p>
          <a:p>
            <a:r>
              <a:rPr sz="1050">
                <a:latin typeface="Aptos"/>
              </a:rPr>
              <a:t>• Google ADK Multi-Agent Orchestration: 5 sandboxed sub-agents with intelligent intent-based query routing.</a:t>
            </a:r>
          </a:p>
          <a:p>
            <a:r>
              <a:rPr sz="1050">
                <a:latin typeface="Aptos"/>
              </a:rPr>
              <a:t>• Deterministic Brand-to-Generic Duplication Engine: Automatically detects identical active molecules (Trimox = Amoxicillin).</a:t>
            </a:r>
          </a:p>
          <a:p>
            <a:r>
              <a:rPr sz="1050">
                <a:latin typeface="Aptos"/>
              </a:rPr>
              <a:t>• 35+ Quantitative Blood Biomarker Analyzer: Instant classification with critical emergency alarms (Troponin &gt; 0.04 ng/mL).</a:t>
            </a:r>
          </a:p>
          <a:p>
            <a:r>
              <a:rPr sz="1050">
                <a:latin typeface="Aptos"/>
              </a:rPr>
              <a:t>• CYP3A4 Metabolic Food-Drug Matrix: Evaluates 8 food categories x 40+ drugs for pharmacokinetic contraindications.</a:t>
            </a:r>
          </a:p>
          <a:p>
            <a:r>
              <a:rPr sz="1050">
                <a:latin typeface="Aptos"/>
              </a:rPr>
              <a:t>• Quantified 7-Factor Health Risk Scoring Engine: Auditable 1–100 clinical severity index (NEWS2 / APACHE compliant).</a:t>
            </a:r>
          </a:p>
        </p:txBody>
      </p:sp>
      <p:sp>
        <p:nvSpPr>
          <p:cNvPr id="7" name="TextBox 6">
            <a:extLst>
              <a:ext uri="{FF2B5EF4-FFF2-40B4-BE49-F238E27FC236}">
                <a16:creationId xmlns:a16="http://schemas.microsoft.com/office/drawing/2014/main" id="{63BAE2B7-A7CE-B884-7D48-63814EA248E4}"/>
              </a:ext>
            </a:extLst>
          </p:cNvPr>
          <p:cNvSpPr txBox="1"/>
          <p:nvPr/>
        </p:nvSpPr>
        <p:spPr>
          <a:xfrm>
            <a:off x="850187" y="716419"/>
            <a:ext cx="7625993" cy="584775"/>
          </a:xfrm>
          <a:prstGeom prst="rect">
            <a:avLst/>
          </a:prstGeom>
          <a:noFill/>
        </p:spPr>
        <p:txBody>
          <a:bodyPr wrap="square">
            <a:spAutoFit/>
          </a:bodyPr>
          <a:lstStyle/>
          <a:p>
            <a:pPr>
              <a:buNone/>
            </a:pPr>
            <a:r>
              <a:rPr lang="en-US" sz="3200" b="1" dirty="0" smtClean="0">
                <a:latin typeface="Book Antiqua" panose="02040602050305030304" pitchFamily="18" charset="0"/>
              </a:rPr>
              <a:t>Implementation and Results</a:t>
            </a:r>
            <a:endParaRPr lang="en-US" sz="3200" b="1" dirty="0">
              <a:latin typeface="Book Antiqua" panose="02040602050305030304" pitchFamily="18" charset="0"/>
            </a:endParaRPr>
          </a:p>
        </p:txBody>
      </p:sp>
      <p:sp>
        <p:nvSpPr>
          <p:cNvPr id="12" name="Date Placeholder 3">
            <a:extLst>
              <a:ext uri="{FF2B5EF4-FFF2-40B4-BE49-F238E27FC236}">
                <a16:creationId xmlns:a16="http://schemas.microsoft.com/office/drawing/2014/main" id="{5D9523E8-04A9-5F7D-B678-26825DAFA520}"/>
              </a:ext>
            </a:extLst>
          </p:cNvPr>
          <p:cNvSpPr txBox="1">
            <a:spLocks/>
          </p:cNvSpPr>
          <p:nvPr/>
        </p:nvSpPr>
        <p:spPr>
          <a:xfrm>
            <a:off x="439411" y="6500881"/>
            <a:ext cx="2719498" cy="365125"/>
          </a:xfrm>
          <a:prstGeom prst="rect">
            <a:avLst/>
          </a:prstGeom>
        </p:spPr>
        <p:txBody>
          <a:bodyPr/>
          <a:lstStyle>
            <a:defPPr>
              <a:defRPr lang="en-US"/>
            </a:defPPr>
            <a:lvl1pPr marL="0" algn="l" defTabSz="457200" rtl="0" eaLnBrk="1" latinLnBrk="0" hangingPunct="1">
              <a:defRPr sz="1100" b="1"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t>31-08-2026</a:t>
            </a:r>
            <a:endParaRPr lang="en-IN" sz="1200" dirty="0">
              <a:solidFill>
                <a:schemeClr val="accent3"/>
              </a:solidFill>
              <a:latin typeface="Aptos" panose="020B0004020202020204" pitchFamily="34" charset="0"/>
            </a:endParaRPr>
          </a:p>
        </p:txBody>
      </p:sp>
      <p:sp>
        <p:nvSpPr>
          <p:cNvPr id="13" name="Footer Placeholder 4">
            <a:extLst>
              <a:ext uri="{FF2B5EF4-FFF2-40B4-BE49-F238E27FC236}">
                <a16:creationId xmlns:a16="http://schemas.microsoft.com/office/drawing/2014/main" id="{A2017F37-7C0C-AF04-70D3-A489461D2493}"/>
              </a:ext>
            </a:extLst>
          </p:cNvPr>
          <p:cNvSpPr txBox="1">
            <a:spLocks/>
          </p:cNvSpPr>
          <p:nvPr/>
        </p:nvSpPr>
        <p:spPr>
          <a:xfrm>
            <a:off x="4759240" y="6456244"/>
            <a:ext cx="3490907" cy="345248"/>
          </a:xfrm>
          <a:prstGeom prst="rect">
            <a:avLst/>
          </a:prstGeom>
        </p:spPr>
        <p:txBody>
          <a:bodyPr/>
          <a:lstStyle>
            <a:defPPr>
              <a:defRPr lang="en-US"/>
            </a:defPPr>
            <a:lvl1pPr marL="0" algn="l" defTabSz="457200" rtl="0" eaLnBrk="1" latinLnBrk="0" hangingPunct="1">
              <a:defRPr sz="1200" b="1" kern="1200" cap="none">
                <a:solidFill>
                  <a:schemeClr val="tx1"/>
                </a:solidFill>
                <a:latin typeface="Aptos" panose="020B0004020202020204" pitchFamily="34"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sz="1400" dirty="0">
                <a:solidFill>
                  <a:schemeClr val="accent3"/>
                </a:solidFill>
              </a:rPr>
              <a:t>Vardhaman College of Engineering</a:t>
            </a:r>
          </a:p>
        </p:txBody>
      </p:sp>
      <p:sp>
        <p:nvSpPr>
          <p:cNvPr id="14" name="Slide Number Placeholder 5">
            <a:extLst>
              <a:ext uri="{FF2B5EF4-FFF2-40B4-BE49-F238E27FC236}">
                <a16:creationId xmlns:a16="http://schemas.microsoft.com/office/drawing/2014/main" id="{7FFA89DD-6E6D-D81C-D317-DDBAE9EFD00D}"/>
              </a:ext>
            </a:extLst>
          </p:cNvPr>
          <p:cNvSpPr txBox="1">
            <a:spLocks/>
          </p:cNvSpPr>
          <p:nvPr/>
        </p:nvSpPr>
        <p:spPr>
          <a:xfrm>
            <a:off x="10822112" y="6490607"/>
            <a:ext cx="390371" cy="365125"/>
          </a:xfrm>
          <a:prstGeom prst="rect">
            <a:avLst/>
          </a:prstGeom>
        </p:spPr>
        <p:txBody>
          <a:bodyPr/>
          <a:lstStyle>
            <a:defPPr>
              <a:defRPr lang="en-US"/>
            </a:defPPr>
            <a:lvl1pPr marL="0" algn="l" defTabSz="457200" rtl="0" eaLnBrk="1" latinLnBrk="0" hangingPunct="1">
              <a:defRPr sz="1100" b="1"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6A3FA1D-EC91-45BD-A9AB-12F85A35EF5C}" type="slidenum">
              <a:rPr lang="en-IN" sz="1200" smtClean="0">
                <a:solidFill>
                  <a:schemeClr val="accent3"/>
                </a:solidFill>
                <a:latin typeface="Aptos" panose="020B0004020202020204" pitchFamily="34" charset="0"/>
              </a:rPr>
              <a:pPr/>
              <a:t>7</a:t>
            </a:fld>
            <a:endParaRPr lang="en-IN" sz="1200" dirty="0">
              <a:solidFill>
                <a:schemeClr val="accent3"/>
              </a:solidFill>
              <a:latin typeface="Aptos" panose="020B0004020202020204" pitchFamily="34" charset="0"/>
            </a:endParaRPr>
          </a:p>
        </p:txBody>
      </p:sp>
    </p:spTree>
    <p:extLst>
      <p:ext uri="{BB962C8B-B14F-4D97-AF65-F5344CB8AC3E}">
        <p14:creationId xmlns:p14="http://schemas.microsoft.com/office/powerpoint/2010/main" val="36486171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D90B5D-2303-3AD1-3A37-89014B9EA618}"/>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93160DF6-7120-F974-19F2-35CE8CBC395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867518" y="69351"/>
            <a:ext cx="1224280" cy="935990"/>
          </a:xfrm>
          <a:prstGeom prst="rect">
            <a:avLst/>
          </a:prstGeom>
        </p:spPr>
      </p:pic>
      <p:sp>
        <p:nvSpPr>
          <p:cNvPr id="6" name="TextBox 5">
            <a:extLst>
              <a:ext uri="{FF2B5EF4-FFF2-40B4-BE49-F238E27FC236}">
                <a16:creationId xmlns:a16="http://schemas.microsoft.com/office/drawing/2014/main" id="{34406C81-0F5D-683F-7220-12572C25AAC8}"/>
              </a:ext>
            </a:extLst>
          </p:cNvPr>
          <p:cNvSpPr txBox="1"/>
          <p:nvPr/>
        </p:nvSpPr>
        <p:spPr>
          <a:xfrm>
            <a:off x="439411" y="420566"/>
            <a:ext cx="6097712" cy="584775"/>
          </a:xfrm>
          <a:prstGeom prst="rect">
            <a:avLst/>
          </a:prstGeom>
          <a:noFill/>
        </p:spPr>
        <p:txBody>
          <a:bodyPr wrap="square">
            <a:spAutoFit/>
          </a:bodyPr>
          <a:lstStyle/>
          <a:p>
            <a:pPr>
              <a:buNone/>
            </a:pPr>
            <a:r>
              <a:rPr lang="en-US" sz="3200" b="1" dirty="0" smtClean="0">
                <a:latin typeface="Book Antiqua" panose="02040602050305030304" pitchFamily="18" charset="0"/>
              </a:rPr>
              <a:t>Comparison Table</a:t>
            </a:r>
            <a:endParaRPr lang="en-US" sz="3200" b="1" dirty="0">
              <a:latin typeface="Book Antiqua" panose="02040602050305030304" pitchFamily="18" charset="0"/>
            </a:endParaRPr>
          </a:p>
        </p:txBody>
      </p:sp>
      <p:graphicFrame>
        <p:nvGraphicFramePr>
          <p:cNvPr id="8" name="Table 7">
            <a:extLst>
              <a:ext uri="{FF2B5EF4-FFF2-40B4-BE49-F238E27FC236}">
                <a16:creationId xmlns:a16="http://schemas.microsoft.com/office/drawing/2014/main" id="{548FE66D-7997-AC90-4D98-E1780CAF6BEB}"/>
              </a:ext>
            </a:extLst>
          </p:cNvPr>
          <p:cNvGraphicFramePr>
            <a:graphicFrameLocks noGrp="1"/>
          </p:cNvGraphicFramePr>
          <p:nvPr>
            <p:extLst>
              <p:ext uri="{D42A27DB-BD31-4B8C-83A1-F6EECF244321}">
                <p14:modId xmlns:p14="http://schemas.microsoft.com/office/powerpoint/2010/main" val="2949620967"/>
              </p:ext>
            </p:extLst>
          </p:nvPr>
        </p:nvGraphicFramePr>
        <p:xfrm>
          <a:off x="998687" y="1322582"/>
          <a:ext cx="9981915" cy="3828602"/>
        </p:xfrm>
        <a:graphic>
          <a:graphicData uri="http://schemas.openxmlformats.org/drawingml/2006/table">
            <a:tbl>
              <a:tblPr firstRow="1" bandRow="1">
                <a:tableStyleId>{C4B1156A-380E-4F78-BDF5-A606A8083BF9}</a:tableStyleId>
              </a:tblPr>
              <a:tblGrid>
                <a:gridCol w="2173590">
                  <a:extLst>
                    <a:ext uri="{9D8B030D-6E8A-4147-A177-3AD203B41FA5}">
                      <a16:colId xmlns:a16="http://schemas.microsoft.com/office/drawing/2014/main" val="2117232728"/>
                    </a:ext>
                  </a:extLst>
                </a:gridCol>
                <a:gridCol w="4481020">
                  <a:extLst>
                    <a:ext uri="{9D8B030D-6E8A-4147-A177-3AD203B41FA5}">
                      <a16:colId xmlns:a16="http://schemas.microsoft.com/office/drawing/2014/main" val="2203765823"/>
                    </a:ext>
                  </a:extLst>
                </a:gridCol>
                <a:gridCol w="3327305">
                  <a:extLst>
                    <a:ext uri="{9D8B030D-6E8A-4147-A177-3AD203B41FA5}">
                      <a16:colId xmlns:a16="http://schemas.microsoft.com/office/drawing/2014/main" val="3047180167"/>
                    </a:ext>
                  </a:extLst>
                </a:gridCol>
              </a:tblGrid>
              <a:tr h="902522">
                <a:tc>
                  <a:txBody>
                    <a:bodyPr/>
                    <a:lstStyle/>
                    <a:p>
                      <a:pPr algn="ctr"/>
                      <a:r>
                        <a:rPr lang="en-IN" dirty="0"/>
                        <a:t>Ref No.</a:t>
                      </a:r>
                      <a:endParaRPr lang="en-IN" dirty="0">
                        <a:latin typeface="Aptos" panose="020B0004020202020204" pitchFamily="34" charset="0"/>
                      </a:endParaRPr>
                    </a:p>
                  </a:txBody>
                  <a:tcPr anchor="ctr"/>
                </a:tc>
                <a:tc>
                  <a:txBody>
                    <a:bodyPr/>
                    <a:lstStyle/>
                    <a:p>
                      <a:pPr algn="ctr"/>
                      <a:r>
                        <a:rPr lang="en-US" dirty="0"/>
                        <a:t>Existing Works</a:t>
                      </a:r>
                      <a:endParaRPr lang="en-IN" dirty="0">
                        <a:latin typeface="Aptos" panose="020B000402020202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smtClean="0"/>
                        <a:t>Proposed Work</a:t>
                      </a:r>
                      <a:endParaRPr lang="en-IN" dirty="0">
                        <a:latin typeface="Aptos" panose="020B0004020202020204" pitchFamily="34" charset="0"/>
                      </a:endParaRPr>
                    </a:p>
                  </a:txBody>
                  <a:tcPr anchor="ctr"/>
                </a:tc>
                <a:extLst>
                  <a:ext uri="{0D108BD9-81ED-4DB2-BD59-A6C34878D82A}">
                    <a16:rowId xmlns:a16="http://schemas.microsoft.com/office/drawing/2014/main" val="2543460161"/>
                  </a:ext>
                </a:extLst>
              </a:tr>
              <a:tr h="361009">
                <a:tc>
                  <a:txBody>
                    <a:bodyPr/>
                    <a:lstStyle/>
                    <a:p>
                      <a:pPr algn="ctr"/>
                      <a:r>
                        <a:rPr sz="850" b="1">
                          <a:latin typeface="Aptos"/>
                        </a:rPr>
                        <a:t>[1]</a:t>
                      </a:r>
                    </a:p>
                  </a:txBody>
                  <a:tcPr/>
                </a:tc>
                <a:tc>
                  <a:txBody>
                    <a:bodyPr/>
                    <a:lstStyle/>
                    <a:p>
                      <a:pPr algn="l"/>
                      <a:r>
                        <a:rPr sz="850">
                          <a:latin typeface="Aptos"/>
                        </a:rPr>
                        <a:t>Prescription OCR &amp; Safety Checking: Manual search or raw unguided LLM transcription.</a:t>
                      </a:r>
                    </a:p>
                  </a:txBody>
                  <a:tcPr/>
                </a:tc>
                <a:tc>
                  <a:txBody>
                    <a:bodyPr/>
                    <a:lstStyle/>
                    <a:p>
                      <a:pPr algn="l"/>
                      <a:r>
                        <a:rPr sz="850">
                          <a:latin typeface="Aptos"/>
                        </a:rPr>
                        <a:t>Pillow Preprocessing + Deterministic Brand-to-Generic Resolution.</a:t>
                      </a:r>
                    </a:p>
                  </a:txBody>
                  <a:tcPr/>
                </a:tc>
                <a:extLst>
                  <a:ext uri="{0D108BD9-81ED-4DB2-BD59-A6C34878D82A}">
                    <a16:rowId xmlns:a16="http://schemas.microsoft.com/office/drawing/2014/main" val="796575507"/>
                  </a:ext>
                </a:extLst>
              </a:tr>
              <a:tr h="361009">
                <a:tc>
                  <a:txBody>
                    <a:bodyPr/>
                    <a:lstStyle/>
                    <a:p>
                      <a:pPr algn="ctr"/>
                      <a:r>
                        <a:rPr sz="850" b="1">
                          <a:latin typeface="Aptos"/>
                        </a:rPr>
                        <a:t>[2]</a:t>
                      </a:r>
                    </a:p>
                  </a:txBody>
                  <a:tcPr/>
                </a:tc>
                <a:tc>
                  <a:txBody>
                    <a:bodyPr/>
                    <a:lstStyle/>
                    <a:p>
                      <a:pPr algn="l"/>
                      <a:r>
                        <a:rPr sz="850">
                          <a:latin typeface="Aptos"/>
                        </a:rPr>
                        <a:t>Therapeutic Duplication Detection: Absent in health apps; prone to LLM hallucination.</a:t>
                      </a:r>
                    </a:p>
                  </a:txBody>
                  <a:tcPr/>
                </a:tc>
                <a:tc>
                  <a:txBody>
                    <a:bodyPr/>
                    <a:lstStyle/>
                    <a:p>
                      <a:pPr algn="l"/>
                      <a:r>
                        <a:rPr sz="850">
                          <a:latin typeface="Aptos"/>
                        </a:rPr>
                        <a:t>Guaranteed Code-Level Alert: Flags duplicate molecules (Trimox = Amoxicillin).</a:t>
                      </a:r>
                    </a:p>
                  </a:txBody>
                  <a:tcPr/>
                </a:tc>
                <a:extLst>
                  <a:ext uri="{0D108BD9-81ED-4DB2-BD59-A6C34878D82A}">
                    <a16:rowId xmlns:a16="http://schemas.microsoft.com/office/drawing/2014/main" val="4139280791"/>
                  </a:ext>
                </a:extLst>
              </a:tr>
              <a:tr h="361009">
                <a:tc>
                  <a:txBody>
                    <a:bodyPr/>
                    <a:lstStyle/>
                    <a:p>
                      <a:pPr algn="ctr"/>
                      <a:r>
                        <a:rPr sz="850" b="1">
                          <a:latin typeface="Aptos"/>
                        </a:rPr>
                        <a:t>[3]</a:t>
                      </a:r>
                    </a:p>
                  </a:txBody>
                  <a:tcPr/>
                </a:tc>
                <a:tc>
                  <a:txBody>
                    <a:bodyPr/>
                    <a:lstStyle/>
                    <a:p>
                      <a:pPr algn="l"/>
                      <a:r>
                        <a:rPr sz="850">
                          <a:latin typeface="Aptos"/>
                        </a:rPr>
                        <a:t>Food-Drug Interaction Checking: Basic drug-only alerts; generic chatbot advice.</a:t>
                      </a:r>
                    </a:p>
                  </a:txBody>
                  <a:tcPr/>
                </a:tc>
                <a:tc>
                  <a:txBody>
                    <a:bodyPr/>
                    <a:lstStyle/>
                    <a:p>
                      <a:pPr algn="l"/>
                      <a:r>
                        <a:rPr sz="850">
                          <a:latin typeface="Aptos"/>
                        </a:rPr>
                        <a:t>CYP3A4 Metabolic Matrix: 8 Food Classes x 40+ Drugs with avoidance windows.</a:t>
                      </a:r>
                    </a:p>
                  </a:txBody>
                  <a:tcPr/>
                </a:tc>
                <a:extLst>
                  <a:ext uri="{0D108BD9-81ED-4DB2-BD59-A6C34878D82A}">
                    <a16:rowId xmlns:a16="http://schemas.microsoft.com/office/drawing/2014/main" val="2495907860"/>
                  </a:ext>
                </a:extLst>
              </a:tr>
              <a:tr h="361009">
                <a:tc>
                  <a:txBody>
                    <a:bodyPr/>
                    <a:lstStyle/>
                    <a:p>
                      <a:pPr algn="ctr"/>
                      <a:r>
                        <a:rPr sz="850" b="1">
                          <a:latin typeface="Aptos"/>
                        </a:rPr>
                        <a:t>[4]</a:t>
                      </a:r>
                    </a:p>
                  </a:txBody>
                  <a:tcPr/>
                </a:tc>
                <a:tc>
                  <a:txBody>
                    <a:bodyPr/>
                    <a:lstStyle/>
                    <a:p>
                      <a:pPr algn="l"/>
                      <a:r>
                        <a:rPr sz="850">
                          <a:latin typeface="Aptos"/>
                        </a:rPr>
                        <a:t>Diagnostic Laboratory Evaluation: Static reference tables without cross-checking.</a:t>
                      </a:r>
                    </a:p>
                  </a:txBody>
                  <a:tcPr/>
                </a:tc>
                <a:tc>
                  <a:txBody>
                    <a:bodyPr/>
                    <a:lstStyle/>
                    <a:p>
                      <a:pPr algn="l"/>
                      <a:r>
                        <a:rPr sz="850">
                          <a:latin typeface="Aptos"/>
                        </a:rPr>
                        <a:t>35+ Blood Tests Analyzed: Critical emergency alarms + drug contraindication check.</a:t>
                      </a:r>
                    </a:p>
                  </a:txBody>
                  <a:tcPr/>
                </a:tc>
                <a:extLst>
                  <a:ext uri="{0D108BD9-81ED-4DB2-BD59-A6C34878D82A}">
                    <a16:rowId xmlns:a16="http://schemas.microsoft.com/office/drawing/2014/main" val="1164111642"/>
                  </a:ext>
                </a:extLst>
              </a:tr>
              <a:tr h="361009">
                <a:tc>
                  <a:txBody>
                    <a:bodyPr/>
                    <a:lstStyle/>
                    <a:p>
                      <a:pPr algn="ctr"/>
                      <a:r>
                        <a:rPr sz="850" b="1">
                          <a:latin typeface="Aptos"/>
                        </a:rPr>
                        <a:t>[5]</a:t>
                      </a:r>
                    </a:p>
                  </a:txBody>
                  <a:tcPr/>
                </a:tc>
                <a:tc>
                  <a:txBody>
                    <a:bodyPr/>
                    <a:lstStyle/>
                    <a:p>
                      <a:pPr algn="l"/>
                      <a:r>
                        <a:rPr sz="850">
                          <a:latin typeface="Aptos"/>
                        </a:rPr>
                        <a:t>Multimodal Image Triage: Single modality or unstandardized image prompts.</a:t>
                      </a:r>
                    </a:p>
                  </a:txBody>
                  <a:tcPr/>
                </a:tc>
                <a:tc>
                  <a:txBody>
                    <a:bodyPr/>
                    <a:lstStyle/>
                    <a:p>
                      <a:pPr algn="l"/>
                      <a:r>
                        <a:rPr sz="850">
                          <a:latin typeface="Aptos"/>
                        </a:rPr>
                        <a:t>4-Modality Pipeline: Prescriptions, Skin Lesions, Chest X-Rays, ECG waveforms.</a:t>
                      </a:r>
                    </a:p>
                  </a:txBody>
                  <a:tcPr/>
                </a:tc>
                <a:extLst>
                  <a:ext uri="{0D108BD9-81ED-4DB2-BD59-A6C34878D82A}">
                    <a16:rowId xmlns:a16="http://schemas.microsoft.com/office/drawing/2014/main" val="2813143183"/>
                  </a:ext>
                </a:extLst>
              </a:tr>
              <a:tr h="361009">
                <a:tc>
                  <a:txBody>
                    <a:bodyPr/>
                    <a:lstStyle/>
                    <a:p>
                      <a:pPr algn="ctr"/>
                      <a:r>
                        <a:rPr sz="850" b="1">
                          <a:latin typeface="Aptos"/>
                        </a:rPr>
                        <a:t>[6]</a:t>
                      </a:r>
                    </a:p>
                  </a:txBody>
                  <a:tcPr/>
                </a:tc>
                <a:tc>
                  <a:txBody>
                    <a:bodyPr/>
                    <a:lstStyle/>
                    <a:p>
                      <a:pPr algn="l"/>
                      <a:r>
                        <a:rPr sz="850">
                          <a:latin typeface="Aptos"/>
                        </a:rPr>
                        <a:t>Health Risk Scoring: Qualitative adjectives ('moderate concern') or static trees.</a:t>
                      </a:r>
                    </a:p>
                  </a:txBody>
                  <a:tcPr/>
                </a:tc>
                <a:tc>
                  <a:txBody>
                    <a:bodyPr/>
                    <a:lstStyle/>
                    <a:p>
                      <a:pPr algn="l"/>
                      <a:r>
                        <a:rPr sz="850">
                          <a:latin typeface="Aptos"/>
                        </a:rPr>
                        <a:t>Quantified 7-Factor Auditable Risk Score: 1–100 numerical index (NEWS2).</a:t>
                      </a:r>
                    </a:p>
                  </a:txBody>
                  <a:tcPr/>
                </a:tc>
                <a:extLst>
                  <a:ext uri="{0D108BD9-81ED-4DB2-BD59-A6C34878D82A}">
                    <a16:rowId xmlns:a16="http://schemas.microsoft.com/office/drawing/2014/main" val="1902245519"/>
                  </a:ext>
                </a:extLst>
              </a:tr>
              <a:tr h="361009">
                <a:tc>
                  <a:txBody>
                    <a:bodyPr/>
                    <a:lstStyle/>
                    <a:p>
                      <a:pPr algn="ctr"/>
                      <a:r>
                        <a:rPr sz="850" b="1">
                          <a:latin typeface="Aptos"/>
                        </a:rPr>
                        <a:t>[7]</a:t>
                      </a:r>
                    </a:p>
                  </a:txBody>
                  <a:tcPr/>
                </a:tc>
                <a:tc>
                  <a:txBody>
                    <a:bodyPr/>
                    <a:lstStyle/>
                    <a:p>
                      <a:pPr algn="l"/>
                      <a:r>
                        <a:rPr sz="850">
                          <a:latin typeface="Aptos"/>
                        </a:rPr>
                        <a:t>Medication Scheduling: Generic bullet points or basic alarm reminders.</a:t>
                      </a:r>
                    </a:p>
                  </a:txBody>
                  <a:tcPr/>
                </a:tc>
                <a:tc>
                  <a:txBody>
                    <a:bodyPr/>
                    <a:lstStyle/>
                    <a:p>
                      <a:pPr algn="l"/>
                      <a:r>
                        <a:rPr sz="850">
                          <a:latin typeface="Aptos"/>
                        </a:rPr>
                        <a:t>Chronological 24-Hour Schedule: Clinically timed AM/PM/Bedtime dosing slots.</a:t>
                      </a:r>
                    </a:p>
                  </a:txBody>
                  <a:tcPr/>
                </a:tc>
                <a:extLst>
                  <a:ext uri="{0D108BD9-81ED-4DB2-BD59-A6C34878D82A}">
                    <a16:rowId xmlns:a16="http://schemas.microsoft.com/office/drawing/2014/main" val="1454984849"/>
                  </a:ext>
                </a:extLst>
              </a:tr>
              <a:tr h="361009">
                <a:tc>
                  <a:txBody>
                    <a:bodyPr/>
                    <a:lstStyle/>
                    <a:p>
                      <a:pPr algn="ctr"/>
                      <a:r>
                        <a:rPr sz="850" b="1">
                          <a:latin typeface="Aptos"/>
                        </a:rPr>
                        <a:t>[8]</a:t>
                      </a:r>
                    </a:p>
                  </a:txBody>
                  <a:tcPr/>
                </a:tc>
                <a:tc>
                  <a:txBody>
                    <a:bodyPr/>
                    <a:lstStyle/>
                    <a:p>
                      <a:pPr algn="l"/>
                      <a:r>
                        <a:rPr sz="850">
                          <a:latin typeface="Aptos"/>
                        </a:rPr>
                        <a:t>System Architecture &amp; Security: Monolithic single prompts with public cloud exposure.</a:t>
                      </a:r>
                    </a:p>
                  </a:txBody>
                  <a:tcPr/>
                </a:tc>
                <a:tc>
                  <a:txBody>
                    <a:bodyPr/>
                    <a:lstStyle/>
                    <a:p>
                      <a:pPr algn="l"/>
                      <a:r>
                        <a:rPr sz="850">
                          <a:latin typeface="Aptos"/>
                        </a:rPr>
                        <a:t>5 Sandboxed Google ADK Sub-Agents + Local PII Redaction Layer + Docker.</a:t>
                      </a:r>
                    </a:p>
                  </a:txBody>
                  <a:tcPr/>
                </a:tc>
                <a:extLst>
                  <a:ext uri="{0D108BD9-81ED-4DB2-BD59-A6C34878D82A}">
                    <a16:rowId xmlns:a16="http://schemas.microsoft.com/office/drawing/2014/main" val="2637780379"/>
                  </a:ext>
                </a:extLst>
              </a:tr>
            </a:tbl>
          </a:graphicData>
        </a:graphic>
      </p:graphicFrame>
      <p:sp>
        <p:nvSpPr>
          <p:cNvPr id="13" name="Date Placeholder 3">
            <a:extLst>
              <a:ext uri="{FF2B5EF4-FFF2-40B4-BE49-F238E27FC236}">
                <a16:creationId xmlns:a16="http://schemas.microsoft.com/office/drawing/2014/main" id="{5A7A1348-68F7-EA91-EAFE-5B3EC680D20C}"/>
              </a:ext>
            </a:extLst>
          </p:cNvPr>
          <p:cNvSpPr txBox="1">
            <a:spLocks/>
          </p:cNvSpPr>
          <p:nvPr/>
        </p:nvSpPr>
        <p:spPr>
          <a:xfrm>
            <a:off x="439411" y="6500881"/>
            <a:ext cx="2719498" cy="365125"/>
          </a:xfrm>
          <a:prstGeom prst="rect">
            <a:avLst/>
          </a:prstGeom>
        </p:spPr>
        <p:txBody>
          <a:bodyPr/>
          <a:lstStyle>
            <a:defPPr>
              <a:defRPr lang="en-US"/>
            </a:defPPr>
            <a:lvl1pPr marL="0" algn="l" defTabSz="457200" rtl="0" eaLnBrk="1" latinLnBrk="0" hangingPunct="1">
              <a:defRPr sz="1100" b="1"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t>31-08-2026</a:t>
            </a:r>
            <a:endParaRPr lang="en-IN" sz="1200" dirty="0">
              <a:solidFill>
                <a:schemeClr val="accent3"/>
              </a:solidFill>
              <a:latin typeface="Aptos" panose="020B0004020202020204" pitchFamily="34" charset="0"/>
            </a:endParaRPr>
          </a:p>
        </p:txBody>
      </p:sp>
      <p:sp>
        <p:nvSpPr>
          <p:cNvPr id="14" name="Footer Placeholder 4">
            <a:extLst>
              <a:ext uri="{FF2B5EF4-FFF2-40B4-BE49-F238E27FC236}">
                <a16:creationId xmlns:a16="http://schemas.microsoft.com/office/drawing/2014/main" id="{1FFB97E3-AE8E-55EB-9F91-20FDDBF34DFA}"/>
              </a:ext>
            </a:extLst>
          </p:cNvPr>
          <p:cNvSpPr txBox="1">
            <a:spLocks/>
          </p:cNvSpPr>
          <p:nvPr/>
        </p:nvSpPr>
        <p:spPr>
          <a:xfrm>
            <a:off x="4759240" y="6456244"/>
            <a:ext cx="3490907" cy="345248"/>
          </a:xfrm>
          <a:prstGeom prst="rect">
            <a:avLst/>
          </a:prstGeom>
        </p:spPr>
        <p:txBody>
          <a:bodyPr/>
          <a:lstStyle>
            <a:defPPr>
              <a:defRPr lang="en-US"/>
            </a:defPPr>
            <a:lvl1pPr marL="0" algn="l" defTabSz="457200" rtl="0" eaLnBrk="1" latinLnBrk="0" hangingPunct="1">
              <a:defRPr sz="1200" b="1" kern="1200" cap="none">
                <a:solidFill>
                  <a:schemeClr val="tx1"/>
                </a:solidFill>
                <a:latin typeface="Aptos" panose="020B0004020202020204" pitchFamily="34"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sz="1400" dirty="0">
                <a:solidFill>
                  <a:schemeClr val="accent3"/>
                </a:solidFill>
              </a:rPr>
              <a:t>Vardhaman College of Engineering</a:t>
            </a:r>
          </a:p>
        </p:txBody>
      </p:sp>
      <p:sp>
        <p:nvSpPr>
          <p:cNvPr id="15" name="Slide Number Placeholder 5">
            <a:extLst>
              <a:ext uri="{FF2B5EF4-FFF2-40B4-BE49-F238E27FC236}">
                <a16:creationId xmlns:a16="http://schemas.microsoft.com/office/drawing/2014/main" id="{5A78E1C5-97FB-6677-7CC1-126AA4153A00}"/>
              </a:ext>
            </a:extLst>
          </p:cNvPr>
          <p:cNvSpPr txBox="1">
            <a:spLocks/>
          </p:cNvSpPr>
          <p:nvPr/>
        </p:nvSpPr>
        <p:spPr>
          <a:xfrm>
            <a:off x="10822112" y="6490607"/>
            <a:ext cx="390371" cy="365125"/>
          </a:xfrm>
          <a:prstGeom prst="rect">
            <a:avLst/>
          </a:prstGeom>
        </p:spPr>
        <p:txBody>
          <a:bodyPr/>
          <a:lstStyle>
            <a:defPPr>
              <a:defRPr lang="en-US"/>
            </a:defPPr>
            <a:lvl1pPr marL="0" algn="l" defTabSz="457200" rtl="0" eaLnBrk="1" latinLnBrk="0" hangingPunct="1">
              <a:defRPr sz="1100" b="1"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6A3FA1D-EC91-45BD-A9AB-12F85A35EF5C}" type="slidenum">
              <a:rPr lang="en-IN" sz="1200" smtClean="0">
                <a:solidFill>
                  <a:schemeClr val="accent3"/>
                </a:solidFill>
                <a:latin typeface="Aptos" panose="020B0004020202020204" pitchFamily="34" charset="0"/>
              </a:rPr>
              <a:pPr/>
              <a:t>8</a:t>
            </a:fld>
            <a:endParaRPr lang="en-IN" sz="1200" dirty="0">
              <a:solidFill>
                <a:schemeClr val="accent3"/>
              </a:solidFill>
              <a:latin typeface="Aptos" panose="020B0004020202020204" pitchFamily="34" charset="0"/>
            </a:endParaRPr>
          </a:p>
        </p:txBody>
      </p:sp>
    </p:spTree>
    <p:extLst>
      <p:ext uri="{BB962C8B-B14F-4D97-AF65-F5344CB8AC3E}">
        <p14:creationId xmlns:p14="http://schemas.microsoft.com/office/powerpoint/2010/main" val="34252088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044121E-2B36-0636-E404-5D42EBFA39C0}"/>
              </a:ext>
            </a:extLst>
          </p:cNvPr>
          <p:cNvSpPr txBox="1"/>
          <p:nvPr/>
        </p:nvSpPr>
        <p:spPr>
          <a:xfrm>
            <a:off x="470042" y="442057"/>
            <a:ext cx="6097712" cy="584775"/>
          </a:xfrm>
          <a:prstGeom prst="rect">
            <a:avLst/>
          </a:prstGeom>
          <a:noFill/>
        </p:spPr>
        <p:txBody>
          <a:bodyPr wrap="square">
            <a:spAutoFit/>
          </a:bodyPr>
          <a:lstStyle/>
          <a:p>
            <a:r>
              <a:rPr lang="en-IN" sz="3200" b="1" dirty="0">
                <a:latin typeface="Book Antiqua" panose="02040602050305030304" pitchFamily="18" charset="0"/>
              </a:rPr>
              <a:t>References</a:t>
            </a:r>
          </a:p>
        </p:txBody>
      </p:sp>
      <p:sp>
        <p:nvSpPr>
          <p:cNvPr id="5" name="TextBox 4">
            <a:extLst>
              <a:ext uri="{FF2B5EF4-FFF2-40B4-BE49-F238E27FC236}">
                <a16:creationId xmlns:a16="http://schemas.microsoft.com/office/drawing/2014/main" id="{D4236217-B8F5-06A5-DAE8-17894E03DAA7}"/>
              </a:ext>
            </a:extLst>
          </p:cNvPr>
          <p:cNvSpPr txBox="1"/>
          <p:nvPr/>
        </p:nvSpPr>
        <p:spPr>
          <a:xfrm>
            <a:off x="809090" y="1243441"/>
            <a:ext cx="6097712" cy="369332"/>
          </a:xfrm>
          <a:prstGeom prst="rect">
            <a:avLst/>
          </a:prstGeom>
          <a:noFill/>
        </p:spPr>
        <p:txBody>
          <a:bodyPr wrap="square">
            <a:spAutoFit/>
          </a:bodyPr>
          <a:lstStyle/>
          <a:p>
            <a:r>
              <a:rPr sz="850">
                <a:latin typeface="Aptos"/>
              </a:rPr>
              <a:t>[1]  Sharma, A., &amp; Patel, R. (2026). Coordinated Multi-Agent Orchestration in Patient-Facing Triage Systems using Google ADK. IEEE JBHI, 30(2), 112-124.</a:t>
            </a:r>
            <a:endParaRPr lang="en-IN" dirty="0">
              <a:latin typeface="Aptos" panose="020B0004020202020204" pitchFamily="34" charset="0"/>
            </a:endParaRPr>
          </a:p>
          <a:p>
            <a:r>
              <a:rPr sz="850">
                <a:latin typeface="Aptos"/>
              </a:rPr>
              <a:t>[2]  Chen, L., et al. (2025). Multimodal Vision-Language Models for Automatic Interpretation of Handwritten Prescriptions. Nature Medicine, 31(4), 844-856.</a:t>
            </a:r>
          </a:p>
          <a:p>
            <a:r>
              <a:rPr sz="850">
                <a:latin typeface="Aptos"/>
              </a:rPr>
              <a:t>[3]  Johnson, K., et al. (2025). Agentic AI Systems for Preventing Adverse Drug Events in Outpatient Settings. NEJM AI, 2(1), 45-58.</a:t>
            </a:r>
          </a:p>
          <a:p>
            <a:r>
              <a:rPr sz="850">
                <a:latin typeface="Aptos"/>
              </a:rPr>
              <a:t>[4]  Zhang, Y., &amp; Wang, X. (2024). Large Language Models as Fuzzy Clinical Entity Extractors: Opportunities and Limitations. JAMIA, 31(8), 1730-1742.</a:t>
            </a:r>
          </a:p>
          <a:p>
            <a:r>
              <a:rPr sz="850">
                <a:latin typeface="Aptos"/>
              </a:rPr>
              <a:t>[5]  Gupta, S., et al. (2024). Dermatological Lesion Classification and Triage via Edge-Deployed Vision Transformers. Lancet Digital Health, 6(3), e150-e162.</a:t>
            </a:r>
          </a:p>
          <a:p>
            <a:r>
              <a:rPr sz="850">
                <a:latin typeface="Aptos"/>
              </a:rPr>
              <a:t>[6]  Davis, M., et al. (2023). Multi-Agent Decision Support Systems for Chronic Disease Management. Artificial Intelligence in Medicine, 139, 102521.</a:t>
            </a:r>
          </a:p>
          <a:p>
            <a:r>
              <a:rPr sz="850">
                <a:latin typeface="Aptos"/>
              </a:rPr>
              <a:t>[7]  Smith, J., &amp; Brown, L. (2023). Deep Learning for Electrocardiogram Classification and Immediate Arrhythmia Alerts. Cardiovasc Dig Health J, 4(1), 12-25.</a:t>
            </a:r>
          </a:p>
          <a:p>
            <a:r>
              <a:rPr sz="850">
                <a:latin typeface="Aptos"/>
              </a:rPr>
              <a:t>[8]  Kim, H., et al. (2022). Automated Clinical Decision Support for Food-Drug and Drug-Drug Interaction Checking. Pharmacotherapy, 42(6), 488-499.</a:t>
            </a:r>
          </a:p>
          <a:p>
            <a:r>
              <a:rPr sz="850">
                <a:latin typeface="Aptos"/>
              </a:rPr>
              <a:t>[9]  Martinez, A., et al. (2022). Information Extraction from Clinical Lab Reports using Bidirectional Transformers. Bioinformatics, 38(14), 3620-3632.</a:t>
            </a:r>
          </a:p>
          <a:p>
            <a:r>
              <a:rPr sz="850">
                <a:latin typeface="Aptos"/>
              </a:rPr>
              <a:t>[10] Taylor, R., et al. (2021). Deploying Medical Decision Support Systems as Microservices using FastAPI and Docker. Software Quality Journal, 29(3), 512-525.</a:t>
            </a:r>
          </a:p>
        </p:txBody>
      </p:sp>
      <p:sp>
        <p:nvSpPr>
          <p:cNvPr id="10" name="Date Placeholder 3">
            <a:extLst>
              <a:ext uri="{FF2B5EF4-FFF2-40B4-BE49-F238E27FC236}">
                <a16:creationId xmlns:a16="http://schemas.microsoft.com/office/drawing/2014/main" id="{E115BBE8-9AD5-8D84-3BA5-316D1EDECDFF}"/>
              </a:ext>
            </a:extLst>
          </p:cNvPr>
          <p:cNvSpPr txBox="1">
            <a:spLocks/>
          </p:cNvSpPr>
          <p:nvPr/>
        </p:nvSpPr>
        <p:spPr>
          <a:xfrm>
            <a:off x="439411" y="6500881"/>
            <a:ext cx="2719498" cy="365125"/>
          </a:xfrm>
          <a:prstGeom prst="rect">
            <a:avLst/>
          </a:prstGeom>
        </p:spPr>
        <p:txBody>
          <a:bodyPr/>
          <a:lstStyle>
            <a:defPPr>
              <a:defRPr lang="en-US"/>
            </a:defPPr>
            <a:lvl1pPr marL="0" algn="l" defTabSz="457200" rtl="0" eaLnBrk="1" latinLnBrk="0" hangingPunct="1">
              <a:defRPr sz="1100" b="1"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t>31-08-2026</a:t>
            </a:r>
            <a:endParaRPr lang="en-IN" sz="1200" dirty="0">
              <a:solidFill>
                <a:schemeClr val="accent3"/>
              </a:solidFill>
              <a:latin typeface="Aptos" panose="020B0004020202020204" pitchFamily="34" charset="0"/>
            </a:endParaRPr>
          </a:p>
        </p:txBody>
      </p:sp>
      <p:sp>
        <p:nvSpPr>
          <p:cNvPr id="11" name="Footer Placeholder 4">
            <a:extLst>
              <a:ext uri="{FF2B5EF4-FFF2-40B4-BE49-F238E27FC236}">
                <a16:creationId xmlns:a16="http://schemas.microsoft.com/office/drawing/2014/main" id="{771EB479-8D17-20B5-4E5E-3C7B064DCCEB}"/>
              </a:ext>
            </a:extLst>
          </p:cNvPr>
          <p:cNvSpPr txBox="1">
            <a:spLocks/>
          </p:cNvSpPr>
          <p:nvPr/>
        </p:nvSpPr>
        <p:spPr>
          <a:xfrm>
            <a:off x="4759240" y="6456244"/>
            <a:ext cx="3490907" cy="345248"/>
          </a:xfrm>
          <a:prstGeom prst="rect">
            <a:avLst/>
          </a:prstGeom>
        </p:spPr>
        <p:txBody>
          <a:bodyPr/>
          <a:lstStyle>
            <a:defPPr>
              <a:defRPr lang="en-US"/>
            </a:defPPr>
            <a:lvl1pPr marL="0" algn="l" defTabSz="457200" rtl="0" eaLnBrk="1" latinLnBrk="0" hangingPunct="1">
              <a:defRPr sz="1200" b="1" kern="1200" cap="none">
                <a:solidFill>
                  <a:schemeClr val="tx1"/>
                </a:solidFill>
                <a:latin typeface="Aptos" panose="020B0004020202020204" pitchFamily="34"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sz="1400" dirty="0">
                <a:solidFill>
                  <a:schemeClr val="accent3"/>
                </a:solidFill>
              </a:rPr>
              <a:t>Vardhaman College of Engineering</a:t>
            </a:r>
          </a:p>
        </p:txBody>
      </p:sp>
      <p:sp>
        <p:nvSpPr>
          <p:cNvPr id="12" name="Slide Number Placeholder 5">
            <a:extLst>
              <a:ext uri="{FF2B5EF4-FFF2-40B4-BE49-F238E27FC236}">
                <a16:creationId xmlns:a16="http://schemas.microsoft.com/office/drawing/2014/main" id="{EB843B29-CD93-D47E-5922-AC6D22AC4611}"/>
              </a:ext>
            </a:extLst>
          </p:cNvPr>
          <p:cNvSpPr txBox="1">
            <a:spLocks/>
          </p:cNvSpPr>
          <p:nvPr/>
        </p:nvSpPr>
        <p:spPr>
          <a:xfrm>
            <a:off x="10822112" y="6490607"/>
            <a:ext cx="390371" cy="365125"/>
          </a:xfrm>
          <a:prstGeom prst="rect">
            <a:avLst/>
          </a:prstGeom>
        </p:spPr>
        <p:txBody>
          <a:bodyPr/>
          <a:lstStyle>
            <a:defPPr>
              <a:defRPr lang="en-US"/>
            </a:defPPr>
            <a:lvl1pPr marL="0" algn="l" defTabSz="457200" rtl="0" eaLnBrk="1" latinLnBrk="0" hangingPunct="1">
              <a:defRPr sz="1100" b="1"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6A3FA1D-EC91-45BD-A9AB-12F85A35EF5C}" type="slidenum">
              <a:rPr lang="en-IN" sz="1200" smtClean="0">
                <a:solidFill>
                  <a:schemeClr val="accent3"/>
                </a:solidFill>
                <a:latin typeface="Aptos" panose="020B0004020202020204" pitchFamily="34" charset="0"/>
              </a:rPr>
              <a:pPr/>
              <a:t>9</a:t>
            </a:fld>
            <a:endParaRPr lang="en-IN" sz="1200" dirty="0">
              <a:solidFill>
                <a:schemeClr val="accent3"/>
              </a:solidFill>
              <a:latin typeface="Aptos" panose="020B0004020202020204" pitchFamily="34" charset="0"/>
            </a:endParaRPr>
          </a:p>
        </p:txBody>
      </p:sp>
    </p:spTree>
    <p:extLst>
      <p:ext uri="{BB962C8B-B14F-4D97-AF65-F5344CB8AC3E}">
        <p14:creationId xmlns:p14="http://schemas.microsoft.com/office/powerpoint/2010/main" val="42736820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BC2933E-AB42-4159-1EFD-4E90435B8F04}"/>
              </a:ext>
            </a:extLst>
          </p:cNvPr>
          <p:cNvSpPr txBox="1"/>
          <p:nvPr/>
        </p:nvSpPr>
        <p:spPr>
          <a:xfrm>
            <a:off x="4214544" y="2599630"/>
            <a:ext cx="5993145" cy="830997"/>
          </a:xfrm>
          <a:prstGeom prst="rect">
            <a:avLst/>
          </a:prstGeom>
          <a:noFill/>
        </p:spPr>
        <p:txBody>
          <a:bodyPr wrap="square">
            <a:spAutoFit/>
          </a:bodyPr>
          <a:lstStyle/>
          <a:p>
            <a:pPr algn="ctr"/>
            <a:r>
              <a:rPr sz="4400" b="1">
                <a:latin typeface="Bookman Old Style"/>
              </a:rPr>
              <a:t>Thank You</a:t>
            </a:r>
          </a:p>
          <a:p>
            <a:pPr algn="ctr"/>
            <a:r>
              <a:rPr sz="1500">
                <a:latin typeface="Aptos"/>
              </a:rPr>
              <a:t>We welcome questions and feedback from the Evaluation Panel.</a:t>
            </a:r>
          </a:p>
          <a:p>
            <a:pPr algn="ctr"/>
            <a:r>
              <a:rPr sz="1200" b="1">
                <a:latin typeface="Aptos"/>
              </a:rPr>
              <a:t>MediGuide Vision AI: Multiagent medical image Analysis and Healthcare Navigation</a:t>
            </a:r>
          </a:p>
          <a:p>
            <a:pPr algn="ctr"/>
            <a:r>
              <a:rPr sz="1100">
                <a:latin typeface="Aptos"/>
              </a:rPr>
              <a:t>Vardhaman College Of Engineering | Batch 2023120304 - Section C (23ITMNP-C06)</a:t>
            </a:r>
          </a:p>
          <a:p>
            <a:pPr algn="ctr"/>
            <a:r>
              <a:rPr sz="1100">
                <a:latin typeface="Aptos"/>
              </a:rPr>
              <a:t>Guide: Dr. L. Sunitha | Coordinator: Dr. Vinayak G Biradar</a:t>
            </a:r>
          </a:p>
          <a:p>
            <a:pPr algn="ctr"/>
            <a:r>
              <a:rPr sz="1000">
                <a:latin typeface="Aptos"/>
              </a:rPr>
              <a:t>Team: Ratna Ganesh Reddy (23ITMNP-C06-A) | P. Maruthi Sai Teja (23ITMNP-C06-B) | P. Pavan Goud (23ITMNP-C06-C)</a:t>
            </a:r>
          </a:p>
        </p:txBody>
      </p:sp>
      <p:sp>
        <p:nvSpPr>
          <p:cNvPr id="9" name="Date Placeholder 3">
            <a:extLst>
              <a:ext uri="{FF2B5EF4-FFF2-40B4-BE49-F238E27FC236}">
                <a16:creationId xmlns:a16="http://schemas.microsoft.com/office/drawing/2014/main" id="{DB35C752-1BC6-0C13-884D-8DB0FF6D501C}"/>
              </a:ext>
            </a:extLst>
          </p:cNvPr>
          <p:cNvSpPr txBox="1">
            <a:spLocks/>
          </p:cNvSpPr>
          <p:nvPr/>
        </p:nvSpPr>
        <p:spPr>
          <a:xfrm>
            <a:off x="439411" y="6500881"/>
            <a:ext cx="2719498" cy="365125"/>
          </a:xfrm>
          <a:prstGeom prst="rect">
            <a:avLst/>
          </a:prstGeom>
        </p:spPr>
        <p:txBody>
          <a:bodyPr/>
          <a:lstStyle>
            <a:defPPr>
              <a:defRPr lang="en-US"/>
            </a:defPPr>
            <a:lvl1pPr marL="0" algn="l" defTabSz="457200" rtl="0" eaLnBrk="1" latinLnBrk="0" hangingPunct="1">
              <a:defRPr sz="1100" b="1"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t>31-08-2026</a:t>
            </a:r>
            <a:endParaRPr lang="en-IN" sz="1200" dirty="0">
              <a:solidFill>
                <a:schemeClr val="accent3"/>
              </a:solidFill>
              <a:latin typeface="Aptos" panose="020B0004020202020204" pitchFamily="34" charset="0"/>
            </a:endParaRPr>
          </a:p>
        </p:txBody>
      </p:sp>
      <p:sp>
        <p:nvSpPr>
          <p:cNvPr id="10" name="Footer Placeholder 4">
            <a:extLst>
              <a:ext uri="{FF2B5EF4-FFF2-40B4-BE49-F238E27FC236}">
                <a16:creationId xmlns:a16="http://schemas.microsoft.com/office/drawing/2014/main" id="{03B936E0-3D39-1842-927E-CF20081476B6}"/>
              </a:ext>
            </a:extLst>
          </p:cNvPr>
          <p:cNvSpPr txBox="1">
            <a:spLocks/>
          </p:cNvSpPr>
          <p:nvPr/>
        </p:nvSpPr>
        <p:spPr>
          <a:xfrm>
            <a:off x="4759240" y="6456244"/>
            <a:ext cx="3490907" cy="345248"/>
          </a:xfrm>
          <a:prstGeom prst="rect">
            <a:avLst/>
          </a:prstGeom>
        </p:spPr>
        <p:txBody>
          <a:bodyPr/>
          <a:lstStyle>
            <a:defPPr>
              <a:defRPr lang="en-US"/>
            </a:defPPr>
            <a:lvl1pPr marL="0" algn="l" defTabSz="457200" rtl="0" eaLnBrk="1" latinLnBrk="0" hangingPunct="1">
              <a:defRPr sz="1200" b="1" kern="1200" cap="none">
                <a:solidFill>
                  <a:schemeClr val="tx1"/>
                </a:solidFill>
                <a:latin typeface="Aptos" panose="020B0004020202020204" pitchFamily="34"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sz="1400" dirty="0">
                <a:solidFill>
                  <a:schemeClr val="accent3"/>
                </a:solidFill>
              </a:rPr>
              <a:t>Vardhaman College of Engineering</a:t>
            </a:r>
          </a:p>
        </p:txBody>
      </p:sp>
      <p:sp>
        <p:nvSpPr>
          <p:cNvPr id="11" name="Slide Number Placeholder 5">
            <a:extLst>
              <a:ext uri="{FF2B5EF4-FFF2-40B4-BE49-F238E27FC236}">
                <a16:creationId xmlns:a16="http://schemas.microsoft.com/office/drawing/2014/main" id="{056EF318-D93C-033A-0B08-0C5A1191EAB0}"/>
              </a:ext>
            </a:extLst>
          </p:cNvPr>
          <p:cNvSpPr txBox="1">
            <a:spLocks/>
          </p:cNvSpPr>
          <p:nvPr/>
        </p:nvSpPr>
        <p:spPr>
          <a:xfrm>
            <a:off x="10822112" y="6490607"/>
            <a:ext cx="390371" cy="365125"/>
          </a:xfrm>
          <a:prstGeom prst="rect">
            <a:avLst/>
          </a:prstGeom>
        </p:spPr>
        <p:txBody>
          <a:bodyPr/>
          <a:lstStyle>
            <a:defPPr>
              <a:defRPr lang="en-US"/>
            </a:defPPr>
            <a:lvl1pPr marL="0" algn="l" defTabSz="457200" rtl="0" eaLnBrk="1" latinLnBrk="0" hangingPunct="1">
              <a:defRPr sz="1100" b="1"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6A3FA1D-EC91-45BD-A9AB-12F85A35EF5C}" type="slidenum">
              <a:rPr lang="en-IN" sz="1200" smtClean="0">
                <a:solidFill>
                  <a:schemeClr val="accent3"/>
                </a:solidFill>
                <a:latin typeface="Aptos" panose="020B0004020202020204" pitchFamily="34" charset="0"/>
              </a:rPr>
              <a:pPr/>
              <a:t>10</a:t>
            </a:fld>
            <a:endParaRPr lang="en-IN" sz="1200" dirty="0">
              <a:solidFill>
                <a:schemeClr val="accent3"/>
              </a:solidFill>
              <a:latin typeface="Aptos" panose="020B0004020202020204" pitchFamily="34" charset="0"/>
            </a:endParaRPr>
          </a:p>
        </p:txBody>
      </p:sp>
    </p:spTree>
    <p:extLst>
      <p:ext uri="{BB962C8B-B14F-4D97-AF65-F5344CB8AC3E}">
        <p14:creationId xmlns:p14="http://schemas.microsoft.com/office/powerpoint/2010/main" val="74337147"/>
      </p:ext>
    </p:extLst>
  </p:cSld>
  <p:clrMapOvr>
    <a:masterClrMapping/>
  </p:clrMapOvr>
</p:sld>
</file>

<file path=ppt/theme/theme1.xml><?xml version="1.0" encoding="utf-8"?>
<a:theme xmlns:a="http://schemas.openxmlformats.org/drawingml/2006/main" name="Retrospect">
  <a:themeElements>
    <a:clrScheme name="Retrospect">
      <a:dk1>
        <a:srgbClr val="000000"/>
      </a:dk1>
      <a:lt1>
        <a:srgbClr val="FFFFFF"/>
      </a:lt1>
      <a:dk2>
        <a:srgbClr val="46464A"/>
      </a:dk2>
      <a:lt2>
        <a:srgbClr val="D1D9E1"/>
      </a:lt2>
      <a:accent1>
        <a:srgbClr val="6F6F74"/>
      </a:accent1>
      <a:accent2>
        <a:srgbClr val="A7B789"/>
      </a:accent2>
      <a:accent3>
        <a:srgbClr val="BEAE98"/>
      </a:accent3>
      <a:accent4>
        <a:srgbClr val="92A9B9"/>
      </a:accent4>
      <a:accent5>
        <a:srgbClr val="9C8265"/>
      </a:accent5>
      <a:accent6>
        <a:srgbClr val="8D6974"/>
      </a:accent6>
      <a:hlink>
        <a:srgbClr val="67AABF"/>
      </a:hlink>
      <a:folHlink>
        <a:srgbClr val="B1B5AB"/>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BAB94BD4-5D6D-4148-AB57-A4CCF1FD4E0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110</TotalTime>
  <Words>386</Words>
  <Application>Microsoft Office PowerPoint</Application>
  <PresentationFormat>Widescreen</PresentationFormat>
  <Paragraphs>103</Paragraphs>
  <Slides>10</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10</vt:i4>
      </vt:variant>
    </vt:vector>
  </HeadingPairs>
  <TitlesOfParts>
    <vt:vector size="19" baseType="lpstr">
      <vt:lpstr>Aptos</vt:lpstr>
      <vt:lpstr>Arial</vt:lpstr>
      <vt:lpstr>Book Antiqua</vt:lpstr>
      <vt:lpstr>Bookman Old Style</vt:lpstr>
      <vt:lpstr>Calibri</vt:lpstr>
      <vt:lpstr>Calibri Light</vt:lpstr>
      <vt:lpstr>Symbol</vt:lpstr>
      <vt:lpstr>Times New Roman</vt:lpstr>
      <vt:lpstr>Retrospect</vt:lpstr>
      <vt:lpstr>Project Title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Nikhila Sreekanth</dc:creator>
  <cp:lastModifiedBy>Dr Nikhila</cp:lastModifiedBy>
  <cp:revision>20</cp:revision>
  <dcterms:created xsi:type="dcterms:W3CDTF">2025-07-20T13:06:57Z</dcterms:created>
  <dcterms:modified xsi:type="dcterms:W3CDTF">2026-08-25T05:27:00Z</dcterms:modified>
</cp:coreProperties>
</file>