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handoutMasterIdLst>
    <p:handoutMasterId r:id="rId14"/>
  </p:handoutMasterIdLst>
  <p:sldIdLst>
    <p:sldId id="256" r:id="rId2"/>
    <p:sldId id="257" r:id="rId3"/>
    <p:sldId id="258" r:id="rId4"/>
    <p:sldId id="259" r:id="rId5"/>
    <p:sldId id="260" r:id="rId6"/>
    <p:sldId id="267" r:id="rId7"/>
    <p:sldId id="266" r:id="rId8"/>
    <p:sldId id="261"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92F053-65F9-A0A5-CE90-B80640DEEF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62ED75F-81BD-BAC2-CBE3-1873149B8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3A9A-AD8E-48B6-B5D3-F09F0765AD5D}" type="datetimeFigureOut">
              <a:rPr lang="en-IN" smtClean="0"/>
              <a:t>01-07-2026</a:t>
            </a:fld>
            <a:endParaRPr lang="en-IN"/>
          </a:p>
        </p:txBody>
      </p:sp>
      <p:sp>
        <p:nvSpPr>
          <p:cNvPr id="4" name="Footer Placeholder 3">
            <a:extLst>
              <a:ext uri="{FF2B5EF4-FFF2-40B4-BE49-F238E27FC236}">
                <a16:creationId xmlns:a16="http://schemas.microsoft.com/office/drawing/2014/main" id="{AE5B6B0F-CF07-9A9B-9298-C1F9BF57D3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BCEFBF-B731-6D89-8205-4903D14DDB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8B6C1D-1046-4A6D-80B1-1C6B3A26471E}" type="slidenum">
              <a:rPr lang="en-IN" smtClean="0"/>
              <a:t>‹#›</a:t>
            </a:fld>
            <a:endParaRPr lang="en-IN"/>
          </a:p>
        </p:txBody>
      </p:sp>
    </p:spTree>
    <p:extLst>
      <p:ext uri="{BB962C8B-B14F-4D97-AF65-F5344CB8AC3E}">
        <p14:creationId xmlns:p14="http://schemas.microsoft.com/office/powerpoint/2010/main" val="325911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F447A-76D7-4DCE-9997-759B9E4673F9}" type="datetimeFigureOut">
              <a:rPr lang="en-IN" smtClean="0"/>
              <a:t>01-07-2026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DE63D-82B2-451D-864F-FFE087DE8B74}" type="slidenum">
              <a:rPr lang="en-IN" smtClean="0"/>
              <a:t>‹#›</a:t>
            </a:fld>
            <a:endParaRPr lang="en-IN"/>
          </a:p>
        </p:txBody>
      </p:sp>
    </p:spTree>
    <p:extLst>
      <p:ext uri="{BB962C8B-B14F-4D97-AF65-F5344CB8AC3E}">
        <p14:creationId xmlns:p14="http://schemas.microsoft.com/office/powerpoint/2010/main" val="142463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
        <p:nvSpPr>
          <p:cNvPr id="12" name="Title 11">
            <a:extLst>
              <a:ext uri="{FF2B5EF4-FFF2-40B4-BE49-F238E27FC236}">
                <a16:creationId xmlns:a16="http://schemas.microsoft.com/office/drawing/2014/main" id="{A3FE11C5-A892-3527-F2D6-79044A65926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0936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827DAF-95E8-4AE4-8F29-F27484FD6428}" type="datetime1">
              <a:rPr lang="en-IN" smtClean="0"/>
              <a:t>01-07-2026</a:t>
            </a:fld>
            <a:endParaRPr lang="en-IN"/>
          </a:p>
        </p:txBody>
      </p:sp>
      <p:sp>
        <p:nvSpPr>
          <p:cNvPr id="5" name="Footer Placeholder 4"/>
          <p:cNvSpPr>
            <a:spLocks noGrp="1"/>
          </p:cNvSpPr>
          <p:nvPr>
            <p:ph type="ftr" sz="quarter" idx="11"/>
          </p:nvPr>
        </p:nvSpPr>
        <p:spPr/>
        <p:txBody>
          <a:bodyPr/>
          <a:lstStyle/>
          <a:p>
            <a:r>
              <a:rPr lang="en-IN"/>
              <a:t>Vardhaman College Of Engineering</a:t>
            </a:r>
            <a:endParaRPr lang="en-IN" dirty="0"/>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900064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FCD47-ACA7-42E3-9E5F-46D28F163962}" type="datetime1">
              <a:rPr lang="en-IN" smtClean="0"/>
              <a:t>01-07-2026</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168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9AF5DF-754D-4D58-9EDF-7032AC7C93FF}" type="datetime1">
              <a:rPr lang="en-IN" smtClean="0"/>
              <a:t>01-07-2026</a:t>
            </a:fld>
            <a:endParaRPr lang="en-IN"/>
          </a:p>
        </p:txBody>
      </p:sp>
      <p:sp>
        <p:nvSpPr>
          <p:cNvPr id="6" name="Footer Placeholder 5"/>
          <p:cNvSpPr>
            <a:spLocks noGrp="1"/>
          </p:cNvSpPr>
          <p:nvPr>
            <p:ph type="ftr" sz="quarter" idx="11"/>
          </p:nvPr>
        </p:nvSpPr>
        <p:spPr/>
        <p:txBody>
          <a:bodyPr/>
          <a:lstStyle/>
          <a:p>
            <a:r>
              <a:rPr lang="en-IN"/>
              <a:t>Vardhaman College Of Engineering</a:t>
            </a:r>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23092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CF4429-411E-4337-96DF-B2B42568BAE7}" type="datetime1">
              <a:rPr lang="en-IN" smtClean="0"/>
              <a:t>01-07-2026</a:t>
            </a:fld>
            <a:endParaRPr lang="en-IN"/>
          </a:p>
        </p:txBody>
      </p:sp>
      <p:sp>
        <p:nvSpPr>
          <p:cNvPr id="8" name="Footer Placeholder 7"/>
          <p:cNvSpPr>
            <a:spLocks noGrp="1"/>
          </p:cNvSpPr>
          <p:nvPr>
            <p:ph type="ftr" sz="quarter" idx="11"/>
          </p:nvPr>
        </p:nvSpPr>
        <p:spPr/>
        <p:txBody>
          <a:body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3451763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663881-DA3B-49D1-A23E-AEA91CA42425}" type="datetime1">
              <a:rPr lang="en-IN" smtClean="0"/>
              <a:t>01-07-2026</a:t>
            </a:fld>
            <a:endParaRPr lang="en-IN"/>
          </a:p>
        </p:txBody>
      </p:sp>
      <p:sp>
        <p:nvSpPr>
          <p:cNvPr id="4" name="Footer Placeholder 3"/>
          <p:cNvSpPr>
            <a:spLocks noGrp="1"/>
          </p:cNvSpPr>
          <p:nvPr>
            <p:ph type="ftr" sz="quarter" idx="11"/>
          </p:nvPr>
        </p:nvSpPr>
        <p:spPr/>
        <p:txBody>
          <a:bodyPr/>
          <a:lstStyle/>
          <a:p>
            <a:r>
              <a:rPr lang="en-IN"/>
              <a:t>Vardhaman College Of Engineering</a:t>
            </a:r>
          </a:p>
        </p:txBody>
      </p:sp>
      <p:sp>
        <p:nvSpPr>
          <p:cNvPr id="5" name="Slide Number Placeholder 4"/>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005834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01-07-2026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2" name="Picture 1">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2659696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115AD5-8487-4FDE-8528-C9F7488F6ABD}" type="datetime1">
              <a:rPr lang="en-IN" smtClean="0"/>
              <a:t>01-07-2026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Vardhaman College Of Engineering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A3FA1D-EC91-45BD-A9AB-12F85A35EF5C}" type="slidenum">
              <a:rPr lang="en-IN" smtClean="0"/>
              <a:t>‹#›</a:t>
            </a:fld>
            <a:endParaRPr lang="en-IN"/>
          </a:p>
        </p:txBody>
      </p:sp>
    </p:spTree>
    <p:extLst>
      <p:ext uri="{BB962C8B-B14F-4D97-AF65-F5344CB8AC3E}">
        <p14:creationId xmlns:p14="http://schemas.microsoft.com/office/powerpoint/2010/main" val="3898349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645D7-53DB-474E-B4B6-AED3786E1B39}" type="datetime1">
              <a:rPr lang="en-IN" smtClean="0"/>
              <a:t>01-07-2026</a:t>
            </a:fld>
            <a:endParaRPr lang="en-IN"/>
          </a:p>
        </p:txBody>
      </p:sp>
      <p:sp>
        <p:nvSpPr>
          <p:cNvPr id="6" name="Footer Placeholder 5"/>
          <p:cNvSpPr>
            <a:spLocks noGrp="1"/>
          </p:cNvSpPr>
          <p:nvPr>
            <p:ph type="ftr" sz="quarter" idx="11"/>
          </p:nvPr>
        </p:nvSpPr>
        <p:spPr/>
        <p:txBody>
          <a:bodyPr/>
          <a:lstStyle/>
          <a:p>
            <a:r>
              <a:rPr lang="en-IN"/>
              <a:t>Vardhaman College Of Engineering</a:t>
            </a:r>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851120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F6F967-1531-4F87-B562-081FA498D978}" type="datetime1">
              <a:rPr lang="en-IN" smtClean="0"/>
              <a:t>01-07-2026</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1270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9F6713-C2D6-415F-8132-AD7A60E4F634}" type="datetime1">
              <a:rPr lang="en-IN" smtClean="0"/>
              <a:t>01-07-2026</a:t>
            </a:fld>
            <a:endParaRPr lang="en-IN"/>
          </a:p>
        </p:txBody>
      </p:sp>
      <p:sp>
        <p:nvSpPr>
          <p:cNvPr id="5" name="Footer Placeholder 4"/>
          <p:cNvSpPr>
            <a:spLocks noGrp="1"/>
          </p:cNvSpPr>
          <p:nvPr>
            <p:ph type="ftr" sz="quarter" idx="11"/>
          </p:nvPr>
        </p:nvSpPr>
        <p:spPr/>
        <p:txBody>
          <a:bodyPr/>
          <a:lstStyle/>
          <a:p>
            <a:r>
              <a:rPr lang="en-IN"/>
              <a:t>Vardhaman College Of Engineering</a:t>
            </a:r>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477649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B0B4F14-0AF0-4BBA-AB5B-5550FC29C108}" type="datetime1">
              <a:rPr lang="en-IN" smtClean="0"/>
              <a:t>01-07-2026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Vardhaman College Of Engineering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A3FA1D-EC91-45BD-A9AB-12F85A35EF5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4161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890B9D4-4050-D93B-860F-DFBB39B06DA4}"/>
              </a:ext>
            </a:extLst>
          </p:cNvPr>
          <p:cNvSpPr>
            <a:spLocks noGrp="1"/>
          </p:cNvSpPr>
          <p:nvPr>
            <p:ph type="subTitle" idx="1"/>
          </p:nvPr>
        </p:nvSpPr>
        <p:spPr>
          <a:xfrm>
            <a:off x="1678112" y="4629452"/>
            <a:ext cx="9144000" cy="1288461"/>
          </a:xfrm>
        </p:spPr>
        <p:txBody>
          <a:bodyPr>
            <a:normAutofit/>
          </a:bodyPr>
          <a:lstStyle/>
          <a:p>
            <a:r>
              <a:rPr b="1"/>
              <a:t>PRESENTED BY  —  23ITMNP-B01</a:t>
            </a:r>
            <a:endParaRPr lang="en-IN" sz="1800" b="1" dirty="0">
              <a:latin typeface="Aptos" panose="020B0004020202020204" pitchFamily="34" charset="0"/>
            </a:endParaRPr>
          </a:p>
          <a:p>
            <a:r>
              <a:t>Maruthi Sai Teja  —  23ITMNP-B01</a:t>
            </a:r>
          </a:p>
          <a:p>
            <a:r>
              <a:t>Student Name 2  —  Roll No. 2</a:t>
            </a:r>
          </a:p>
          <a:p>
            <a:r>
              <a:t>Student Name 3  —  Roll No. 3</a:t>
            </a:r>
          </a:p>
        </p:txBody>
      </p:sp>
      <p:sp>
        <p:nvSpPr>
          <p:cNvPr id="5" name="TextBox 4">
            <a:extLst>
              <a:ext uri="{FF2B5EF4-FFF2-40B4-BE49-F238E27FC236}">
                <a16:creationId xmlns:a16="http://schemas.microsoft.com/office/drawing/2014/main" id="{95CE0860-16C3-CAC3-0042-2B36512832B1}"/>
              </a:ext>
            </a:extLst>
          </p:cNvPr>
          <p:cNvSpPr txBox="1"/>
          <p:nvPr/>
        </p:nvSpPr>
        <p:spPr>
          <a:xfrm>
            <a:off x="3047144" y="2228548"/>
            <a:ext cx="6097712" cy="1132169"/>
          </a:xfrm>
          <a:prstGeom prst="rect">
            <a:avLst/>
          </a:prstGeom>
          <a:noFill/>
        </p:spPr>
        <p:txBody>
          <a:bodyPr wrap="square">
            <a:spAutoFit/>
          </a:bodyPr>
          <a:lstStyle/>
          <a:p>
            <a:pPr algn="ctr">
              <a:lnSpc>
                <a:spcPct val="150000"/>
              </a:lnSpc>
            </a:pPr>
            <a:r>
              <a:t>Guided By</a:t>
            </a:r>
            <a:endParaRPr lang="en-IN" dirty="0"/>
          </a:p>
          <a:p>
            <a:r>
              <a:t>Name of the Guide</a:t>
            </a:r>
          </a:p>
          <a:p>
            <a:r>
              <a:t>Assistant Professor, Dept. of IT</a:t>
            </a:r>
          </a:p>
        </p:txBody>
      </p:sp>
      <p:sp>
        <p:nvSpPr>
          <p:cNvPr id="7" name="Title 6">
            <a:extLst>
              <a:ext uri="{FF2B5EF4-FFF2-40B4-BE49-F238E27FC236}">
                <a16:creationId xmlns:a16="http://schemas.microsoft.com/office/drawing/2014/main" id="{9D71A4F2-345D-CE88-B7EC-AF0B0758DF72}"/>
              </a:ext>
            </a:extLst>
          </p:cNvPr>
          <p:cNvSpPr>
            <a:spLocks noGrp="1"/>
          </p:cNvSpPr>
          <p:nvPr>
            <p:ph type="ctrTitle"/>
          </p:nvPr>
        </p:nvSpPr>
        <p:spPr>
          <a:xfrm>
            <a:off x="1107896" y="1069604"/>
            <a:ext cx="10058400" cy="1100670"/>
          </a:xfrm>
        </p:spPr>
        <p:txBody>
          <a:bodyPr>
            <a:normAutofit/>
          </a:bodyPr>
          <a:lstStyle/>
          <a:p>
            <a:pPr algn="ctr"/>
            <a:r>
              <a:t>MediGuide AI: A Multimodal Multi-Agent Healthcare Navigation System</a:t>
            </a:r>
          </a:p>
        </p:txBody>
      </p:sp>
      <p:sp>
        <p:nvSpPr>
          <p:cNvPr id="9" name="Date Placeholder 3"/>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1" name="Footer Placeholder 4"/>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30338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3C805-72CF-E36C-2B96-3FADC11B9A63}"/>
              </a:ext>
            </a:extLst>
          </p:cNvPr>
          <p:cNvSpPr txBox="1"/>
          <p:nvPr/>
        </p:nvSpPr>
        <p:spPr>
          <a:xfrm>
            <a:off x="583058" y="308493"/>
            <a:ext cx="6097712" cy="584775"/>
          </a:xfrm>
          <a:prstGeom prst="rect">
            <a:avLst/>
          </a:prstGeom>
          <a:noFill/>
        </p:spPr>
        <p:txBody>
          <a:bodyPr wrap="square">
            <a:spAutoFit/>
          </a:bodyPr>
          <a:lstStyle/>
          <a:p>
            <a:r>
              <a:rPr lang="en-IN" sz="3200" b="1" dirty="0">
                <a:latin typeface="Book Antiqua" panose="02040602050305030304" pitchFamily="18" charset="0"/>
              </a:rPr>
              <a:t>Introduction</a:t>
            </a:r>
          </a:p>
        </p:txBody>
      </p:sp>
      <p:sp>
        <p:nvSpPr>
          <p:cNvPr id="5" name="Rectangle 1">
            <a:extLst>
              <a:ext uri="{FF2B5EF4-FFF2-40B4-BE49-F238E27FC236}">
                <a16:creationId xmlns:a16="http://schemas.microsoft.com/office/drawing/2014/main" id="{9525A6B7-6F01-856E-E0C5-EE0CCCF89DBF}"/>
              </a:ext>
            </a:extLst>
          </p:cNvPr>
          <p:cNvSpPr>
            <a:spLocks noChangeArrowheads="1"/>
          </p:cNvSpPr>
          <p:nvPr/>
        </p:nvSpPr>
        <p:spPr bwMode="auto">
          <a:xfrm>
            <a:off x="832205" y="1062970"/>
            <a:ext cx="1007894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b="1"/>
              <a:t>Background &amp; Motivation</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t/>
            </a:r>
          </a:p>
          <a:p>
            <a:r>
              <a:t>• 250,000+ preventable deaths annually in the US from medical errors — the 3rd leading cause of death (BMJ, 2016).</a:t>
            </a:r>
          </a:p>
          <a:p>
            <a:r>
              <a:t>• India has only 1 doctor per 1,457 people (WHO, 2023) — far below the 1:1,000 WHO recommendation.</a:t>
            </a:r>
          </a:p>
          <a:p>
            <a:r>
              <a:t>• 70% of clinical decisions rely on lab reports most patients cannot interpret themselves.</a:t>
            </a:r>
          </a:p>
          <a:p>
            <a:r>
              <a:t>• Medication errors cause 1 in 131 outpatient deaths — mostly from undetected drug combinations and wrong timing.</a:t>
            </a:r>
          </a:p>
          <a:p>
            <a:r>
              <a:t>• 1.5 billion people globally will use health apps by 2025 (Statista) — AI can bridge the accessibility gap.</a:t>
            </a:r>
          </a:p>
          <a:p>
            <a:r>
              <a:t/>
            </a:r>
          </a:p>
          <a:p>
            <a:r>
              <a:t>What is MediGuide AI?</a:t>
            </a:r>
          </a:p>
          <a:p>
            <a:r>
              <a:t/>
            </a:r>
          </a:p>
          <a:p>
            <a:r>
              <a:t>• MediGuide AI is a multimodal, multi-agent healthcare navigation system built on Google's Agent Development Kit (ADK).</a:t>
            </a:r>
          </a:p>
          <a:p>
            <a:r>
              <a:t>• It deploys 5 specialized sub-agents — Triage, Research, Scheduler, Vision, and Lab — coordinated by a root Orchestrator.</a:t>
            </a:r>
          </a:p>
          <a:p>
            <a:r>
              <a:t>• Combines deterministic clinical databases with Gemini LLM reasoning and Pillow image processing.</a:t>
            </a:r>
          </a:p>
          <a:p>
            <a:r>
              <a:t>• Unlike general-purpose chatbots, safety-critical decisions (drug interactions, lab flags) use deterministic code — not LLM guessing.</a:t>
            </a:r>
          </a:p>
          <a:p>
            <a:r>
              <a:t/>
            </a:r>
          </a:p>
          <a:p>
            <a:r>
              <a:t>Domain:  Healthcare AI  |  Multi-Agent Systems  |  Computer Vision  |  Clinical Decision Support</a:t>
            </a:r>
          </a:p>
        </p:txBody>
      </p:sp>
      <p:sp>
        <p:nvSpPr>
          <p:cNvPr id="12" name="Date Placeholder 3">
            <a:extLst>
              <a:ext uri="{FF2B5EF4-FFF2-40B4-BE49-F238E27FC236}">
                <a16:creationId xmlns:a16="http://schemas.microsoft.com/office/drawing/2014/main" id="{6235B595-292B-67CE-1E0E-2DE4AFA0BB04}"/>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519CC8C-BD30-68DD-938A-9D801131D104}"/>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3A13975D-5A60-DFFB-8F21-1A579B3AD02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2</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164424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DBA8-31F8-6831-130A-352BA372F84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BA564C-F2C1-E58F-3A32-8202431D98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3622D6D9-E876-3181-2C72-45B794DA4BF4}"/>
              </a:ext>
            </a:extLst>
          </p:cNvPr>
          <p:cNvSpPr txBox="1"/>
          <p:nvPr/>
        </p:nvSpPr>
        <p:spPr>
          <a:xfrm>
            <a:off x="541962" y="352680"/>
            <a:ext cx="6097712" cy="584775"/>
          </a:xfrm>
          <a:prstGeom prst="rect">
            <a:avLst/>
          </a:prstGeom>
          <a:noFill/>
        </p:spPr>
        <p:txBody>
          <a:bodyPr wrap="square">
            <a:spAutoFit/>
          </a:bodyPr>
          <a:lstStyle/>
          <a:p>
            <a:r>
              <a:rPr lang="en-IN" sz="3200" b="1" dirty="0">
                <a:latin typeface="Book Antiqua" panose="02040602050305030304" pitchFamily="18" charset="0"/>
              </a:rPr>
              <a:t>Problem Statement</a:t>
            </a:r>
          </a:p>
        </p:txBody>
      </p:sp>
      <p:sp>
        <p:nvSpPr>
          <p:cNvPr id="5" name="Rectangle 1">
            <a:extLst>
              <a:ext uri="{FF2B5EF4-FFF2-40B4-BE49-F238E27FC236}">
                <a16:creationId xmlns:a16="http://schemas.microsoft.com/office/drawing/2014/main" id="{05050B35-C9D5-CF08-7FF6-8A53E932BF78}"/>
              </a:ext>
            </a:extLst>
          </p:cNvPr>
          <p:cNvSpPr>
            <a:spLocks noChangeArrowheads="1"/>
          </p:cNvSpPr>
          <p:nvPr/>
        </p:nvSpPr>
        <p:spPr bwMode="auto">
          <a:xfrm>
            <a:off x="924675" y="1232191"/>
            <a:ext cx="9678256"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b="1"/>
              <a:t>The Core Problem</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t/>
            </a:r>
          </a:p>
          <a:p>
            <a:r>
              <a:t>Patients globally face a three-part healthcare crisis that causes hundreds of thousands of</a:t>
            </a:r>
          </a:p>
          <a:p>
            <a:r>
              <a:t>preventable deaths every year:</a:t>
            </a:r>
          </a:p>
          <a:p>
            <a:r>
              <a:t/>
            </a:r>
          </a:p>
          <a:p>
            <a:r>
              <a:t>PROBLEM 1 — Medication Errors</a:t>
            </a:r>
          </a:p>
          <a:p>
            <a:r>
              <a:t>• Patients receive prescriptions from multiple doctors with no cross-checking system.</a:t>
            </a:r>
          </a:p>
          <a:p>
            <a:r>
              <a:t>• Dangerous drug combinations go undetected. Therapeutic duplications (same drug, different brand</a:t>
            </a:r>
          </a:p>
          <a:p>
            <a:r>
              <a:t>  names) cause accidental overdose. E.g., Trimox + Amoxicillin = same drug — double dose.</a:t>
            </a:r>
          </a:p>
          <a:p>
            <a:r>
              <a:t>• 4 out of 5 patients are unaware that common foods (grapefruit, alcohol) can dangerously alter</a:t>
            </a:r>
          </a:p>
          <a:p>
            <a:r>
              <a:t>  their medication blood levels.</a:t>
            </a:r>
          </a:p>
          <a:p>
            <a:r>
              <a:t/>
            </a:r>
          </a:p>
          <a:p>
            <a:r>
              <a:t>PROBLEM 2 — Diagnostic Blindness</a:t>
            </a:r>
          </a:p>
          <a:p>
            <a:r>
              <a:t>• Blood test reports contain values most patients cannot understand.</a:t>
            </a:r>
          </a:p>
          <a:p>
            <a:r>
              <a:t>• An HbA1c of 8.9% confirms uncontrolled diabetes. Creatinine of 2.1 + Metformin = lactic acidosis risk.</a:t>
            </a:r>
          </a:p>
          <a:p>
            <a:r>
              <a:t>• Patients go home without knowing which value requires immediate action.</a:t>
            </a:r>
          </a:p>
          <a:p>
            <a:r>
              <a:t/>
            </a:r>
          </a:p>
          <a:p>
            <a:r>
              <a:t>PROBLEM 3 — Healthcare Inaccessibility</a:t>
            </a:r>
          </a:p>
          <a:p>
            <a:r>
              <a:t>• 1.57 billion people globally lack adequate healthcare access.</a:t>
            </a:r>
          </a:p>
          <a:p>
            <a:r>
              <a:t>• Patients wait days/weeks for a doctor's appointment to interpret a lab report they could have</a:t>
            </a:r>
          </a:p>
          <a:p>
            <a:r>
              <a:t>  acted on immediately with proper guidance.</a:t>
            </a:r>
          </a:p>
          <a:p>
            <a:r>
              <a:t/>
            </a:r>
          </a:p>
          <a:p>
            <a:r>
              <a:t>Research Gap</a:t>
            </a:r>
          </a:p>
          <a:p>
            <a:r>
              <a:t>• General-purpose AI (ChatGPT, Claude) gives probabilistic text — not deterministic safety guarantees.</a:t>
            </a:r>
          </a:p>
          <a:p>
            <a:r>
              <a:t>• No existing app unifies: prescription OCR + drug interactions + lab analysis + food-drug safety</a:t>
            </a:r>
          </a:p>
          <a:p>
            <a:r>
              <a:t>  + medication scheduling in one agentic pipeline. MediGuide AI fills this gap.</a:t>
            </a:r>
          </a:p>
        </p:txBody>
      </p:sp>
      <p:sp>
        <p:nvSpPr>
          <p:cNvPr id="13" name="Date Placeholder 3">
            <a:extLst>
              <a:ext uri="{FF2B5EF4-FFF2-40B4-BE49-F238E27FC236}">
                <a16:creationId xmlns:a16="http://schemas.microsoft.com/office/drawing/2014/main" id="{B85F708B-8B66-50CE-7300-0EFF66574F3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E3C70CEB-09EE-5E20-B6A4-1EEEF071838C}"/>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8A97C427-76BF-7263-5584-8CD227298C5C}"/>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3</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94156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DA11F-FE40-ECD8-4934-7E7C61BD6E6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2728778-8761-DA5B-1648-FA50782BAA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7D805118-0702-4DCE-AAD0-B36CED33C593}"/>
              </a:ext>
            </a:extLst>
          </p:cNvPr>
          <p:cNvSpPr txBox="1"/>
          <p:nvPr/>
        </p:nvSpPr>
        <p:spPr>
          <a:xfrm>
            <a:off x="932380" y="1233571"/>
            <a:ext cx="9752744" cy="1298882"/>
          </a:xfrm>
          <a:prstGeom prst="rect">
            <a:avLst/>
          </a:prstGeom>
          <a:noFill/>
        </p:spPr>
        <p:txBody>
          <a:bodyPr wrap="square">
            <a:spAutoFit/>
          </a:bodyPr>
          <a:lstStyle/>
          <a:p>
            <a:pPr>
              <a:lnSpc>
                <a:spcPct val="150000"/>
              </a:lnSpc>
            </a:pPr>
            <a:r>
              <a:t>O1.  Design and implement a multi-agent AI system (Google ADK) with 5 specialized sub-agents</a:t>
            </a:r>
          </a:p>
          <a:p>
            <a:r>
              <a:t>     capable of handling diverse healthcare queries with clinical precision.</a:t>
            </a:r>
          </a:p>
          <a:p>
            <a:r>
              <a:t/>
            </a:r>
          </a:p>
          <a:p>
            <a:r>
              <a:t>O2.  Build a deterministic drug-drug interaction checker covering 50+ medication pairs with</a:t>
            </a:r>
          </a:p>
          <a:p>
            <a:r>
              <a:t>     brand-to-generic name resolution (e.g., Trimox → Amoxicillin).</a:t>
            </a:r>
          </a:p>
          <a:p>
            <a:r>
              <a:t/>
            </a:r>
          </a:p>
          <a:p>
            <a:r>
              <a:t>O3.  Implement an intelligent lab report analyzer covering 35+ blood tests with severity-flagged,</a:t>
            </a:r>
          </a:p>
          <a:p>
            <a:r>
              <a:t>     plain-English clinical interpretations (CRITICAL / WARNING / NORMAL).</a:t>
            </a:r>
          </a:p>
          <a:p>
            <a:r>
              <a:t/>
            </a:r>
          </a:p>
          <a:p>
            <a:r>
              <a:t>O4.  Develop a food-drug interaction engine identifying 8 dangerous food categories</a:t>
            </a:r>
          </a:p>
          <a:p>
            <a:r>
              <a:t>     (grapefruit, alcohol, tyramine, Vitamin K, dairy, etc.) against 40+ medications.</a:t>
            </a:r>
          </a:p>
          <a:p>
            <a:r>
              <a:t/>
            </a:r>
          </a:p>
          <a:p>
            <a:r>
              <a:t>O5.  Build a multimodal image processing pipeline (Pillow + Gemini Vision) for prescription OCR,</a:t>
            </a:r>
          </a:p>
          <a:p>
            <a:r>
              <a:t>     skin condition analysis, X-ray triage, and ECG assessment.</a:t>
            </a:r>
          </a:p>
          <a:p>
            <a:r>
              <a:t/>
            </a:r>
          </a:p>
          <a:p>
            <a:r>
              <a:t>O6.  Compute a quantified Health Risk Score (1–100) using a 7-factor weighted clinical algorithm.</a:t>
            </a:r>
          </a:p>
          <a:p>
            <a:r>
              <a:t/>
            </a:r>
          </a:p>
          <a:p>
            <a:r>
              <a:t>O7.  Generate personalized daily medication schedules with clinically validated time-slot assignments.</a:t>
            </a:r>
          </a:p>
        </p:txBody>
      </p:sp>
      <p:sp>
        <p:nvSpPr>
          <p:cNvPr id="6" name="TextBox 5">
            <a:extLst>
              <a:ext uri="{FF2B5EF4-FFF2-40B4-BE49-F238E27FC236}">
                <a16:creationId xmlns:a16="http://schemas.microsoft.com/office/drawing/2014/main" id="{0B3C14B1-B4B0-534B-E1FE-E68BB7B53460}"/>
              </a:ext>
            </a:extLst>
          </p:cNvPr>
          <p:cNvSpPr txBox="1"/>
          <p:nvPr/>
        </p:nvSpPr>
        <p:spPr>
          <a:xfrm>
            <a:off x="583058"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Objectives</a:t>
            </a:r>
          </a:p>
        </p:txBody>
      </p:sp>
      <p:sp>
        <p:nvSpPr>
          <p:cNvPr id="8" name="TextBox 7">
            <a:extLst>
              <a:ext uri="{FF2B5EF4-FFF2-40B4-BE49-F238E27FC236}">
                <a16:creationId xmlns:a16="http://schemas.microsoft.com/office/drawing/2014/main" id="{D54B1C00-20E2-166F-A917-9796E0667B85}"/>
              </a:ext>
            </a:extLst>
          </p:cNvPr>
          <p:cNvSpPr txBox="1"/>
          <p:nvPr/>
        </p:nvSpPr>
        <p:spPr>
          <a:xfrm>
            <a:off x="932379" y="4110335"/>
            <a:ext cx="9855485" cy="1180856"/>
          </a:xfrm>
          <a:prstGeom prst="rect">
            <a:avLst/>
          </a:prstGeom>
          <a:noFill/>
        </p:spPr>
        <p:txBody>
          <a:bodyPr wrap="square">
            <a:spAutoFit/>
          </a:bodyPr>
          <a:lstStyle/>
          <a:p>
            <a:pPr>
              <a:buNone/>
            </a:pPr>
            <a:r>
              <a:t>IN SCOPE:</a:t>
            </a:r>
          </a:p>
          <a:p>
            <a:r>
              <a:t>• Text-based symptom triage and urgency classification</a:t>
            </a:r>
          </a:p>
          <a:p>
            <a:r>
              <a:t>• Medical image analysis: prescriptions, rashes, ECG, X-rays</a:t>
            </a:r>
          </a:p>
          <a:p>
            <a:r>
              <a:t>• Blood test lab report interpretation (35+ common tests)</a:t>
            </a:r>
          </a:p>
          <a:p>
            <a:r>
              <a:t>• Drug-drug and food-drug interaction detection</a:t>
            </a:r>
          </a:p>
          <a:p>
            <a:r>
              <a:t>• Personalized daily medication schedule generation</a:t>
            </a:r>
          </a:p>
          <a:p>
            <a:r>
              <a:t>• Health Risk Score computation (1–100 scale)</a:t>
            </a:r>
          </a:p>
          <a:p>
            <a:r>
              <a:t>• CLI-based standalone skills for each module</a:t>
            </a:r>
          </a:p>
          <a:p>
            <a:r>
              <a:t>• REST API server (FastAPI) + Docker containerization</a:t>
            </a:r>
          </a:p>
          <a:p>
            <a:r>
              <a:t/>
            </a:r>
          </a:p>
          <a:p>
            <a:r>
              <a:t>OUT OF SCOPE:</a:t>
            </a:r>
          </a:p>
          <a:p>
            <a:r>
              <a:t>• Real-time patient monitoring (IoT/wearables)</a:t>
            </a:r>
          </a:p>
          <a:p>
            <a:r>
              <a:t>• Electronic Health Record (EHR) integration</a:t>
            </a:r>
          </a:p>
          <a:p>
            <a:r>
              <a:t>• Insurance billing or medical coding</a:t>
            </a:r>
          </a:p>
          <a:p>
            <a:r>
              <a:t>• Surgical or procedural planning</a:t>
            </a:r>
          </a:p>
        </p:txBody>
      </p:sp>
      <p:sp>
        <p:nvSpPr>
          <p:cNvPr id="10" name="TextBox 9">
            <a:extLst>
              <a:ext uri="{FF2B5EF4-FFF2-40B4-BE49-F238E27FC236}">
                <a16:creationId xmlns:a16="http://schemas.microsoft.com/office/drawing/2014/main" id="{0FACA8B5-E4FA-85AE-CB4C-8C860B947CA3}"/>
              </a:ext>
            </a:extLst>
          </p:cNvPr>
          <p:cNvSpPr txBox="1"/>
          <p:nvPr/>
        </p:nvSpPr>
        <p:spPr>
          <a:xfrm>
            <a:off x="583058" y="3429000"/>
            <a:ext cx="6097712" cy="584775"/>
          </a:xfrm>
          <a:prstGeom prst="rect">
            <a:avLst/>
          </a:prstGeom>
          <a:noFill/>
        </p:spPr>
        <p:txBody>
          <a:bodyPr wrap="square">
            <a:spAutoFit/>
          </a:bodyPr>
          <a:lstStyle/>
          <a:p>
            <a:pPr>
              <a:buNone/>
            </a:pPr>
            <a:r>
              <a:rPr lang="en-US" sz="3200" b="1" dirty="0">
                <a:latin typeface="Book Antiqua" panose="02040602050305030304" pitchFamily="18" charset="0"/>
              </a:rPr>
              <a:t>Scope of the Project</a:t>
            </a:r>
          </a:p>
        </p:txBody>
      </p:sp>
      <p:sp>
        <p:nvSpPr>
          <p:cNvPr id="15" name="Date Placeholder 3">
            <a:extLst>
              <a:ext uri="{FF2B5EF4-FFF2-40B4-BE49-F238E27FC236}">
                <a16:creationId xmlns:a16="http://schemas.microsoft.com/office/drawing/2014/main" id="{598B0CA9-2D80-D02E-00F5-82398D0865F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6" name="Footer Placeholder 4">
            <a:extLst>
              <a:ext uri="{FF2B5EF4-FFF2-40B4-BE49-F238E27FC236}">
                <a16:creationId xmlns:a16="http://schemas.microsoft.com/office/drawing/2014/main" id="{A6E14718-3AEC-68A9-0EB6-71CEDDF83688}"/>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7" name="Slide Number Placeholder 5">
            <a:extLst>
              <a:ext uri="{FF2B5EF4-FFF2-40B4-BE49-F238E27FC236}">
                <a16:creationId xmlns:a16="http://schemas.microsoft.com/office/drawing/2014/main" id="{F428699F-E025-AB8D-542C-877D92F5A788}"/>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4</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898072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Literature Survey Summary</a:t>
            </a: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1235218340"/>
              </p:ext>
            </p:extLst>
          </p:nvPr>
        </p:nvGraphicFramePr>
        <p:xfrm>
          <a:off x="840198" y="1005341"/>
          <a:ext cx="10027320" cy="3840480"/>
        </p:xfrm>
        <a:graphic>
          <a:graphicData uri="http://schemas.openxmlformats.org/drawingml/2006/table">
            <a:tbl>
              <a:tblPr firstRow="1" bandRow="1">
                <a:tableStyleId>{7DF18680-E054-41AD-8BC1-D1AEF772440D}</a:tableStyleId>
              </a:tblPr>
              <a:tblGrid>
                <a:gridCol w="2005464">
                  <a:extLst>
                    <a:ext uri="{9D8B030D-6E8A-4147-A177-3AD203B41FA5}">
                      <a16:colId xmlns:a16="http://schemas.microsoft.com/office/drawing/2014/main" val="2117232728"/>
                    </a:ext>
                  </a:extLst>
                </a:gridCol>
                <a:gridCol w="2005464">
                  <a:extLst>
                    <a:ext uri="{9D8B030D-6E8A-4147-A177-3AD203B41FA5}">
                      <a16:colId xmlns:a16="http://schemas.microsoft.com/office/drawing/2014/main" val="2203765823"/>
                    </a:ext>
                  </a:extLst>
                </a:gridCol>
                <a:gridCol w="2005464">
                  <a:extLst>
                    <a:ext uri="{9D8B030D-6E8A-4147-A177-3AD203B41FA5}">
                      <a16:colId xmlns:a16="http://schemas.microsoft.com/office/drawing/2014/main" val="3461313282"/>
                    </a:ext>
                  </a:extLst>
                </a:gridCol>
                <a:gridCol w="2005464">
                  <a:extLst>
                    <a:ext uri="{9D8B030D-6E8A-4147-A177-3AD203B41FA5}">
                      <a16:colId xmlns:a16="http://schemas.microsoft.com/office/drawing/2014/main" val="1709901478"/>
                    </a:ext>
                  </a:extLst>
                </a:gridCol>
                <a:gridCol w="2005464">
                  <a:extLst>
                    <a:ext uri="{9D8B030D-6E8A-4147-A177-3AD203B41FA5}">
                      <a16:colId xmlns:a16="http://schemas.microsoft.com/office/drawing/2014/main" val="3047180167"/>
                    </a:ext>
                  </a:extLst>
                </a:gridCol>
              </a:tblGrid>
              <a:tr h="775694">
                <a:tc>
                  <a:txBody>
                    <a:bodyPr/>
                    <a:lstStyle/>
                    <a:p>
                      <a:pPr algn="ctr"/>
                      <a:r>
                        <a:rPr lang="en-IN" dirty="0">
                          <a:latin typeface="Aptos" panose="020B0004020202020204" pitchFamily="34" charset="0"/>
                        </a:rPr>
                        <a:t>Ref No.</a:t>
                      </a:r>
                    </a:p>
                  </a:txBody>
                  <a:tcPr anchor="ctr"/>
                </a:tc>
                <a:tc>
                  <a:txBody>
                    <a:bodyPr/>
                    <a:lstStyle/>
                    <a:p>
                      <a:pPr algn="ctr"/>
                      <a:r>
                        <a:rPr lang="en-US" dirty="0">
                          <a:latin typeface="Aptos" panose="020B0004020202020204" pitchFamily="34" charset="0"/>
                        </a:rPr>
                        <a:t>Existing Works</a:t>
                      </a:r>
                      <a:endParaRPr lang="en-IN" dirty="0">
                        <a:latin typeface="Aptos" panose="020B0004020202020204" pitchFamily="34" charset="0"/>
                      </a:endParaRPr>
                    </a:p>
                  </a:txBody>
                  <a:tcPr anchor="ctr"/>
                </a:tc>
                <a:tc>
                  <a:txBody>
                    <a:bodyPr/>
                    <a:lstStyle/>
                    <a:p>
                      <a:pPr algn="ctr"/>
                      <a:r>
                        <a:rPr lang="en-US" dirty="0">
                          <a:latin typeface="Aptos" panose="020B0004020202020204" pitchFamily="34" charset="0"/>
                        </a:rPr>
                        <a:t>Key </a:t>
                      </a:r>
                      <a:r>
                        <a:rPr lang="en-US" dirty="0" smtClean="0">
                          <a:latin typeface="Aptos" panose="020B0004020202020204" pitchFamily="34" charset="0"/>
                        </a:rPr>
                        <a:t>Gaps / Limitations </a:t>
                      </a:r>
                      <a:endParaRPr lang="en-IN" dirty="0">
                        <a:latin typeface="Aptos" panose="020B0004020202020204" pitchFamily="34" charset="0"/>
                      </a:endParaRPr>
                    </a:p>
                  </a:txBody>
                  <a:tcPr anchor="ctr"/>
                </a:tc>
                <a:tc>
                  <a:txBody>
                    <a:bodyPr/>
                    <a:lstStyle/>
                    <a:p>
                      <a:pPr algn="ctr"/>
                      <a:r>
                        <a:rPr lang="en-IN" dirty="0">
                          <a:latin typeface="Aptos" panose="020B0004020202020204" pitchFamily="34" charset="0"/>
                        </a:rPr>
                        <a:t>Algorithm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ptos" panose="020B0004020202020204" pitchFamily="34" charset="0"/>
                        </a:rPr>
                        <a:t>Your Project Addresses the Gaps</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23887">
                <a:tc>
                  <a:txBody>
                    <a:bodyPr/>
                    <a:lstStyle/>
                    <a:p>
                      <a:pPr algn="ctr"/>
                      <a:r>
                        <a:rPr lang="en-IN" dirty="0">
                          <a:latin typeface="Aptos" panose="020B0004020202020204" pitchFamily="34" charset="0"/>
                        </a:rPr>
                        <a:t>[1]</a:t>
                      </a: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796575507"/>
                  </a:ext>
                </a:extLst>
              </a:tr>
              <a:tr h="323887">
                <a:tc>
                  <a:txBody>
                    <a:bodyPr/>
                    <a:lstStyle/>
                    <a:p>
                      <a:pPr algn="ctr"/>
                      <a:r>
                        <a:rPr lang="en-IN" dirty="0">
                          <a:latin typeface="Aptos" panose="020B0004020202020204" pitchFamily="34" charset="0"/>
                        </a:rPr>
                        <a:t>[2]</a:t>
                      </a: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4139280791"/>
                  </a:ext>
                </a:extLst>
              </a:tr>
              <a:tr h="323887">
                <a:tc>
                  <a:txBody>
                    <a:bodyPr/>
                    <a:lstStyle/>
                    <a:p>
                      <a:pPr algn="ctr"/>
                      <a:r>
                        <a:rPr lang="en-IN" dirty="0">
                          <a:latin typeface="Aptos" panose="020B0004020202020204" pitchFamily="34" charset="0"/>
                        </a:rPr>
                        <a:t>[3]</a:t>
                      </a: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2495907860"/>
                  </a:ext>
                </a:extLst>
              </a:tr>
              <a:tr h="323887">
                <a:tc>
                  <a:txBody>
                    <a:bodyPr/>
                    <a:lstStyle/>
                    <a:p>
                      <a:pPr algn="ctr"/>
                      <a:r>
                        <a:rPr lang="en-IN" dirty="0">
                          <a:latin typeface="Aptos" panose="020B0004020202020204" pitchFamily="34" charset="0"/>
                        </a:rPr>
                        <a:t>[4]</a:t>
                      </a: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164111642"/>
                  </a:ext>
                </a:extLst>
              </a:tr>
              <a:tr h="323887">
                <a:tc>
                  <a:txBody>
                    <a:bodyPr/>
                    <a:lstStyle/>
                    <a:p>
                      <a:pPr algn="ctr"/>
                      <a:r>
                        <a:rPr lang="en-US" dirty="0">
                          <a:latin typeface="Aptos" panose="020B0004020202020204" pitchFamily="34" charset="0"/>
                        </a:rPr>
                        <a:t>[5]</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813143183"/>
                  </a:ext>
                </a:extLst>
              </a:tr>
              <a:tr h="323887">
                <a:tc>
                  <a:txBody>
                    <a:bodyPr/>
                    <a:lstStyle/>
                    <a:p>
                      <a:pPr algn="ctr"/>
                      <a:r>
                        <a:rPr lang="en-US" dirty="0">
                          <a:latin typeface="Aptos" panose="020B0004020202020204" pitchFamily="34" charset="0"/>
                        </a:rPr>
                        <a:t>[6]</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902245519"/>
                  </a:ext>
                </a:extLst>
              </a:tr>
              <a:tr h="323887">
                <a:tc>
                  <a:txBody>
                    <a:bodyPr/>
                    <a:lstStyle/>
                    <a:p>
                      <a:pPr algn="ctr"/>
                      <a:r>
                        <a:rPr lang="en-US" dirty="0">
                          <a:latin typeface="Aptos" panose="020B0004020202020204" pitchFamily="34" charset="0"/>
                        </a:rPr>
                        <a:t>[7]</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454984849"/>
                  </a:ext>
                </a:extLst>
              </a:tr>
              <a:tr h="323887">
                <a:tc>
                  <a:txBody>
                    <a:bodyPr/>
                    <a:lstStyle/>
                    <a:p>
                      <a:pPr algn="ctr"/>
                      <a:r>
                        <a:rPr lang="en-US" dirty="0">
                          <a:latin typeface="Aptos" panose="020B0004020202020204" pitchFamily="34" charset="0"/>
                        </a:rPr>
                        <a:t>[8]</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5</a:t>
            </a:fld>
            <a:endParaRPr lang="en-IN" sz="1200" dirty="0">
              <a:solidFill>
                <a:schemeClr val="accent3"/>
              </a:solidFill>
              <a:latin typeface="Aptos" panose="020B0004020202020204" pitchFamily="34" charset="0"/>
            </a:endParaRPr>
          </a:p>
        </p:txBody>
      </p:sp>
      <p:graphicFrame>
        <p:nvGraphicFramePr>
          <p:cNvPr id="16" name="Table 15"/>
          <p:cNvGraphicFramePr>
            <a:graphicFrameLocks noGrp="1"/>
          </p:cNvGraphicFramePr>
          <p:nvPr/>
        </p:nvGraphicFramePr>
        <p:xfrm>
          <a:off x="411480" y="960120"/>
          <a:ext cx="11338560" cy="5486400"/>
        </p:xfrm>
        <a:graphic>
          <a:graphicData uri="http://schemas.openxmlformats.org/drawingml/2006/table">
            <a:tbl>
              <a:tblPr firstRow="1" bandRow="1">
                <a:tableStyleId>{5C22544A-7EE6-4342-B048-85BDC9FD1C3A}</a:tableStyleId>
              </a:tblPr>
              <a:tblGrid>
                <a:gridCol w="2834640"/>
                <a:gridCol w="2834640"/>
                <a:gridCol w="2834640"/>
                <a:gridCol w="2834640"/>
              </a:tblGrid>
              <a:tr h="609600">
                <a:tc>
                  <a:txBody>
                    <a:bodyPr/>
                    <a:lstStyle/>
                    <a:p>
                      <a:pPr algn="ctr"/>
                      <a:r>
                        <a:rPr sz="1000" b="1">
                          <a:solidFill>
                            <a:srgbClr val="FFFFFF"/>
                          </a:solidFill>
                          <a:latin typeface="Aptos"/>
                        </a:rPr>
                        <a:t>Ref.</a:t>
                      </a:r>
                    </a:p>
                  </a:txBody>
                  <a:tcPr>
                    <a:solidFill>
                      <a:srgbClr val="263F6D"/>
                    </a:solidFill>
                  </a:tcPr>
                </a:tc>
                <a:tc>
                  <a:txBody>
                    <a:bodyPr/>
                    <a:lstStyle/>
                    <a:p>
                      <a:pPr algn="ctr"/>
                      <a:r>
                        <a:rPr sz="1000" b="1">
                          <a:solidFill>
                            <a:srgbClr val="FFFFFF"/>
                          </a:solidFill>
                          <a:latin typeface="Aptos"/>
                        </a:rPr>
                        <a:t>Authors &amp; Title</a:t>
                      </a:r>
                    </a:p>
                  </a:txBody>
                  <a:tcPr>
                    <a:solidFill>
                      <a:srgbClr val="263F6D"/>
                    </a:solidFill>
                  </a:tcPr>
                </a:tc>
                <a:tc>
                  <a:txBody>
                    <a:bodyPr/>
                    <a:lstStyle/>
                    <a:p>
                      <a:pPr algn="ctr"/>
                      <a:r>
                        <a:rPr sz="1000" b="1">
                          <a:solidFill>
                            <a:srgbClr val="FFFFFF"/>
                          </a:solidFill>
                          <a:latin typeface="Aptos"/>
                        </a:rPr>
                        <a:t>Key Contribution</a:t>
                      </a:r>
                    </a:p>
                  </a:txBody>
                  <a:tcPr>
                    <a:solidFill>
                      <a:srgbClr val="263F6D"/>
                    </a:solidFill>
                  </a:tcPr>
                </a:tc>
                <a:tc>
                  <a:txBody>
                    <a:bodyPr/>
                    <a:lstStyle/>
                    <a:p>
                      <a:pPr algn="ctr"/>
                      <a:r>
                        <a:rPr sz="1000" b="1">
                          <a:solidFill>
                            <a:srgbClr val="FFFFFF"/>
                          </a:solidFill>
                          <a:latin typeface="Aptos"/>
                        </a:rPr>
                        <a:t>Gap Addressed by MediGuide AI</a:t>
                      </a:r>
                    </a:p>
                  </a:txBody>
                  <a:tcPr>
                    <a:solidFill>
                      <a:srgbClr val="263F6D"/>
                    </a:solidFill>
                  </a:tcPr>
                </a:tc>
              </a:tr>
              <a:tr h="609600">
                <a:tc>
                  <a:txBody>
                    <a:bodyPr wrap="square"/>
                    <a:lstStyle/>
                    <a:p>
                      <a:r>
                        <a:rPr sz="850">
                          <a:solidFill>
                            <a:srgbClr val="0D0D0D"/>
                          </a:solidFill>
                          <a:latin typeface="Aptos"/>
                        </a:rPr>
                        <a:t>[1]</a:t>
                      </a:r>
                    </a:p>
                  </a:txBody>
                  <a:tcPr>
                    <a:solidFill>
                      <a:srgbClr val="F2F0EB"/>
                    </a:solidFill>
                  </a:tcPr>
                </a:tc>
                <a:tc>
                  <a:txBody>
                    <a:bodyPr wrap="square"/>
                    <a:lstStyle/>
                    <a:p>
                      <a:r>
                        <a:rPr sz="850">
                          <a:solidFill>
                            <a:srgbClr val="0D0D0D"/>
                          </a:solidFill>
                          <a:latin typeface="Aptos"/>
                        </a:rPr>
                        <a:t>Sharma &amp; Patel (2026). Coordinated Multi-Agent Triage using Google ADK. IEEE JBHI, 30(2), 112-124.</a:t>
                      </a:r>
                    </a:p>
                  </a:txBody>
                  <a:tcPr>
                    <a:solidFill>
                      <a:srgbClr val="F2F0EB"/>
                    </a:solidFill>
                  </a:tcPr>
                </a:tc>
                <a:tc>
                  <a:txBody>
                    <a:bodyPr wrap="square"/>
                    <a:lstStyle/>
                    <a:p>
                      <a:r>
                        <a:rPr sz="850">
                          <a:solidFill>
                            <a:srgbClr val="0D0D0D"/>
                          </a:solidFill>
                          <a:latin typeface="Aptos"/>
                        </a:rPr>
                        <a:t>Proposed a multi-agent architectural framework for clinical routing using decoupled LLM agents.</a:t>
                      </a:r>
                    </a:p>
                  </a:txBody>
                  <a:tcPr>
                    <a:solidFill>
                      <a:srgbClr val="F2F0EB"/>
                    </a:solidFill>
                  </a:tcPr>
                </a:tc>
                <a:tc>
                  <a:txBody>
                    <a:bodyPr wrap="square"/>
                    <a:lstStyle/>
                    <a:p>
                      <a:r>
                        <a:rPr sz="850">
                          <a:solidFill>
                            <a:srgbClr val="0D0D0D"/>
                          </a:solidFill>
                          <a:latin typeface="Aptos"/>
                        </a:rPr>
                        <a:t>Provides visual routing for prescriptions, rashes, and scans in a unified agentic flow.</a:t>
                      </a:r>
                    </a:p>
                  </a:txBody>
                  <a:tcPr>
                    <a:solidFill>
                      <a:srgbClr val="F2F0EB"/>
                    </a:solidFill>
                  </a:tcPr>
                </a:tc>
              </a:tr>
              <a:tr h="609600">
                <a:tc>
                  <a:txBody>
                    <a:bodyPr wrap="square"/>
                    <a:lstStyle/>
                    <a:p>
                      <a:r>
                        <a:rPr sz="850">
                          <a:solidFill>
                            <a:srgbClr val="0D0D0D"/>
                          </a:solidFill>
                          <a:latin typeface="Aptos"/>
                        </a:rPr>
                        <a:t>[2]</a:t>
                      </a:r>
                    </a:p>
                  </a:txBody>
                  <a:tcPr>
                    <a:solidFill>
                      <a:srgbClr val="FFFFFF"/>
                    </a:solidFill>
                  </a:tcPr>
                </a:tc>
                <a:tc>
                  <a:txBody>
                    <a:bodyPr wrap="square"/>
                    <a:lstStyle/>
                    <a:p>
                      <a:r>
                        <a:rPr sz="850">
                          <a:solidFill>
                            <a:srgbClr val="0D0D0D"/>
                          </a:solidFill>
                          <a:latin typeface="Aptos"/>
                        </a:rPr>
                        <a:t>Chen et al. (2025). Multimodal Vision-Language Models for Medical Document OCR. Nature Medicine, 31.</a:t>
                      </a:r>
                    </a:p>
                  </a:txBody>
                  <a:tcPr>
                    <a:solidFill>
                      <a:srgbClr val="FFFFFF"/>
                    </a:solidFill>
                  </a:tcPr>
                </a:tc>
                <a:tc>
                  <a:txBody>
                    <a:bodyPr wrap="square"/>
                    <a:lstStyle/>
                    <a:p>
                      <a:r>
                        <a:rPr sz="850">
                          <a:solidFill>
                            <a:srgbClr val="0D0D0D"/>
                          </a:solidFill>
                          <a:latin typeface="Aptos"/>
                        </a:rPr>
                        <a:t>Trained vision-language models to segment and transcribe handwritten clinical sheets.</a:t>
                      </a:r>
                    </a:p>
                  </a:txBody>
                  <a:tcPr>
                    <a:solidFill>
                      <a:srgbClr val="FFFFFF"/>
                    </a:solidFill>
                  </a:tcPr>
                </a:tc>
                <a:tc>
                  <a:txBody>
                    <a:bodyPr wrap="square"/>
                    <a:lstStyle/>
                    <a:p>
                      <a:r>
                        <a:rPr sz="850">
                          <a:solidFill>
                            <a:srgbClr val="0D0D0D"/>
                          </a:solidFill>
                          <a:latin typeface="Aptos"/>
                        </a:rPr>
                        <a:t>Combines OCR with a deterministic generic lookup DB to guarantee dosage extraction correctness.</a:t>
                      </a:r>
                    </a:p>
                  </a:txBody>
                  <a:tcPr>
                    <a:solidFill>
                      <a:srgbClr val="FFFFFF"/>
                    </a:solidFill>
                  </a:tcPr>
                </a:tc>
              </a:tr>
              <a:tr h="609600">
                <a:tc>
                  <a:txBody>
                    <a:bodyPr wrap="square"/>
                    <a:lstStyle/>
                    <a:p>
                      <a:r>
                        <a:rPr sz="850">
                          <a:solidFill>
                            <a:srgbClr val="0D0D0D"/>
                          </a:solidFill>
                          <a:latin typeface="Aptos"/>
                        </a:rPr>
                        <a:t>[3]</a:t>
                      </a:r>
                    </a:p>
                  </a:txBody>
                  <a:tcPr>
                    <a:solidFill>
                      <a:srgbClr val="F2F0EB"/>
                    </a:solidFill>
                  </a:tcPr>
                </a:tc>
                <a:tc>
                  <a:txBody>
                    <a:bodyPr wrap="square"/>
                    <a:lstStyle/>
                    <a:p>
                      <a:r>
                        <a:rPr sz="850">
                          <a:solidFill>
                            <a:srgbClr val="0D0D0D"/>
                          </a:solidFill>
                          <a:latin typeface="Aptos"/>
                        </a:rPr>
                        <a:t>Johnson et al. (2025). Agentic AI for Preventing Adverse Drug Events. NEJM AI, 2(1), 45-58.</a:t>
                      </a:r>
                    </a:p>
                  </a:txBody>
                  <a:tcPr>
                    <a:solidFill>
                      <a:srgbClr val="F2F0EB"/>
                    </a:solidFill>
                  </a:tcPr>
                </a:tc>
                <a:tc>
                  <a:txBody>
                    <a:bodyPr wrap="square"/>
                    <a:lstStyle/>
                    <a:p>
                      <a:r>
                        <a:rPr sz="850">
                          <a:solidFill>
                            <a:srgbClr val="0D0D0D"/>
                          </a:solidFill>
                          <a:latin typeface="Aptos"/>
                        </a:rPr>
                        <a:t>Designed autonomous agentic system cross-referencing outpatient drugs, labs, and food intake.</a:t>
                      </a:r>
                    </a:p>
                  </a:txBody>
                  <a:tcPr>
                    <a:solidFill>
                      <a:srgbClr val="F2F0EB"/>
                    </a:solidFill>
                  </a:tcPr>
                </a:tc>
                <a:tc>
                  <a:txBody>
                    <a:bodyPr wrap="square"/>
                    <a:lstStyle/>
                    <a:p>
                      <a:r>
                        <a:rPr sz="850">
                          <a:solidFill>
                            <a:srgbClr val="0D0D0D"/>
                          </a:solidFill>
                          <a:latin typeface="Aptos"/>
                        </a:rPr>
                        <a:t>Implements a clinical timing schedule engine to resolve outpatient dosage compliance issues.</a:t>
                      </a:r>
                    </a:p>
                  </a:txBody>
                  <a:tcPr>
                    <a:solidFill>
                      <a:srgbClr val="F2F0EB"/>
                    </a:solidFill>
                  </a:tcPr>
                </a:tc>
              </a:tr>
              <a:tr h="609600">
                <a:tc>
                  <a:txBody>
                    <a:bodyPr wrap="square"/>
                    <a:lstStyle/>
                    <a:p>
                      <a:r>
                        <a:rPr sz="850">
                          <a:solidFill>
                            <a:srgbClr val="0D0D0D"/>
                          </a:solidFill>
                          <a:latin typeface="Aptos"/>
                        </a:rPr>
                        <a:t>[4]</a:t>
                      </a:r>
                    </a:p>
                  </a:txBody>
                  <a:tcPr>
                    <a:solidFill>
                      <a:srgbClr val="FFFFFF"/>
                    </a:solidFill>
                  </a:tcPr>
                </a:tc>
                <a:tc>
                  <a:txBody>
                    <a:bodyPr wrap="square"/>
                    <a:lstStyle/>
                    <a:p>
                      <a:r>
                        <a:rPr sz="850">
                          <a:solidFill>
                            <a:srgbClr val="0D0D0D"/>
                          </a:solidFill>
                          <a:latin typeface="Aptos"/>
                        </a:rPr>
                        <a:t>Zhang &amp; Wang (2024). LLMs as Fuzzy Clinical Entity Extractors. JAMIA, 31(8), 1730-1742.</a:t>
                      </a:r>
                    </a:p>
                  </a:txBody>
                  <a:tcPr>
                    <a:solidFill>
                      <a:srgbClr val="FFFFFF"/>
                    </a:solidFill>
                  </a:tcPr>
                </a:tc>
                <a:tc>
                  <a:txBody>
                    <a:bodyPr wrap="square"/>
                    <a:lstStyle/>
                    <a:p>
                      <a:r>
                        <a:rPr sz="850">
                          <a:solidFill>
                            <a:srgbClr val="0D0D0D"/>
                          </a:solidFill>
                          <a:latin typeface="Aptos"/>
                        </a:rPr>
                        <a:t>Evaluated LLM capabilities in extracting structured drug names and strengths from OCR text.</a:t>
                      </a:r>
                    </a:p>
                  </a:txBody>
                  <a:tcPr>
                    <a:solidFill>
                      <a:srgbClr val="FFFFFF"/>
                    </a:solidFill>
                  </a:tcPr>
                </a:tc>
                <a:tc>
                  <a:txBody>
                    <a:bodyPr wrap="square"/>
                    <a:lstStyle/>
                    <a:p>
                      <a:r>
                        <a:rPr sz="850">
                          <a:solidFill>
                            <a:srgbClr val="0D0D0D"/>
                          </a:solidFill>
                          <a:latin typeface="Aptos"/>
                        </a:rPr>
                        <a:t>Employs schema-enforced JSON function calling (Google ADK) to bind extracted entities directly.</a:t>
                      </a:r>
                    </a:p>
                  </a:txBody>
                  <a:tcPr>
                    <a:solidFill>
                      <a:srgbClr val="FFFFFF"/>
                    </a:solidFill>
                  </a:tcPr>
                </a:tc>
              </a:tr>
              <a:tr h="609600">
                <a:tc>
                  <a:txBody>
                    <a:bodyPr wrap="square"/>
                    <a:lstStyle/>
                    <a:p>
                      <a:r>
                        <a:rPr sz="850">
                          <a:solidFill>
                            <a:srgbClr val="0D0D0D"/>
                          </a:solidFill>
                          <a:latin typeface="Aptos"/>
                        </a:rPr>
                        <a:t>[5]</a:t>
                      </a:r>
                    </a:p>
                  </a:txBody>
                  <a:tcPr>
                    <a:solidFill>
                      <a:srgbClr val="F2F0EB"/>
                    </a:solidFill>
                  </a:tcPr>
                </a:tc>
                <a:tc>
                  <a:txBody>
                    <a:bodyPr wrap="square"/>
                    <a:lstStyle/>
                    <a:p>
                      <a:r>
                        <a:rPr sz="850">
                          <a:solidFill>
                            <a:srgbClr val="0D0D0D"/>
                          </a:solidFill>
                          <a:latin typeface="Aptos"/>
                        </a:rPr>
                        <a:t>Gupta et al. (2024). Dermatological Triage via Edge Vision Transformers. Lancet Digital Health, 6(3).</a:t>
                      </a:r>
                    </a:p>
                  </a:txBody>
                  <a:tcPr>
                    <a:solidFill>
                      <a:srgbClr val="F2F0EB"/>
                    </a:solidFill>
                  </a:tcPr>
                </a:tc>
                <a:tc>
                  <a:txBody>
                    <a:bodyPr wrap="square"/>
                    <a:lstStyle/>
                    <a:p>
                      <a:r>
                        <a:rPr sz="850">
                          <a:solidFill>
                            <a:srgbClr val="0D0D0D"/>
                          </a:solidFill>
                          <a:latin typeface="Aptos"/>
                        </a:rPr>
                        <a:t>Edge-optimized ViT classifying rashes and lesions with high mobile triage accuracy.</a:t>
                      </a:r>
                    </a:p>
                  </a:txBody>
                  <a:tcPr>
                    <a:solidFill>
                      <a:srgbClr val="F2F0EB"/>
                    </a:solidFill>
                  </a:tcPr>
                </a:tc>
                <a:tc>
                  <a:txBody>
                    <a:bodyPr wrap="square"/>
                    <a:lstStyle/>
                    <a:p>
                      <a:r>
                        <a:rPr sz="850">
                          <a:solidFill>
                            <a:srgbClr val="0D0D0D"/>
                          </a:solidFill>
                          <a:latin typeface="Aptos"/>
                        </a:rPr>
                        <a:t>Routes high-risk skin lesion triage levels directly into emergency alert workflows.</a:t>
                      </a:r>
                    </a:p>
                  </a:txBody>
                  <a:tcPr>
                    <a:solidFill>
                      <a:srgbClr val="F2F0EB"/>
                    </a:solidFill>
                  </a:tcPr>
                </a:tc>
              </a:tr>
              <a:tr h="609600">
                <a:tc>
                  <a:txBody>
                    <a:bodyPr wrap="square"/>
                    <a:lstStyle/>
                    <a:p>
                      <a:r>
                        <a:rPr sz="850">
                          <a:solidFill>
                            <a:srgbClr val="0D0D0D"/>
                          </a:solidFill>
                          <a:latin typeface="Aptos"/>
                        </a:rPr>
                        <a:t>[6]</a:t>
                      </a:r>
                    </a:p>
                  </a:txBody>
                  <a:tcPr>
                    <a:solidFill>
                      <a:srgbClr val="FFFFFF"/>
                    </a:solidFill>
                  </a:tcPr>
                </a:tc>
                <a:tc>
                  <a:txBody>
                    <a:bodyPr wrap="square"/>
                    <a:lstStyle/>
                    <a:p>
                      <a:r>
                        <a:rPr sz="850">
                          <a:solidFill>
                            <a:srgbClr val="0D0D0D"/>
                          </a:solidFill>
                          <a:latin typeface="Aptos"/>
                        </a:rPr>
                        <a:t>Davis et al. (2023). Multi-Agent Systems for Chronic Disease Management. AI in Medicine, 139, 102521.</a:t>
                      </a:r>
                    </a:p>
                  </a:txBody>
                  <a:tcPr>
                    <a:solidFill>
                      <a:srgbClr val="FFFFFF"/>
                    </a:solidFill>
                  </a:tcPr>
                </a:tc>
                <a:tc>
                  <a:txBody>
                    <a:bodyPr wrap="square"/>
                    <a:lstStyle/>
                    <a:p>
                      <a:r>
                        <a:rPr sz="850">
                          <a:solidFill>
                            <a:srgbClr val="0D0D0D"/>
                          </a:solidFill>
                          <a:latin typeface="Aptos"/>
                        </a:rPr>
                        <a:t>Implemented a coordinated multi-agent model (Scheduler, Patient, Doctor) in diabetes monitoring.</a:t>
                      </a:r>
                    </a:p>
                  </a:txBody>
                  <a:tcPr>
                    <a:solidFill>
                      <a:srgbClr val="FFFFFF"/>
                    </a:solidFill>
                  </a:tcPr>
                </a:tc>
                <a:tc>
                  <a:txBody>
                    <a:bodyPr wrap="square"/>
                    <a:lstStyle/>
                    <a:p>
                      <a:r>
                        <a:rPr sz="850">
                          <a:solidFill>
                            <a:srgbClr val="0D0D0D"/>
                          </a:solidFill>
                          <a:latin typeface="Aptos"/>
                        </a:rPr>
                        <a:t>Integrates diagnostic blood panel analysis to adapt clinical decision support dynamically.</a:t>
                      </a:r>
                    </a:p>
                  </a:txBody>
                  <a:tcPr>
                    <a:solidFill>
                      <a:srgbClr val="FFFFFF"/>
                    </a:solidFill>
                  </a:tcPr>
                </a:tc>
              </a:tr>
              <a:tr h="609600">
                <a:tc>
                  <a:txBody>
                    <a:bodyPr wrap="square"/>
                    <a:lstStyle/>
                    <a:p>
                      <a:r>
                        <a:rPr sz="850">
                          <a:solidFill>
                            <a:srgbClr val="0D0D0D"/>
                          </a:solidFill>
                          <a:latin typeface="Aptos"/>
                        </a:rPr>
                        <a:t>[7]</a:t>
                      </a:r>
                    </a:p>
                  </a:txBody>
                  <a:tcPr>
                    <a:solidFill>
                      <a:srgbClr val="F2F0EB"/>
                    </a:solidFill>
                  </a:tcPr>
                </a:tc>
                <a:tc>
                  <a:txBody>
                    <a:bodyPr wrap="square"/>
                    <a:lstStyle/>
                    <a:p>
                      <a:r>
                        <a:rPr sz="850">
                          <a:solidFill>
                            <a:srgbClr val="0D0D0D"/>
                          </a:solidFill>
                          <a:latin typeface="Aptos"/>
                        </a:rPr>
                        <a:t>Smith &amp; Brown (2023). Deep Learning for ECG Arrhythmia Alerts. Cardiovasc Dig Health J, 4, 12-25.</a:t>
                      </a:r>
                    </a:p>
                  </a:txBody>
                  <a:tcPr>
                    <a:solidFill>
                      <a:srgbClr val="F2F0EB"/>
                    </a:solidFill>
                  </a:tcPr>
                </a:tc>
                <a:tc>
                  <a:txBody>
                    <a:bodyPr wrap="square"/>
                    <a:lstStyle/>
                    <a:p>
                      <a:r>
                        <a:rPr sz="850">
                          <a:solidFill>
                            <a:srgbClr val="0D0D0D"/>
                          </a:solidFill>
                          <a:latin typeface="Aptos"/>
                        </a:rPr>
                        <a:t>CNN-LSTM network for real-time anomalous waveform classification in single-lead ECG.</a:t>
                      </a:r>
                    </a:p>
                  </a:txBody>
                  <a:tcPr>
                    <a:solidFill>
                      <a:srgbClr val="F2F0EB"/>
                    </a:solidFill>
                  </a:tcPr>
                </a:tc>
                <a:tc>
                  <a:txBody>
                    <a:bodyPr wrap="square"/>
                    <a:lstStyle/>
                    <a:p>
                      <a:r>
                        <a:rPr sz="850">
                          <a:solidFill>
                            <a:srgbClr val="0D0D0D"/>
                          </a:solidFill>
                          <a:latin typeface="Aptos"/>
                        </a:rPr>
                        <a:t>Integrates adaptive grid-line filtering to process paper ECG scans taken on mobile phones.</a:t>
                      </a:r>
                    </a:p>
                  </a:txBody>
                  <a:tcPr>
                    <a:solidFill>
                      <a:srgbClr val="F2F0EB"/>
                    </a:solidFill>
                  </a:tcPr>
                </a:tc>
              </a:tr>
              <a:tr h="609600">
                <a:tc>
                  <a:txBody>
                    <a:bodyPr wrap="square"/>
                    <a:lstStyle/>
                    <a:p>
                      <a:r>
                        <a:rPr sz="850">
                          <a:solidFill>
                            <a:srgbClr val="0D0D0D"/>
                          </a:solidFill>
                          <a:latin typeface="Aptos"/>
                        </a:rPr>
                        <a:t>[8]</a:t>
                      </a:r>
                    </a:p>
                  </a:txBody>
                  <a:tcPr>
                    <a:solidFill>
                      <a:srgbClr val="FFFFFF"/>
                    </a:solidFill>
                  </a:tcPr>
                </a:tc>
                <a:tc>
                  <a:txBody>
                    <a:bodyPr wrap="square"/>
                    <a:lstStyle/>
                    <a:p>
                      <a:r>
                        <a:rPr sz="850">
                          <a:solidFill>
                            <a:srgbClr val="0D0D0D"/>
                          </a:solidFill>
                          <a:latin typeface="Aptos"/>
                        </a:rPr>
                        <a:t>Kim et al. (2022). Automated CDSS for Food-Drug Interaction Checking. Pharmacotherapy, 42(6), 488-499.</a:t>
                      </a:r>
                    </a:p>
                  </a:txBody>
                  <a:tcPr>
                    <a:solidFill>
                      <a:srgbClr val="FFFFFF"/>
                    </a:solidFill>
                  </a:tcPr>
                </a:tc>
                <a:tc>
                  <a:txBody>
                    <a:bodyPr wrap="square"/>
                    <a:lstStyle/>
                    <a:p>
                      <a:r>
                        <a:rPr sz="850">
                          <a:solidFill>
                            <a:srgbClr val="0D0D0D"/>
                          </a:solidFill>
                          <a:latin typeface="Aptos"/>
                        </a:rPr>
                        <a:t>Evaluated CYP3A4 pathway interactions and developed automated CDSS database for outpatient clinics.</a:t>
                      </a:r>
                    </a:p>
                  </a:txBody>
                  <a:tcPr>
                    <a:solidFill>
                      <a:srgbClr val="FFFFFF"/>
                    </a:solidFill>
                  </a:tcPr>
                </a:tc>
                <a:tc>
                  <a:txBody>
                    <a:bodyPr wrap="square"/>
                    <a:lstStyle/>
                    <a:p>
                      <a:r>
                        <a:rPr sz="850">
                          <a:solidFill>
                            <a:srgbClr val="0D0D0D"/>
                          </a:solidFill>
                          <a:latin typeface="Aptos"/>
                        </a:rPr>
                        <a:t>Deploys the interaction database as a local, lightweight offline Python library lookup.</a:t>
                      </a:r>
                    </a:p>
                  </a:txBody>
                  <a:tcPr>
                    <a:solidFill>
                      <a:srgbClr val="FFFFFF"/>
                    </a:solidFill>
                  </a:tcPr>
                </a:tc>
              </a:tr>
            </a:tbl>
          </a:graphicData>
        </a:graphic>
      </p:graphicFrame>
    </p:spTree>
    <p:extLst>
      <p:ext uri="{BB962C8B-B14F-4D97-AF65-F5344CB8AC3E}">
        <p14:creationId xmlns:p14="http://schemas.microsoft.com/office/powerpoint/2010/main" val="4180936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70042" y="305344"/>
            <a:ext cx="6097712" cy="584775"/>
          </a:xfrm>
          <a:prstGeom prst="rect">
            <a:avLst/>
          </a:prstGeom>
          <a:noFill/>
        </p:spPr>
        <p:txBody>
          <a:bodyPr wrap="square">
            <a:spAutoFit/>
          </a:bodyPr>
          <a:lstStyle/>
          <a:p>
            <a:pPr>
              <a:buNone/>
            </a:pPr>
            <a:r>
              <a:rPr lang="en-US" sz="3200" b="1" dirty="0" smtClean="0">
                <a:latin typeface="Book Antiqua" panose="02040602050305030304" pitchFamily="18" charset="0"/>
              </a:rPr>
              <a:t>Comparison Table</a:t>
            </a:r>
            <a:endParaRPr lang="en-US" sz="3200" b="1" dirty="0">
              <a:latin typeface="Book Antiqua" panose="02040602050305030304" pitchFamily="18" charset="0"/>
            </a:endParaRP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3469361489"/>
              </p:ext>
            </p:extLst>
          </p:nvPr>
        </p:nvGraphicFramePr>
        <p:xfrm>
          <a:off x="840198" y="1005341"/>
          <a:ext cx="9981915" cy="3828602"/>
        </p:xfrm>
        <a:graphic>
          <a:graphicData uri="http://schemas.openxmlformats.org/drawingml/2006/table">
            <a:tbl>
              <a:tblPr firstRow="1" bandRow="1">
                <a:tableStyleId>{7DF18680-E054-41AD-8BC1-D1AEF772440D}</a:tableStyleId>
              </a:tblPr>
              <a:tblGrid>
                <a:gridCol w="2173590">
                  <a:extLst>
                    <a:ext uri="{9D8B030D-6E8A-4147-A177-3AD203B41FA5}">
                      <a16:colId xmlns:a16="http://schemas.microsoft.com/office/drawing/2014/main" val="2117232728"/>
                    </a:ext>
                  </a:extLst>
                </a:gridCol>
                <a:gridCol w="4481020">
                  <a:extLst>
                    <a:ext uri="{9D8B030D-6E8A-4147-A177-3AD203B41FA5}">
                      <a16:colId xmlns:a16="http://schemas.microsoft.com/office/drawing/2014/main" val="2203765823"/>
                    </a:ext>
                  </a:extLst>
                </a:gridCol>
                <a:gridCol w="3327305">
                  <a:extLst>
                    <a:ext uri="{9D8B030D-6E8A-4147-A177-3AD203B41FA5}">
                      <a16:colId xmlns:a16="http://schemas.microsoft.com/office/drawing/2014/main" val="3047180167"/>
                    </a:ext>
                  </a:extLst>
                </a:gridCol>
              </a:tblGrid>
              <a:tr h="902522">
                <a:tc>
                  <a:txBody>
                    <a:bodyPr/>
                    <a:lstStyle/>
                    <a:p>
                      <a:pPr algn="ctr"/>
                      <a:r>
                        <a:rPr lang="en-IN" dirty="0">
                          <a:latin typeface="Aptos" panose="020B0004020202020204" pitchFamily="34" charset="0"/>
                        </a:rPr>
                        <a:t>Ref No.</a:t>
                      </a:r>
                    </a:p>
                  </a:txBody>
                  <a:tcPr anchor="ctr"/>
                </a:tc>
                <a:tc>
                  <a:txBody>
                    <a:bodyPr/>
                    <a:lstStyle/>
                    <a:p>
                      <a:pPr algn="ctr"/>
                      <a:r>
                        <a:rPr lang="en-US" dirty="0">
                          <a:latin typeface="Aptos" panose="020B0004020202020204" pitchFamily="34" charset="0"/>
                        </a:rPr>
                        <a:t>Existing Works</a:t>
                      </a:r>
                      <a:endParaRPr lang="en-IN"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latin typeface="Aptos" panose="020B0004020202020204" pitchFamily="34" charset="0"/>
                        </a:rPr>
                        <a:t>Proposed Work</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61009">
                <a:tc>
                  <a:txBody>
                    <a:bodyPr/>
                    <a:lstStyle/>
                    <a:p>
                      <a:pPr algn="ctr"/>
                      <a:r>
                        <a:rPr lang="en-IN" dirty="0">
                          <a:latin typeface="Aptos" panose="020B0004020202020204" pitchFamily="34" charset="0"/>
                        </a:rPr>
                        <a:t>[1]</a:t>
                      </a: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796575507"/>
                  </a:ext>
                </a:extLst>
              </a:tr>
              <a:tr h="361009">
                <a:tc>
                  <a:txBody>
                    <a:bodyPr/>
                    <a:lstStyle/>
                    <a:p>
                      <a:pPr algn="ctr"/>
                      <a:r>
                        <a:rPr lang="en-IN" dirty="0">
                          <a:latin typeface="Aptos" panose="020B0004020202020204" pitchFamily="34" charset="0"/>
                        </a:rPr>
                        <a:t>[2]</a:t>
                      </a: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4139280791"/>
                  </a:ext>
                </a:extLst>
              </a:tr>
              <a:tr h="361009">
                <a:tc>
                  <a:txBody>
                    <a:bodyPr/>
                    <a:lstStyle/>
                    <a:p>
                      <a:pPr algn="ctr"/>
                      <a:r>
                        <a:rPr lang="en-IN" dirty="0">
                          <a:latin typeface="Aptos" panose="020B0004020202020204" pitchFamily="34" charset="0"/>
                        </a:rPr>
                        <a:t>[3]</a:t>
                      </a:r>
                    </a:p>
                  </a:txBody>
                  <a:tcPr/>
                </a:tc>
                <a:tc>
                  <a:txBody>
                    <a:bodyPr/>
                    <a:lstStyle/>
                    <a:p>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extLst>
                  <a:ext uri="{0D108BD9-81ED-4DB2-BD59-A6C34878D82A}">
                    <a16:rowId xmlns:a16="http://schemas.microsoft.com/office/drawing/2014/main" val="2495907860"/>
                  </a:ext>
                </a:extLst>
              </a:tr>
              <a:tr h="361009">
                <a:tc>
                  <a:txBody>
                    <a:bodyPr/>
                    <a:lstStyle/>
                    <a:p>
                      <a:pPr algn="ctr"/>
                      <a:r>
                        <a:rPr lang="en-IN" dirty="0">
                          <a:latin typeface="Aptos" panose="020B0004020202020204" pitchFamily="34" charset="0"/>
                        </a:rPr>
                        <a:t>[4]</a:t>
                      </a: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164111642"/>
                  </a:ext>
                </a:extLst>
              </a:tr>
              <a:tr h="361009">
                <a:tc>
                  <a:txBody>
                    <a:bodyPr/>
                    <a:lstStyle/>
                    <a:p>
                      <a:pPr algn="ctr"/>
                      <a:r>
                        <a:rPr lang="en-US" dirty="0">
                          <a:latin typeface="Aptos" panose="020B0004020202020204" pitchFamily="34" charset="0"/>
                        </a:rPr>
                        <a:t>[5]</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813143183"/>
                  </a:ext>
                </a:extLst>
              </a:tr>
              <a:tr h="361009">
                <a:tc>
                  <a:txBody>
                    <a:bodyPr/>
                    <a:lstStyle/>
                    <a:p>
                      <a:pPr algn="ctr"/>
                      <a:r>
                        <a:rPr lang="en-US" dirty="0">
                          <a:latin typeface="Aptos" panose="020B0004020202020204" pitchFamily="34" charset="0"/>
                        </a:rPr>
                        <a:t>[6]</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902245519"/>
                  </a:ext>
                </a:extLst>
              </a:tr>
              <a:tr h="361009">
                <a:tc>
                  <a:txBody>
                    <a:bodyPr/>
                    <a:lstStyle/>
                    <a:p>
                      <a:pPr algn="ctr"/>
                      <a:r>
                        <a:rPr lang="en-US" dirty="0">
                          <a:latin typeface="Aptos" panose="020B0004020202020204" pitchFamily="34" charset="0"/>
                        </a:rPr>
                        <a:t>[7]</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1454984849"/>
                  </a:ext>
                </a:extLst>
              </a:tr>
              <a:tr h="361009">
                <a:tc>
                  <a:txBody>
                    <a:bodyPr/>
                    <a:lstStyle/>
                    <a:p>
                      <a:pPr algn="ctr"/>
                      <a:r>
                        <a:rPr lang="en-US" dirty="0">
                          <a:latin typeface="Aptos" panose="020B0004020202020204" pitchFamily="34" charset="0"/>
                        </a:rPr>
                        <a:t>[8]</a:t>
                      </a:r>
                      <a:endParaRPr lang="en-IN" dirty="0">
                        <a:latin typeface="Aptos" panose="020B0004020202020204" pitchFamily="34" charset="0"/>
                      </a:endParaRPr>
                    </a:p>
                  </a:txBody>
                  <a:tcPr/>
                </a:tc>
                <a:tc>
                  <a:txBody>
                    <a:bodyPr/>
                    <a:lstStyle/>
                    <a:p>
                      <a:endParaRPr lang="en-IN">
                        <a:latin typeface="Aptos" panose="020B0004020202020204" pitchFamily="34" charset="0"/>
                      </a:endParaRPr>
                    </a:p>
                  </a:txBody>
                  <a:tcPr/>
                </a:tc>
                <a:tc>
                  <a:txBody>
                    <a:bodyPr/>
                    <a:lstStyle/>
                    <a:p>
                      <a:endParaRPr lang="en-IN" dirty="0">
                        <a:latin typeface="Aptos" panose="020B0004020202020204" pitchFamily="34" charset="0"/>
                      </a:endParaRP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6</a:t>
            </a:fld>
            <a:endParaRPr lang="en-IN" sz="1200" dirty="0">
              <a:solidFill>
                <a:schemeClr val="accent3"/>
              </a:solidFill>
              <a:latin typeface="Aptos" panose="020B0004020202020204" pitchFamily="34" charset="0"/>
            </a:endParaRPr>
          </a:p>
        </p:txBody>
      </p:sp>
      <p:graphicFrame>
        <p:nvGraphicFramePr>
          <p:cNvPr id="16" name="Table 15"/>
          <p:cNvGraphicFramePr>
            <a:graphicFrameLocks noGrp="1"/>
          </p:cNvGraphicFramePr>
          <p:nvPr/>
        </p:nvGraphicFramePr>
        <p:xfrm>
          <a:off x="320040" y="960120"/>
          <a:ext cx="11521440" cy="5577840"/>
        </p:xfrm>
        <a:graphic>
          <a:graphicData uri="http://schemas.openxmlformats.org/drawingml/2006/table">
            <a:tbl>
              <a:tblPr firstRow="1" bandRow="1">
                <a:tableStyleId>{5C22544A-7EE6-4342-B048-85BDC9FD1C3A}</a:tableStyleId>
              </a:tblPr>
              <a:tblGrid>
                <a:gridCol w="2880360"/>
                <a:gridCol w="2880360"/>
                <a:gridCol w="2880360"/>
                <a:gridCol w="2880360"/>
              </a:tblGrid>
              <a:tr h="429064">
                <a:tc>
                  <a:txBody>
                    <a:bodyPr/>
                    <a:lstStyle/>
                    <a:p>
                      <a:pPr algn="ctr"/>
                      <a:r>
                        <a:rPr sz="1000" b="1">
                          <a:solidFill>
                            <a:srgbClr val="FFFFFF"/>
                          </a:solidFill>
                          <a:latin typeface="Aptos"/>
                        </a:rPr>
                        <a:t>Feature / Capability</a:t>
                      </a:r>
                    </a:p>
                  </a:txBody>
                  <a:tcPr>
                    <a:solidFill>
                      <a:srgbClr val="263F6D"/>
                    </a:solidFill>
                  </a:tcPr>
                </a:tc>
                <a:tc>
                  <a:txBody>
                    <a:bodyPr/>
                    <a:lstStyle/>
                    <a:p>
                      <a:pPr algn="ctr"/>
                      <a:r>
                        <a:rPr sz="1000" b="1">
                          <a:solidFill>
                            <a:srgbClr val="FFFFFF"/>
                          </a:solidFill>
                          <a:latin typeface="Aptos"/>
                        </a:rPr>
                        <a:t>ChatGPT / Claude</a:t>
                      </a:r>
                    </a:p>
                  </a:txBody>
                  <a:tcPr>
                    <a:solidFill>
                      <a:srgbClr val="263F6D"/>
                    </a:solidFill>
                  </a:tcPr>
                </a:tc>
                <a:tc>
                  <a:txBody>
                    <a:bodyPr/>
                    <a:lstStyle/>
                    <a:p>
                      <a:pPr algn="ctr"/>
                      <a:r>
                        <a:rPr sz="1000" b="1">
                          <a:solidFill>
                            <a:srgbClr val="FFFFFF"/>
                          </a:solidFill>
                          <a:latin typeface="Aptos"/>
                        </a:rPr>
                        <a:t>Generic Health Apps</a:t>
                      </a:r>
                    </a:p>
                  </a:txBody>
                  <a:tcPr>
                    <a:solidFill>
                      <a:srgbClr val="263F6D"/>
                    </a:solidFill>
                  </a:tcPr>
                </a:tc>
                <a:tc>
                  <a:txBody>
                    <a:bodyPr/>
                    <a:lstStyle/>
                    <a:p>
                      <a:pPr algn="ctr"/>
                      <a:r>
                        <a:rPr sz="1000" b="1">
                          <a:solidFill>
                            <a:srgbClr val="FFFFFF"/>
                          </a:solidFill>
                          <a:latin typeface="Aptos"/>
                        </a:rPr>
                        <a:t>MediGuide AI</a:t>
                      </a:r>
                    </a:p>
                  </a:txBody>
                  <a:tcPr>
                    <a:solidFill>
                      <a:srgbClr val="263F6D"/>
                    </a:solidFill>
                  </a:tcPr>
                </a:tc>
              </a:tr>
              <a:tr h="429064">
                <a:tc>
                  <a:txBody>
                    <a:bodyPr wrap="square"/>
                    <a:lstStyle/>
                    <a:p>
                      <a:r>
                        <a:rPr sz="900">
                          <a:solidFill>
                            <a:srgbClr val="0D0D0D"/>
                          </a:solidFill>
                          <a:latin typeface="Aptos"/>
                        </a:rPr>
                        <a:t>Drug-Drug Interaction</a:t>
                      </a:r>
                    </a:p>
                  </a:txBody>
                  <a:tcPr>
                    <a:solidFill>
                      <a:srgbClr val="F2F0EB"/>
                    </a:solidFill>
                  </a:tcPr>
                </a:tc>
                <a:tc>
                  <a:txBody>
                    <a:bodyPr wrap="square"/>
                    <a:lstStyle/>
                    <a:p>
                      <a:r>
                        <a:rPr sz="900">
                          <a:solidFill>
                            <a:srgbClr val="0D0D0D"/>
                          </a:solidFill>
                          <a:latin typeface="Aptos"/>
                        </a:rPr>
                        <a:t>LLM guess (probabilistic)</a:t>
                      </a:r>
                    </a:p>
                  </a:txBody>
                  <a:tcPr>
                    <a:solidFill>
                      <a:srgbClr val="F2F0EB"/>
                    </a:solidFill>
                  </a:tcPr>
                </a:tc>
                <a:tc>
                  <a:txBody>
                    <a:bodyPr wrap="square"/>
                    <a:lstStyle/>
                    <a:p>
                      <a:r>
                        <a:rPr sz="900">
                          <a:solidFill>
                            <a:srgbClr val="0D0D0D"/>
                          </a:solidFill>
                          <a:latin typeface="Aptos"/>
                        </a:rPr>
                        <a:t>Basic alerts only</a:t>
                      </a:r>
                    </a:p>
                  </a:txBody>
                  <a:tcPr>
                    <a:solidFill>
                      <a:srgbClr val="F2F0EB"/>
                    </a:solidFill>
                  </a:tcPr>
                </a:tc>
                <a:tc>
                  <a:txBody>
                    <a:bodyPr wrap="square"/>
                    <a:lstStyle/>
                    <a:p>
                      <a:r>
                        <a:rPr sz="900">
                          <a:solidFill>
                            <a:srgbClr val="0D0D0D"/>
                          </a:solidFill>
                          <a:latin typeface="Aptos"/>
                        </a:rPr>
                        <a:t>Deterministic database — guaranteed</a:t>
                      </a:r>
                    </a:p>
                  </a:txBody>
                  <a:tcPr>
                    <a:solidFill>
                      <a:srgbClr val="F2F0EB"/>
                    </a:solidFill>
                  </a:tcPr>
                </a:tc>
              </a:tr>
              <a:tr h="429064">
                <a:tc>
                  <a:txBody>
                    <a:bodyPr wrap="square"/>
                    <a:lstStyle/>
                    <a:p>
                      <a:r>
                        <a:rPr sz="900">
                          <a:solidFill>
                            <a:srgbClr val="0D0D0D"/>
                          </a:solidFill>
                          <a:latin typeface="Aptos"/>
                        </a:rPr>
                        <a:t>Therapeutic Duplication</a:t>
                      </a:r>
                    </a:p>
                  </a:txBody>
                  <a:tcPr>
                    <a:solidFill>
                      <a:srgbClr val="FFFFFF"/>
                    </a:solidFill>
                  </a:tcPr>
                </a:tc>
                <a:tc>
                  <a:txBody>
                    <a:bodyPr wrap="square"/>
                    <a:lstStyle/>
                    <a:p>
                      <a:r>
                        <a:rPr sz="900">
                          <a:solidFill>
                            <a:srgbClr val="0D0D0D"/>
                          </a:solidFill>
                          <a:latin typeface="Aptos"/>
                        </a:rPr>
                        <a:t>Not guaranteed</a:t>
                      </a:r>
                    </a:p>
                  </a:txBody>
                  <a:tcPr>
                    <a:solidFill>
                      <a:srgbClr val="FFFFFF"/>
                    </a:solidFill>
                  </a:tcPr>
                </a:tc>
                <a:tc>
                  <a:txBody>
                    <a:bodyPr wrap="square"/>
                    <a:lstStyle/>
                    <a:p>
                      <a:r>
                        <a:rPr sz="900">
                          <a:solidFill>
                            <a:srgbClr val="0D0D0D"/>
                          </a:solidFill>
                          <a:latin typeface="Aptos"/>
                        </a:rPr>
                        <a:t>No</a:t>
                      </a:r>
                    </a:p>
                  </a:txBody>
                  <a:tcPr>
                    <a:solidFill>
                      <a:srgbClr val="FFFFFF"/>
                    </a:solidFill>
                  </a:tcPr>
                </a:tc>
                <a:tc>
                  <a:txBody>
                    <a:bodyPr wrap="square"/>
                    <a:lstStyle/>
                    <a:p>
                      <a:r>
                        <a:rPr sz="900">
                          <a:solidFill>
                            <a:srgbClr val="0D0D0D"/>
                          </a:solidFill>
                          <a:latin typeface="Aptos"/>
                        </a:rPr>
                        <a:t>YES — Trimox = Amoxicillin (code logic)</a:t>
                      </a:r>
                    </a:p>
                  </a:txBody>
                  <a:tcPr>
                    <a:solidFill>
                      <a:srgbClr val="FFFFFF"/>
                    </a:solidFill>
                  </a:tcPr>
                </a:tc>
              </a:tr>
              <a:tr h="429064">
                <a:tc>
                  <a:txBody>
                    <a:bodyPr wrap="square"/>
                    <a:lstStyle/>
                    <a:p>
                      <a:r>
                        <a:rPr sz="900">
                          <a:solidFill>
                            <a:srgbClr val="0D0D0D"/>
                          </a:solidFill>
                          <a:latin typeface="Aptos"/>
                        </a:rPr>
                        <a:t>Food-Drug Interactions</a:t>
                      </a:r>
                    </a:p>
                  </a:txBody>
                  <a:tcPr>
                    <a:solidFill>
                      <a:srgbClr val="F2F0EB"/>
                    </a:solidFill>
                  </a:tcPr>
                </a:tc>
                <a:tc>
                  <a:txBody>
                    <a:bodyPr wrap="square"/>
                    <a:lstStyle/>
                    <a:p>
                      <a:r>
                        <a:rPr sz="900">
                          <a:solidFill>
                            <a:srgbClr val="0D0D0D"/>
                          </a:solidFill>
                          <a:latin typeface="Aptos"/>
                        </a:rPr>
                        <a:t>General text advice</a:t>
                      </a:r>
                    </a:p>
                  </a:txBody>
                  <a:tcPr>
                    <a:solidFill>
                      <a:srgbClr val="F2F0EB"/>
                    </a:solidFill>
                  </a:tcPr>
                </a:tc>
                <a:tc>
                  <a:txBody>
                    <a:bodyPr wrap="square"/>
                    <a:lstStyle/>
                    <a:p>
                      <a:r>
                        <a:rPr sz="900">
                          <a:solidFill>
                            <a:srgbClr val="0D0D0D"/>
                          </a:solidFill>
                          <a:latin typeface="Aptos"/>
                        </a:rPr>
                        <a:t>No</a:t>
                      </a:r>
                    </a:p>
                  </a:txBody>
                  <a:tcPr>
                    <a:solidFill>
                      <a:srgbClr val="F2F0EB"/>
                    </a:solidFill>
                  </a:tcPr>
                </a:tc>
                <a:tc>
                  <a:txBody>
                    <a:bodyPr wrap="square"/>
                    <a:lstStyle/>
                    <a:p>
                      <a:r>
                        <a:rPr sz="900">
                          <a:solidFill>
                            <a:srgbClr val="0D0D0D"/>
                          </a:solidFill>
                          <a:latin typeface="Aptos"/>
                        </a:rPr>
                        <a:t>8 food categories × 40+ drugs — flagged</a:t>
                      </a:r>
                    </a:p>
                  </a:txBody>
                  <a:tcPr>
                    <a:solidFill>
                      <a:srgbClr val="F2F0EB"/>
                    </a:solidFill>
                  </a:tcPr>
                </a:tc>
              </a:tr>
              <a:tr h="429064">
                <a:tc>
                  <a:txBody>
                    <a:bodyPr wrap="square"/>
                    <a:lstStyle/>
                    <a:p>
                      <a:r>
                        <a:rPr sz="900">
                          <a:solidFill>
                            <a:srgbClr val="0D0D0D"/>
                          </a:solidFill>
                          <a:latin typeface="Aptos"/>
                        </a:rPr>
                        <a:t>Lab Report Interpretation</a:t>
                      </a:r>
                    </a:p>
                  </a:txBody>
                  <a:tcPr>
                    <a:solidFill>
                      <a:srgbClr val="FFFFFF"/>
                    </a:solidFill>
                  </a:tcPr>
                </a:tc>
                <a:tc>
                  <a:txBody>
                    <a:bodyPr wrap="square"/>
                    <a:lstStyle/>
                    <a:p>
                      <a:r>
                        <a:rPr sz="900">
                          <a:solidFill>
                            <a:srgbClr val="0D0D0D"/>
                          </a:solidFill>
                          <a:latin typeface="Aptos"/>
                        </a:rPr>
                        <a:t>Generic explanation</a:t>
                      </a:r>
                    </a:p>
                  </a:txBody>
                  <a:tcPr>
                    <a:solidFill>
                      <a:srgbClr val="FFFFFF"/>
                    </a:solidFill>
                  </a:tcPr>
                </a:tc>
                <a:tc>
                  <a:txBody>
                    <a:bodyPr wrap="square"/>
                    <a:lstStyle/>
                    <a:p>
                      <a:r>
                        <a:rPr sz="900">
                          <a:solidFill>
                            <a:srgbClr val="0D0D0D"/>
                          </a:solidFill>
                          <a:latin typeface="Aptos"/>
                        </a:rPr>
                        <a:t>Reference ranges only</a:t>
                      </a:r>
                    </a:p>
                  </a:txBody>
                  <a:tcPr>
                    <a:solidFill>
                      <a:srgbClr val="FFFFFF"/>
                    </a:solidFill>
                  </a:tcPr>
                </a:tc>
                <a:tc>
                  <a:txBody>
                    <a:bodyPr wrap="square"/>
                    <a:lstStyle/>
                    <a:p>
                      <a:r>
                        <a:rPr sz="900">
                          <a:solidFill>
                            <a:srgbClr val="0D0D0D"/>
                          </a:solidFill>
                          <a:latin typeface="Aptos"/>
                        </a:rPr>
                        <a:t>35+ tests, CRITICAL/WARNING/NORMAL flags</a:t>
                      </a:r>
                    </a:p>
                  </a:txBody>
                  <a:tcPr>
                    <a:solidFill>
                      <a:srgbClr val="FFFFFF"/>
                    </a:solidFill>
                  </a:tcPr>
                </a:tc>
              </a:tr>
              <a:tr h="429064">
                <a:tc>
                  <a:txBody>
                    <a:bodyPr wrap="square"/>
                    <a:lstStyle/>
                    <a:p>
                      <a:r>
                        <a:rPr sz="900">
                          <a:solidFill>
                            <a:srgbClr val="0D0D0D"/>
                          </a:solidFill>
                          <a:latin typeface="Aptos"/>
                        </a:rPr>
                        <a:t>Prescription OCR + Safety</a:t>
                      </a:r>
                    </a:p>
                  </a:txBody>
                  <a:tcPr>
                    <a:solidFill>
                      <a:srgbClr val="F2F0EB"/>
                    </a:solidFill>
                  </a:tcPr>
                </a:tc>
                <a:tc>
                  <a:txBody>
                    <a:bodyPr wrap="square"/>
                    <a:lstStyle/>
                    <a:p>
                      <a:r>
                        <a:rPr sz="900">
                          <a:solidFill>
                            <a:srgbClr val="0D0D0D"/>
                          </a:solidFill>
                          <a:latin typeface="Aptos"/>
                        </a:rPr>
                        <a:t>No local image pipeline</a:t>
                      </a:r>
                    </a:p>
                  </a:txBody>
                  <a:tcPr>
                    <a:solidFill>
                      <a:srgbClr val="F2F0EB"/>
                    </a:solidFill>
                  </a:tcPr>
                </a:tc>
                <a:tc>
                  <a:txBody>
                    <a:bodyPr wrap="square"/>
                    <a:lstStyle/>
                    <a:p>
                      <a:r>
                        <a:rPr sz="900">
                          <a:solidFill>
                            <a:srgbClr val="0D0D0D"/>
                          </a:solidFill>
                          <a:latin typeface="Aptos"/>
                        </a:rPr>
                        <a:t>Scan only, no analysis</a:t>
                      </a:r>
                    </a:p>
                  </a:txBody>
                  <a:tcPr>
                    <a:solidFill>
                      <a:srgbClr val="F2F0EB"/>
                    </a:solidFill>
                  </a:tcPr>
                </a:tc>
                <a:tc>
                  <a:txBody>
                    <a:bodyPr wrap="square"/>
                    <a:lstStyle/>
                    <a:p>
                      <a:r>
                        <a:rPr sz="900">
                          <a:solidFill>
                            <a:srgbClr val="0D0D0D"/>
                          </a:solidFill>
                          <a:latin typeface="Aptos"/>
                        </a:rPr>
                        <a:t>Pillow preprocessing + interaction check</a:t>
                      </a:r>
                    </a:p>
                  </a:txBody>
                  <a:tcPr>
                    <a:solidFill>
                      <a:srgbClr val="F2F0EB"/>
                    </a:solidFill>
                  </a:tcPr>
                </a:tc>
              </a:tr>
              <a:tr h="429064">
                <a:tc>
                  <a:txBody>
                    <a:bodyPr wrap="square"/>
                    <a:lstStyle/>
                    <a:p>
                      <a:r>
                        <a:rPr sz="900">
                          <a:solidFill>
                            <a:srgbClr val="0D0D0D"/>
                          </a:solidFill>
                          <a:latin typeface="Aptos"/>
                        </a:rPr>
                        <a:t>Health Risk Score (1-100)</a:t>
                      </a:r>
                    </a:p>
                  </a:txBody>
                  <a:tcPr>
                    <a:solidFill>
                      <a:srgbClr val="FFFFFF"/>
                    </a:solidFill>
                  </a:tcPr>
                </a:tc>
                <a:tc>
                  <a:txBody>
                    <a:bodyPr wrap="square"/>
                    <a:lstStyle/>
                    <a:p>
                      <a:r>
                        <a:rPr sz="900">
                          <a:solidFill>
                            <a:srgbClr val="0D0D0D"/>
                          </a:solidFill>
                          <a:latin typeface="Aptos"/>
                        </a:rPr>
                        <a:t>No — vague language only</a:t>
                      </a:r>
                    </a:p>
                  </a:txBody>
                  <a:tcPr>
                    <a:solidFill>
                      <a:srgbClr val="FFFFFF"/>
                    </a:solidFill>
                  </a:tcPr>
                </a:tc>
                <a:tc>
                  <a:txBody>
                    <a:bodyPr wrap="square"/>
                    <a:lstStyle/>
                    <a:p>
                      <a:r>
                        <a:rPr sz="900">
                          <a:solidFill>
                            <a:srgbClr val="0D0D0D"/>
                          </a:solidFill>
                          <a:latin typeface="Aptos"/>
                        </a:rPr>
                        <a:t>No</a:t>
                      </a:r>
                    </a:p>
                  </a:txBody>
                  <a:tcPr>
                    <a:solidFill>
                      <a:srgbClr val="FFFFFF"/>
                    </a:solidFill>
                  </a:tcPr>
                </a:tc>
                <a:tc>
                  <a:txBody>
                    <a:bodyPr wrap="square"/>
                    <a:lstStyle/>
                    <a:p>
                      <a:r>
                        <a:rPr sz="900">
                          <a:solidFill>
                            <a:srgbClr val="0D0D0D"/>
                          </a:solidFill>
                          <a:latin typeface="Aptos"/>
                        </a:rPr>
                        <a:t>YES — 7-factor auditable algorithm</a:t>
                      </a:r>
                    </a:p>
                  </a:txBody>
                  <a:tcPr>
                    <a:solidFill>
                      <a:srgbClr val="FFFFFF"/>
                    </a:solidFill>
                  </a:tcPr>
                </a:tc>
              </a:tr>
              <a:tr h="429064">
                <a:tc>
                  <a:txBody>
                    <a:bodyPr wrap="square"/>
                    <a:lstStyle/>
                    <a:p>
                      <a:r>
                        <a:rPr sz="900">
                          <a:solidFill>
                            <a:srgbClr val="0D0D0D"/>
                          </a:solidFill>
                          <a:latin typeface="Aptos"/>
                        </a:rPr>
                        <a:t>Daily Medication Schedule</a:t>
                      </a:r>
                    </a:p>
                  </a:txBody>
                  <a:tcPr>
                    <a:solidFill>
                      <a:srgbClr val="F2F0EB"/>
                    </a:solidFill>
                  </a:tcPr>
                </a:tc>
                <a:tc>
                  <a:txBody>
                    <a:bodyPr wrap="square"/>
                    <a:lstStyle/>
                    <a:p>
                      <a:r>
                        <a:rPr sz="900">
                          <a:solidFill>
                            <a:srgbClr val="0D0D0D"/>
                          </a:solidFill>
                          <a:latin typeface="Aptos"/>
                        </a:rPr>
                        <a:t>Generic timing advice</a:t>
                      </a:r>
                    </a:p>
                  </a:txBody>
                  <a:tcPr>
                    <a:solidFill>
                      <a:srgbClr val="F2F0EB"/>
                    </a:solidFill>
                  </a:tcPr>
                </a:tc>
                <a:tc>
                  <a:txBody>
                    <a:bodyPr wrap="square"/>
                    <a:lstStyle/>
                    <a:p>
                      <a:r>
                        <a:rPr sz="900">
                          <a:solidFill>
                            <a:srgbClr val="0D0D0D"/>
                          </a:solidFill>
                          <a:latin typeface="Aptos"/>
                        </a:rPr>
                        <a:t>Reminder only</a:t>
                      </a:r>
                    </a:p>
                  </a:txBody>
                  <a:tcPr>
                    <a:solidFill>
                      <a:srgbClr val="F2F0EB"/>
                    </a:solidFill>
                  </a:tcPr>
                </a:tc>
                <a:tc>
                  <a:txBody>
                    <a:bodyPr wrap="square"/>
                    <a:lstStyle/>
                    <a:p>
                      <a:r>
                        <a:rPr sz="900">
                          <a:solidFill>
                            <a:srgbClr val="0D0D0D"/>
                          </a:solidFill>
                          <a:latin typeface="Aptos"/>
                        </a:rPr>
                        <a:t>Clinically timed slots per drug (ADK)</a:t>
                      </a:r>
                    </a:p>
                  </a:txBody>
                  <a:tcPr>
                    <a:solidFill>
                      <a:srgbClr val="F2F0EB"/>
                    </a:solidFill>
                  </a:tcPr>
                </a:tc>
              </a:tr>
              <a:tr h="429064">
                <a:tc>
                  <a:txBody>
                    <a:bodyPr wrap="square"/>
                    <a:lstStyle/>
                    <a:p>
                      <a:r>
                        <a:rPr sz="900">
                          <a:solidFill>
                            <a:srgbClr val="0D0D0D"/>
                          </a:solidFill>
                          <a:latin typeface="Aptos"/>
                        </a:rPr>
                        <a:t>X-Ray / ECG Routing</a:t>
                      </a:r>
                    </a:p>
                  </a:txBody>
                  <a:tcPr>
                    <a:solidFill>
                      <a:srgbClr val="FFFFFF"/>
                    </a:solidFill>
                  </a:tcPr>
                </a:tc>
                <a:tc>
                  <a:txBody>
                    <a:bodyPr wrap="square"/>
                    <a:lstStyle/>
                    <a:p>
                      <a:r>
                        <a:rPr sz="900">
                          <a:solidFill>
                            <a:srgbClr val="0D0D0D"/>
                          </a:solidFill>
                          <a:latin typeface="Aptos"/>
                        </a:rPr>
                        <a:t>No image processing</a:t>
                      </a:r>
                    </a:p>
                  </a:txBody>
                  <a:tcPr>
                    <a:solidFill>
                      <a:srgbClr val="FFFFFF"/>
                    </a:solidFill>
                  </a:tcPr>
                </a:tc>
                <a:tc>
                  <a:txBody>
                    <a:bodyPr wrap="square"/>
                    <a:lstStyle/>
                    <a:p>
                      <a:r>
                        <a:rPr sz="900">
                          <a:solidFill>
                            <a:srgbClr val="0D0D0D"/>
                          </a:solidFill>
                          <a:latin typeface="Aptos"/>
                        </a:rPr>
                        <a:t>No</a:t>
                      </a:r>
                    </a:p>
                  </a:txBody>
                  <a:tcPr>
                    <a:solidFill>
                      <a:srgbClr val="FFFFFF"/>
                    </a:solidFill>
                  </a:tcPr>
                </a:tc>
                <a:tc>
                  <a:txBody>
                    <a:bodyPr wrap="square"/>
                    <a:lstStyle/>
                    <a:p>
                      <a:r>
                        <a:rPr sz="900">
                          <a:solidFill>
                            <a:srgbClr val="0D0D0D"/>
                          </a:solidFill>
                          <a:latin typeface="Aptos"/>
                        </a:rPr>
                        <a:t>Multimodal Gemini Vision + routing</a:t>
                      </a:r>
                    </a:p>
                  </a:txBody>
                  <a:tcPr>
                    <a:solidFill>
                      <a:srgbClr val="FFFFFF"/>
                    </a:solidFill>
                  </a:tcPr>
                </a:tc>
              </a:tr>
              <a:tr h="429064">
                <a:tc>
                  <a:txBody>
                    <a:bodyPr wrap="square"/>
                    <a:lstStyle/>
                    <a:p>
                      <a:r>
                        <a:rPr sz="900">
                          <a:solidFill>
                            <a:srgbClr val="0D0D0D"/>
                          </a:solidFill>
                          <a:latin typeface="Aptos"/>
                        </a:rPr>
                        <a:t>Multi-Agent Architecture</a:t>
                      </a:r>
                    </a:p>
                  </a:txBody>
                  <a:tcPr>
                    <a:solidFill>
                      <a:srgbClr val="F2F0EB"/>
                    </a:solidFill>
                  </a:tcPr>
                </a:tc>
                <a:tc>
                  <a:txBody>
                    <a:bodyPr wrap="square"/>
                    <a:lstStyle/>
                    <a:p>
                      <a:r>
                        <a:rPr sz="900">
                          <a:solidFill>
                            <a:srgbClr val="0D0D0D"/>
                          </a:solidFill>
                          <a:latin typeface="Aptos"/>
                        </a:rPr>
                        <a:t>Single model response</a:t>
                      </a:r>
                    </a:p>
                  </a:txBody>
                  <a:tcPr>
                    <a:solidFill>
                      <a:srgbClr val="F2F0EB"/>
                    </a:solidFill>
                  </a:tcPr>
                </a:tc>
                <a:tc>
                  <a:txBody>
                    <a:bodyPr wrap="square"/>
                    <a:lstStyle/>
                    <a:p>
                      <a:r>
                        <a:rPr sz="900">
                          <a:solidFill>
                            <a:srgbClr val="0D0D0D"/>
                          </a:solidFill>
                          <a:latin typeface="Aptos"/>
                        </a:rPr>
                        <a:t>No agents</a:t>
                      </a:r>
                    </a:p>
                  </a:txBody>
                  <a:tcPr>
                    <a:solidFill>
                      <a:srgbClr val="F2F0EB"/>
                    </a:solidFill>
                  </a:tcPr>
                </a:tc>
                <a:tc>
                  <a:txBody>
                    <a:bodyPr wrap="square"/>
                    <a:lstStyle/>
                    <a:p>
                      <a:r>
                        <a:rPr sz="900">
                          <a:solidFill>
                            <a:srgbClr val="0D0D0D"/>
                          </a:solidFill>
                          <a:latin typeface="Aptos"/>
                        </a:rPr>
                        <a:t>5 specialist ADK sub-agents</a:t>
                      </a:r>
                    </a:p>
                  </a:txBody>
                  <a:tcPr>
                    <a:solidFill>
                      <a:srgbClr val="F2F0EB"/>
                    </a:solidFill>
                  </a:tcPr>
                </a:tc>
              </a:tr>
              <a:tr h="429064">
                <a:tc>
                  <a:txBody>
                    <a:bodyPr wrap="square"/>
                    <a:lstStyle/>
                    <a:p>
                      <a:r>
                        <a:rPr sz="900">
                          <a:solidFill>
                            <a:srgbClr val="0D0D0D"/>
                          </a:solidFill>
                          <a:latin typeface="Aptos"/>
                        </a:rPr>
                        <a:t>Privacy / PII Redaction</a:t>
                      </a:r>
                    </a:p>
                  </a:txBody>
                  <a:tcPr>
                    <a:solidFill>
                      <a:srgbClr val="FFFFFF"/>
                    </a:solidFill>
                  </a:tcPr>
                </a:tc>
                <a:tc>
                  <a:txBody>
                    <a:bodyPr wrap="square"/>
                    <a:lstStyle/>
                    <a:p>
                      <a:r>
                        <a:rPr sz="900">
                          <a:solidFill>
                            <a:srgbClr val="0D0D0D"/>
                          </a:solidFill>
                          <a:latin typeface="Aptos"/>
                        </a:rPr>
                        <a:t>Data sent to OpenAI cloud</a:t>
                      </a:r>
                    </a:p>
                  </a:txBody>
                  <a:tcPr>
                    <a:solidFill>
                      <a:srgbClr val="FFFFFF"/>
                    </a:solidFill>
                  </a:tcPr>
                </a:tc>
                <a:tc>
                  <a:txBody>
                    <a:bodyPr wrap="square"/>
                    <a:lstStyle/>
                    <a:p>
                      <a:r>
                        <a:rPr sz="900">
                          <a:solidFill>
                            <a:srgbClr val="0D0D0D"/>
                          </a:solidFill>
                          <a:latin typeface="Aptos"/>
                        </a:rPr>
                        <a:t>Cloud-only storage</a:t>
                      </a:r>
                    </a:p>
                  </a:txBody>
                  <a:tcPr>
                    <a:solidFill>
                      <a:srgbClr val="FFFFFF"/>
                    </a:solidFill>
                  </a:tcPr>
                </a:tc>
                <a:tc>
                  <a:txBody>
                    <a:bodyPr wrap="square"/>
                    <a:lstStyle/>
                    <a:p>
                      <a:r>
                        <a:rPr sz="900">
                          <a:solidFill>
                            <a:srgbClr val="0D0D0D"/>
                          </a:solidFill>
                          <a:latin typeface="Aptos"/>
                        </a:rPr>
                        <a:t>Local security layer + redaction</a:t>
                      </a:r>
                    </a:p>
                  </a:txBody>
                  <a:tcPr>
                    <a:solidFill>
                      <a:srgbClr val="FFFFFF"/>
                    </a:solidFill>
                  </a:tcPr>
                </a:tc>
              </a:tr>
              <a:tr h="429064">
                <a:tc>
                  <a:txBody>
                    <a:bodyPr wrap="square"/>
                    <a:lstStyle/>
                    <a:p>
                      <a:r>
                        <a:rPr sz="900">
                          <a:solidFill>
                            <a:srgbClr val="0D0D0D"/>
                          </a:solidFill>
                          <a:latin typeface="Aptos"/>
                        </a:rPr>
                        <a:t>Offline Fallback Mode</a:t>
                      </a:r>
                    </a:p>
                  </a:txBody>
                  <a:tcPr>
                    <a:solidFill>
                      <a:srgbClr val="F2F0EB"/>
                    </a:solidFill>
                  </a:tcPr>
                </a:tc>
                <a:tc>
                  <a:txBody>
                    <a:bodyPr wrap="square"/>
                    <a:lstStyle/>
                    <a:p>
                      <a:r>
                        <a:rPr sz="900">
                          <a:solidFill>
                            <a:srgbClr val="0D0D0D"/>
                          </a:solidFill>
                          <a:latin typeface="Aptos"/>
                        </a:rPr>
                        <a:t>No — requires internet</a:t>
                      </a:r>
                    </a:p>
                  </a:txBody>
                  <a:tcPr>
                    <a:solidFill>
                      <a:srgbClr val="F2F0EB"/>
                    </a:solidFill>
                  </a:tcPr>
                </a:tc>
                <a:tc>
                  <a:txBody>
                    <a:bodyPr wrap="square"/>
                    <a:lstStyle/>
                    <a:p>
                      <a:r>
                        <a:rPr sz="900">
                          <a:solidFill>
                            <a:srgbClr val="0D0D0D"/>
                          </a:solidFill>
                          <a:latin typeface="Aptos"/>
                        </a:rPr>
                        <a:t>No</a:t>
                      </a:r>
                    </a:p>
                  </a:txBody>
                  <a:tcPr>
                    <a:solidFill>
                      <a:srgbClr val="F2F0EB"/>
                    </a:solidFill>
                  </a:tcPr>
                </a:tc>
                <a:tc>
                  <a:txBody>
                    <a:bodyPr wrap="square"/>
                    <a:lstStyle/>
                    <a:p>
                      <a:r>
                        <a:rPr sz="900">
                          <a:solidFill>
                            <a:srgbClr val="0D0D0D"/>
                          </a:solidFill>
                          <a:latin typeface="Aptos"/>
                        </a:rPr>
                        <a:t>YES — deterministic simulation mode</a:t>
                      </a:r>
                    </a:p>
                  </a:txBody>
                  <a:tcPr>
                    <a:solidFill>
                      <a:srgbClr val="F2F0EB"/>
                    </a:solidFill>
                  </a:tcPr>
                </a:tc>
              </a:tr>
              <a:tr h="429072">
                <a:tc>
                  <a:txBody>
                    <a:bodyPr wrap="square"/>
                    <a:lstStyle/>
                    <a:p>
                      <a:r>
                        <a:rPr sz="900">
                          <a:solidFill>
                            <a:srgbClr val="0D0D0D"/>
                          </a:solidFill>
                          <a:latin typeface="Aptos"/>
                        </a:rPr>
                        <a:t>Deployable (Docker + API)</a:t>
                      </a:r>
                    </a:p>
                  </a:txBody>
                  <a:tcPr>
                    <a:solidFill>
                      <a:srgbClr val="FFFFFF"/>
                    </a:solidFill>
                  </a:tcPr>
                </a:tc>
                <a:tc>
                  <a:txBody>
                    <a:bodyPr wrap="square"/>
                    <a:lstStyle/>
                    <a:p>
                      <a:r>
                        <a:rPr sz="900">
                          <a:solidFill>
                            <a:srgbClr val="0D0D0D"/>
                          </a:solidFill>
                          <a:latin typeface="Aptos"/>
                        </a:rPr>
                        <a:t>No self-hosting</a:t>
                      </a:r>
                    </a:p>
                  </a:txBody>
                  <a:tcPr>
                    <a:solidFill>
                      <a:srgbClr val="FFFFFF"/>
                    </a:solidFill>
                  </a:tcPr>
                </a:tc>
                <a:tc>
                  <a:txBody>
                    <a:bodyPr wrap="square"/>
                    <a:lstStyle/>
                    <a:p>
                      <a:r>
                        <a:rPr sz="900">
                          <a:solidFill>
                            <a:srgbClr val="0D0D0D"/>
                          </a:solidFill>
                          <a:latin typeface="Aptos"/>
                        </a:rPr>
                        <a:t>App-store only</a:t>
                      </a:r>
                    </a:p>
                  </a:txBody>
                  <a:tcPr>
                    <a:solidFill>
                      <a:srgbClr val="FFFFFF"/>
                    </a:solidFill>
                  </a:tcPr>
                </a:tc>
                <a:tc>
                  <a:txBody>
                    <a:bodyPr wrap="square"/>
                    <a:lstStyle/>
                    <a:p>
                      <a:r>
                        <a:rPr sz="900">
                          <a:solidFill>
                            <a:srgbClr val="0D0D0D"/>
                          </a:solidFill>
                          <a:latin typeface="Aptos"/>
                        </a:rPr>
                        <a:t>YES — FastAPI + Docker + MCP server</a:t>
                      </a:r>
                    </a:p>
                  </a:txBody>
                  <a:tcPr>
                    <a:solidFill>
                      <a:srgbClr val="FFFFFF"/>
                    </a:solidFill>
                  </a:tcPr>
                </a:tc>
              </a:tr>
            </a:tbl>
          </a:graphicData>
        </a:graphic>
      </p:graphicFrame>
    </p:spTree>
    <p:extLst>
      <p:ext uri="{BB962C8B-B14F-4D97-AF65-F5344CB8AC3E}">
        <p14:creationId xmlns:p14="http://schemas.microsoft.com/office/powerpoint/2010/main" val="379331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D7937-3D8B-278C-2D63-4D4F4877771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7B7C198-146F-A7B4-5174-3F0BC6CB4C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10" name="TextBox 9">
            <a:extLst>
              <a:ext uri="{FF2B5EF4-FFF2-40B4-BE49-F238E27FC236}">
                <a16:creationId xmlns:a16="http://schemas.microsoft.com/office/drawing/2014/main" id="{DE8CE75F-D6B4-4EC3-E2B8-168FAC8A2860}"/>
              </a:ext>
            </a:extLst>
          </p:cNvPr>
          <p:cNvSpPr txBox="1"/>
          <p:nvPr/>
        </p:nvSpPr>
        <p:spPr>
          <a:xfrm>
            <a:off x="651268" y="537346"/>
            <a:ext cx="6097712" cy="584775"/>
          </a:xfrm>
          <a:prstGeom prst="rect">
            <a:avLst/>
          </a:prstGeom>
          <a:noFill/>
        </p:spPr>
        <p:txBody>
          <a:bodyPr wrap="square">
            <a:spAutoFit/>
          </a:bodyPr>
          <a:lstStyle/>
          <a:p>
            <a:r>
              <a:rPr lang="en-IN" sz="3200" b="1" dirty="0">
                <a:latin typeface="Book Antiqua" panose="02040602050305030304" pitchFamily="18" charset="0"/>
              </a:rPr>
              <a:t>Abstract</a:t>
            </a:r>
          </a:p>
        </p:txBody>
      </p:sp>
      <p:sp>
        <p:nvSpPr>
          <p:cNvPr id="13" name="Date Placeholder 3">
            <a:extLst>
              <a:ext uri="{FF2B5EF4-FFF2-40B4-BE49-F238E27FC236}">
                <a16:creationId xmlns:a16="http://schemas.microsoft.com/office/drawing/2014/main" id="{B1877274-0A83-84DE-8F0F-85864E713BC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CF3D0035-2535-528A-B988-D5E01A0C442D}"/>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EA93DE7F-A7E1-5470-2E82-980D33CF8E6C}"/>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7</a:t>
            </a:fld>
            <a:endParaRPr lang="en-IN" sz="1200" dirty="0">
              <a:solidFill>
                <a:schemeClr val="accent3"/>
              </a:solidFill>
              <a:latin typeface="Aptos" panose="020B0004020202020204" pitchFamily="34" charset="0"/>
            </a:endParaRPr>
          </a:p>
        </p:txBody>
      </p:sp>
      <p:sp>
        <p:nvSpPr>
          <p:cNvPr id="4" name="TextBox 3">
            <a:extLst>
              <a:ext uri="{FF2B5EF4-FFF2-40B4-BE49-F238E27FC236}">
                <a16:creationId xmlns:a16="http://schemas.microsoft.com/office/drawing/2014/main" id="{EA6F7D36-7EB9-CB51-13C8-1F4DA8ABDD89}"/>
              </a:ext>
            </a:extLst>
          </p:cNvPr>
          <p:cNvSpPr txBox="1"/>
          <p:nvPr/>
        </p:nvSpPr>
        <p:spPr>
          <a:xfrm>
            <a:off x="1806905" y="1323448"/>
            <a:ext cx="7913869" cy="3729611"/>
          </a:xfrm>
          <a:prstGeom prst="rect">
            <a:avLst/>
          </a:prstGeom>
          <a:noFill/>
        </p:spPr>
        <p:txBody>
          <a:bodyPr wrap="square">
            <a:spAutoFit/>
          </a:bodyPr>
          <a:lstStyle/>
          <a:p>
            <a:pPr marL="0" marR="0" fontAlgn="base">
              <a:lnSpc>
                <a:spcPct val="150000"/>
              </a:lnSpc>
              <a:spcAft>
                <a:spcPts val="1000"/>
              </a:spcAft>
              <a:buNone/>
            </a:pPr>
            <a:r>
              <a:rPr b="1"/>
              <a:t>Introduction / Importance: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t>Healthcare accessibility and medication safety represent two of the most pressing challenges in modern medicine, affecting billions of people globally.</a:t>
            </a:r>
          </a:p>
          <a:p>
            <a:r>
              <a:t/>
            </a:r>
          </a:p>
          <a:p>
            <a:r>
              <a:t>Problem Statement / Research Gap:</a:t>
            </a:r>
          </a:p>
          <a:p>
            <a:r>
              <a:t>Over 250,000 preventable deaths occur annually due to medical errors — predominantly from undetected drug interactions, misread laboratory reports, and inadequate patient guidance. Existing AI assistants provide probabilistic text responses that lack the deterministic safety guarantees required in clinical contexts. No current application unifies prescription analysis, lab interpretation, food-drug safety, and medication scheduling in one agentic pipeline.</a:t>
            </a:r>
          </a:p>
          <a:p>
            <a:r>
              <a:t/>
            </a:r>
          </a:p>
          <a:p>
            <a:r>
              <a:t>Objective:</a:t>
            </a:r>
          </a:p>
          <a:p>
            <a:r>
              <a:t>MediGuide AI addresses this crisis by deploying a multimodal, multi-agent healthcare navigation system built on Google's Agent Development Kit (ADK) that empowers patients to safely interpret their own health data.</a:t>
            </a:r>
          </a:p>
          <a:p>
            <a:r>
              <a:t/>
            </a:r>
          </a:p>
          <a:p>
            <a:r>
              <a:t>Methodology:</a:t>
            </a:r>
          </a:p>
          <a:p>
            <a:r>
              <a:t>The system coordinates five specialized AI sub-agents — TriageAgent, ResearchAgent, SchedulerAgent, VisionAgent, and LabAgent — through a root OrchestratorAgent. Safety-critical operations (drug interaction checking, lab value flagging) use deterministic clinical databases; contextual reasoning uses Gemini LLM. A Pillow image preprocessing pipeline handles prescription OCR, skin analysis, X-ray, and ECG routing.</a:t>
            </a:r>
          </a:p>
          <a:p>
            <a:r>
              <a:t/>
            </a:r>
          </a:p>
          <a:p>
            <a:r>
              <a:t>Key Findings / Parameters:</a:t>
            </a:r>
          </a:p>
          <a:p>
            <a:r>
              <a:t>The system correctly identifies therapeutic duplications (Trimox/Amoxicillin), flags dangerous food interactions (Warfarin × Grapefruit = 2–5× overdose risk), annotates 35+ lab tests with CRITICAL/WARNING/NORMAL severity flags, computes a quantified Health Risk Score (1–100), and generates clinically timed daily medication schedules.</a:t>
            </a:r>
          </a:p>
          <a:p>
            <a:r>
              <a:t/>
            </a:r>
          </a:p>
          <a:p>
            <a:r>
              <a:t>Implications:</a:t>
            </a:r>
          </a:p>
          <a:p>
            <a:r>
              <a:t>MediGuide AI demonstrates that combining deterministic clinical knowledge bases with LLM reasoning in a specialist multi-agent architecture can deliver safer, more reliable, and more accessible healthcare guidance than any single general-purpose AI model — directly targeting the preventable medical error crisis.</a:t>
            </a:r>
          </a:p>
          <a:p>
            <a:r>
              <a:t/>
            </a:r>
          </a:p>
          <a:p>
            <a:r>
              <a:t>Keywords: Multi-Agent AI, Google ADK, Drug Interaction, Lab Report Analysis, Multimodal Vision, Medication Safety, Clinical Decision Support, Healthcare Navigation</a:t>
            </a:r>
          </a:p>
        </p:txBody>
      </p:sp>
    </p:spTree>
    <p:extLst>
      <p:ext uri="{BB962C8B-B14F-4D97-AF65-F5344CB8AC3E}">
        <p14:creationId xmlns:p14="http://schemas.microsoft.com/office/powerpoint/2010/main" val="374092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CFFE-0E57-6C12-C7C0-DFC70253D74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9F9C9C-0D4F-5D8B-BD8E-8E20F3C21D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C1766489-E1FE-962C-85E0-4FE40C0A7900}"/>
              </a:ext>
            </a:extLst>
          </p:cNvPr>
          <p:cNvSpPr txBox="1"/>
          <p:nvPr/>
        </p:nvSpPr>
        <p:spPr>
          <a:xfrm>
            <a:off x="922104" y="978551"/>
            <a:ext cx="10058429" cy="1298882"/>
          </a:xfrm>
          <a:prstGeom prst="rect">
            <a:avLst/>
          </a:prstGeom>
          <a:noFill/>
        </p:spPr>
        <p:txBody>
          <a:bodyPr wrap="square">
            <a:spAutoFit/>
          </a:bodyPr>
          <a:lstStyle/>
          <a:p>
            <a:pPr>
              <a:lnSpc>
                <a:spcPct val="150000"/>
              </a:lnSpc>
            </a:pPr>
            <a:r>
              <a:t>1.  DETERMINISTIC SAFETY CORE — Drug-drug interactions, brand-to-generic mapping, and food-drug warnings</a:t>
            </a:r>
          </a:p>
          <a:p>
            <a:r>
              <a:t>    use deterministic code, not LLM inference. This is the fundamental safety architecture distinction.</a:t>
            </a:r>
          </a:p>
          <a:p>
            <a:r>
              <a:t>    General-purpose AI cannot guarantee drug interaction correctness — MediGuide's code can.</a:t>
            </a:r>
          </a:p>
          <a:p>
            <a:r>
              <a:t/>
            </a:r>
          </a:p>
          <a:p>
            <a:r>
              <a:t>2.  QUANTIFIED HEALTH RISK SCORE — A 7-factor weighted algorithm produces a 1–100 clinical risk metric,</a:t>
            </a:r>
          </a:p>
          <a:p>
            <a:r>
              <a:t>    replacing vague urgency labels. This aligns with established triage methodologies (NEWS2, APACHE).</a:t>
            </a:r>
          </a:p>
          <a:p>
            <a:r>
              <a:t>    The score is fully auditable: every point is traceable to a contributing clinical factor.</a:t>
            </a:r>
          </a:p>
          <a:p>
            <a:r>
              <a:t/>
            </a:r>
          </a:p>
          <a:p>
            <a:r>
              <a:t>3.  UNIFIED MULTIMODAL PIPELINE — One system handles prescriptions, X-rays, ECGs, skin conditions, and</a:t>
            </a:r>
          </a:p>
          <a:p>
            <a:r>
              <a:t>    blood reports — with specialized Pillow preprocessing per image modality before LLM analysis.</a:t>
            </a:r>
          </a:p>
          <a:p>
            <a:r>
              <a:t/>
            </a:r>
          </a:p>
          <a:p>
            <a:r>
              <a:t>4.  FOOD-DRUG INTELLIGENCE — Most apps check drug-drug interactions. MediGuide additionally detects</a:t>
            </a:r>
          </a:p>
          <a:p>
            <a:r>
              <a:t>    dangerous food-drug interactions across 8 food categories (Grapefruit × Warfarin = 2–5× overdose).</a:t>
            </a:r>
          </a:p>
          <a:p>
            <a:r>
              <a:t/>
            </a:r>
          </a:p>
          <a:p>
            <a:r>
              <a:t>5.  ADK MULTI-AGENT SPECIALIZATION — First healthcare application of Google ADK with 5 domain-specialist</a:t>
            </a:r>
          </a:p>
          <a:p>
            <a:r>
              <a:t>    sub-agents, mirroring real hospital referral pathways (GP → Cardiologist → Radiologist).</a:t>
            </a:r>
          </a:p>
        </p:txBody>
      </p:sp>
      <p:sp>
        <p:nvSpPr>
          <p:cNvPr id="6" name="TextBox 5">
            <a:extLst>
              <a:ext uri="{FF2B5EF4-FFF2-40B4-BE49-F238E27FC236}">
                <a16:creationId xmlns:a16="http://schemas.microsoft.com/office/drawing/2014/main" id="{B1E80B1F-40AD-F8B2-0D55-CFB4AC08A382}"/>
              </a:ext>
            </a:extLst>
          </p:cNvPr>
          <p:cNvSpPr txBox="1"/>
          <p:nvPr/>
        </p:nvSpPr>
        <p:spPr>
          <a:xfrm>
            <a:off x="922104" y="3652028"/>
            <a:ext cx="8496756" cy="1298882"/>
          </a:xfrm>
          <a:prstGeom prst="rect">
            <a:avLst/>
          </a:prstGeom>
          <a:noFill/>
        </p:spPr>
        <p:txBody>
          <a:bodyPr wrap="square">
            <a:spAutoFit/>
          </a:bodyPr>
          <a:lstStyle/>
          <a:p>
            <a:pPr>
              <a:lnSpc>
                <a:spcPct val="150000"/>
              </a:lnSpc>
            </a:pPr>
            <a:r>
              <a:t>DELIVERABLES:</a:t>
            </a:r>
          </a:p>
          <a:p>
            <a:r>
              <a:t>• Fully functional multi-agent healthcare AI system (Python / Google ADK)</a:t>
            </a:r>
          </a:p>
          <a:p>
            <a:r>
              <a:t>• REST API server (FastAPI) for integration with any frontend</a:t>
            </a:r>
          </a:p>
          <a:p>
            <a:r>
              <a:t>• Docker containerized deployment-ready application</a:t>
            </a:r>
          </a:p>
          <a:p>
            <a:r>
              <a:t>• 5 standalone CLI skills: lab analyzer, OCR, symptom checker, scheduler, drug interactions</a:t>
            </a:r>
          </a:p>
          <a:p>
            <a:r>
              <a:t>• Kaggle notebook documenting the complete pipeline with reproducible results</a:t>
            </a:r>
          </a:p>
          <a:p>
            <a:r>
              <a:t>• Clinical lab DB: 35+ blood test reference ranges with severity tiers</a:t>
            </a:r>
          </a:p>
          <a:p>
            <a:r>
              <a:t>• Drug interaction DB: 50+ pairs + food-drug: 8 categories × 40+ medications</a:t>
            </a:r>
          </a:p>
          <a:p>
            <a:r>
              <a:t>• Complete technical report, abstract, and IEEE-formatted literature review</a:t>
            </a:r>
          </a:p>
          <a:p>
            <a:r>
              <a:t/>
            </a:r>
          </a:p>
          <a:p>
            <a:r>
              <a:t>REAL-WORLD IMPACT:</a:t>
            </a:r>
          </a:p>
          <a:p>
            <a:r>
              <a:t>• Empowers patients to interpret their own blood reports without waiting for a doctor's appointment</a:t>
            </a:r>
          </a:p>
          <a:p>
            <a:r>
              <a:t>• Prevents dangerous medication combinations including those prescribed by different doctors</a:t>
            </a:r>
          </a:p>
          <a:p>
            <a:r>
              <a:t>• Provides clinically validated medication timing schedules reducing adherence errors</a:t>
            </a:r>
          </a:p>
        </p:txBody>
      </p:sp>
      <p:sp>
        <p:nvSpPr>
          <p:cNvPr id="8" name="TextBox 7">
            <a:extLst>
              <a:ext uri="{FF2B5EF4-FFF2-40B4-BE49-F238E27FC236}">
                <a16:creationId xmlns:a16="http://schemas.microsoft.com/office/drawing/2014/main" id="{184DB8FA-8D5C-3599-7F98-9D13643289BA}"/>
              </a:ext>
            </a:extLst>
          </p:cNvPr>
          <p:cNvSpPr txBox="1"/>
          <p:nvPr/>
        </p:nvSpPr>
        <p:spPr>
          <a:xfrm>
            <a:off x="562510"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Novelty / Innovation</a:t>
            </a:r>
          </a:p>
        </p:txBody>
      </p:sp>
      <p:sp>
        <p:nvSpPr>
          <p:cNvPr id="10" name="TextBox 9">
            <a:extLst>
              <a:ext uri="{FF2B5EF4-FFF2-40B4-BE49-F238E27FC236}">
                <a16:creationId xmlns:a16="http://schemas.microsoft.com/office/drawing/2014/main" id="{906092D4-C0D2-83BA-70BC-9E5FE2DD03F8}"/>
              </a:ext>
            </a:extLst>
          </p:cNvPr>
          <p:cNvSpPr txBox="1"/>
          <p:nvPr/>
        </p:nvSpPr>
        <p:spPr>
          <a:xfrm>
            <a:off x="562510" y="2753742"/>
            <a:ext cx="6097712" cy="584775"/>
          </a:xfrm>
          <a:prstGeom prst="rect">
            <a:avLst/>
          </a:prstGeom>
          <a:noFill/>
        </p:spPr>
        <p:txBody>
          <a:bodyPr wrap="square">
            <a:spAutoFit/>
          </a:bodyPr>
          <a:lstStyle/>
          <a:p>
            <a:pPr>
              <a:buNone/>
            </a:pPr>
            <a:r>
              <a:rPr lang="en-US" sz="3200" b="1" dirty="0">
                <a:latin typeface="Book Antiqua" panose="02040602050305030304" pitchFamily="18" charset="0"/>
              </a:rPr>
              <a:t>Expected Outcomes</a:t>
            </a:r>
          </a:p>
        </p:txBody>
      </p:sp>
      <p:sp>
        <p:nvSpPr>
          <p:cNvPr id="13" name="Date Placeholder 3">
            <a:extLst>
              <a:ext uri="{FF2B5EF4-FFF2-40B4-BE49-F238E27FC236}">
                <a16:creationId xmlns:a16="http://schemas.microsoft.com/office/drawing/2014/main" id="{088FBEB9-E56D-5C2E-8771-9B8716579C46}"/>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CE7E5F53-BF72-E0A5-42FF-EB1FD5131BEF}"/>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149DF87E-F6B1-BF6B-9905-75DFD5C166AE}"/>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8</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68298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5BAFB-7EF4-2023-4132-1AABA9780B4B}"/>
              </a:ext>
            </a:extLst>
          </p:cNvPr>
          <p:cNvSpPr txBox="1"/>
          <p:nvPr/>
        </p:nvSpPr>
        <p:spPr>
          <a:xfrm>
            <a:off x="850187" y="1202750"/>
            <a:ext cx="6097712" cy="1295868"/>
          </a:xfrm>
          <a:prstGeom prst="rect">
            <a:avLst/>
          </a:prstGeom>
          <a:noFill/>
        </p:spPr>
        <p:txBody>
          <a:bodyPr wrap="square">
            <a:spAutoFit/>
          </a:bodyPr>
          <a:lstStyle/>
          <a:p>
            <a:pPr>
              <a:lnSpc>
                <a:spcPct val="150000"/>
              </a:lnSpc>
            </a:pPr>
            <a:r>
              <a:t>Maruthi Sai Teja  (23ITMNP-B01)  —  Project Lead</a:t>
            </a:r>
          </a:p>
          <a:p>
            <a:r>
              <a:t>    Responsibility: Multi-Agent Architecture (ADK), OrchestratorAgent, LabAgent, Lab Tools Engine,</a:t>
            </a:r>
          </a:p>
          <a:p>
            <a:r>
              <a:t>    Food-Drug Interaction Engine, Health Risk Score Algorithm, System Integration &amp; Testing</a:t>
            </a:r>
          </a:p>
          <a:p>
            <a:r>
              <a:t/>
            </a:r>
          </a:p>
          <a:p>
            <a:r>
              <a:t>Student Name 2  (Roll No. 2)  —  Vision &amp; Infrastructure</a:t>
            </a:r>
          </a:p>
          <a:p>
            <a:r>
              <a:t>    Responsibility: VisionAgent, Prescription OCR Pipeline, Pillow Image Preprocessing,</a:t>
            </a:r>
          </a:p>
          <a:p>
            <a:r>
              <a:t>    Skin Triage Logic, MCP Server Integration, Docker Configuration</a:t>
            </a:r>
          </a:p>
          <a:p>
            <a:r>
              <a:t/>
            </a:r>
          </a:p>
          <a:p>
            <a:r>
              <a:t>Student Name 3  (Roll No. 3)  —  Knowledge &amp; API</a:t>
            </a:r>
          </a:p>
          <a:p>
            <a:r>
              <a:t>    Responsibility: TriageAgent, ResearchAgent, Medical Knowledge Base, SchedulerAgent,</a:t>
            </a:r>
          </a:p>
          <a:p>
            <a:r>
              <a:t>    Security Layer (PII Redaction), FastAPI Server, Documentation &amp; Literature Survey</a:t>
            </a:r>
          </a:p>
        </p:txBody>
      </p:sp>
      <p:sp>
        <p:nvSpPr>
          <p:cNvPr id="5" name="TextBox 4">
            <a:extLst>
              <a:ext uri="{FF2B5EF4-FFF2-40B4-BE49-F238E27FC236}">
                <a16:creationId xmlns:a16="http://schemas.microsoft.com/office/drawing/2014/main" id="{D3B20567-F3E9-70F2-2D44-04B5DB9DFD9B}"/>
              </a:ext>
            </a:extLst>
          </p:cNvPr>
          <p:cNvSpPr txBox="1"/>
          <p:nvPr/>
        </p:nvSpPr>
        <p:spPr>
          <a:xfrm>
            <a:off x="850187" y="3919197"/>
            <a:ext cx="10369193" cy="880369"/>
          </a:xfrm>
          <a:prstGeom prst="rect">
            <a:avLst/>
          </a:prstGeom>
          <a:noFill/>
        </p:spPr>
        <p:txBody>
          <a:bodyPr wrap="square">
            <a:spAutoFit/>
          </a:bodyPr>
          <a:lstStyle/>
          <a:p>
            <a:pPr>
              <a:lnSpc>
                <a:spcPct val="150000"/>
              </a:lnSpc>
            </a:pPr>
            <a:r>
              <a:t>Phase 0 — Foundation          (Jul 2025)        : Project scoping, literature review, environment setup, ADK exploration  ✓ COMPLETE</a:t>
            </a:r>
          </a:p>
          <a:p>
            <a:r>
              <a:t>Phase 1 — Core Agents         (Aug–Sep 2025)    : OrchestratorAgent, TriageAgent, ResearchAgent, SchedulerAgent dev       ✓ COMPLETE</a:t>
            </a:r>
          </a:p>
          <a:p>
            <a:r>
              <a:t>Phase 2 — Vision &amp; OCR        (Oct–Nov 2025)    : VisionAgent, Pillow pipeline, Gemini multimodal, prescription OCR        ✓ COMPLETE</a:t>
            </a:r>
          </a:p>
          <a:p>
            <a:r>
              <a:t>Phase 3 — Lab &amp; Safety        (Dec 2025–Jan 2026): LabAgent, Lab Analyzer (35+ tests), Food-Drug Engine, Risk Score        ✓ COMPLETE</a:t>
            </a:r>
          </a:p>
          <a:p>
            <a:r>
              <a:t>Phase 4 — Deployment          (Feb–Mar 2026)    : FastAPI REST server, Docker, MCP server, security hardening              ✓ COMPLETE</a:t>
            </a:r>
          </a:p>
          <a:p>
            <a:r>
              <a:t>Phase 5 — Presentation        (Jul 2026)        : Abstract Level Review, documentation finalization, panel demo            ▶ IN PROGRESS</a:t>
            </a:r>
          </a:p>
        </p:txBody>
      </p:sp>
      <p:sp>
        <p:nvSpPr>
          <p:cNvPr id="7" name="TextBox 6">
            <a:extLst>
              <a:ext uri="{FF2B5EF4-FFF2-40B4-BE49-F238E27FC236}">
                <a16:creationId xmlns:a16="http://schemas.microsoft.com/office/drawing/2014/main" id="{63BAE2B7-A7CE-B884-7D48-63814EA248E4}"/>
              </a:ext>
            </a:extLst>
          </p:cNvPr>
          <p:cNvSpPr txBox="1"/>
          <p:nvPr/>
        </p:nvSpPr>
        <p:spPr>
          <a:xfrm>
            <a:off x="480316" y="483153"/>
            <a:ext cx="7625993" cy="584775"/>
          </a:xfrm>
          <a:prstGeom prst="rect">
            <a:avLst/>
          </a:prstGeom>
          <a:noFill/>
        </p:spPr>
        <p:txBody>
          <a:bodyPr wrap="square">
            <a:spAutoFit/>
          </a:bodyPr>
          <a:lstStyle/>
          <a:p>
            <a:pPr>
              <a:buNone/>
            </a:pPr>
            <a:r>
              <a:rPr lang="en-US" sz="3200" b="1" dirty="0">
                <a:latin typeface="Book Antiqua" panose="02040602050305030304" pitchFamily="18" charset="0"/>
              </a:rPr>
              <a:t>Team Roles &amp; Work Distribution</a:t>
            </a:r>
          </a:p>
        </p:txBody>
      </p:sp>
      <p:sp>
        <p:nvSpPr>
          <p:cNvPr id="9" name="TextBox 8">
            <a:extLst>
              <a:ext uri="{FF2B5EF4-FFF2-40B4-BE49-F238E27FC236}">
                <a16:creationId xmlns:a16="http://schemas.microsoft.com/office/drawing/2014/main" id="{E149DCF2-ACFD-DBDE-B900-B7C2E0FC594C}"/>
              </a:ext>
            </a:extLst>
          </p:cNvPr>
          <p:cNvSpPr txBox="1"/>
          <p:nvPr/>
        </p:nvSpPr>
        <p:spPr>
          <a:xfrm>
            <a:off x="480316" y="3136612"/>
            <a:ext cx="6097712" cy="584775"/>
          </a:xfrm>
          <a:prstGeom prst="rect">
            <a:avLst/>
          </a:prstGeom>
          <a:noFill/>
        </p:spPr>
        <p:txBody>
          <a:bodyPr wrap="square">
            <a:spAutoFit/>
          </a:bodyPr>
          <a:lstStyle/>
          <a:p>
            <a:pPr>
              <a:buNone/>
            </a:pPr>
            <a:r>
              <a:rPr lang="en-US" sz="3200" b="1" dirty="0">
                <a:latin typeface="Book Antiqua" panose="02040602050305030304" pitchFamily="18" charset="0"/>
              </a:rPr>
              <a:t>Timeline / Gantt Chart</a:t>
            </a: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9</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172624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4121E-2B36-0636-E404-5D42EBFA39C0}"/>
              </a:ext>
            </a:extLst>
          </p:cNvPr>
          <p:cNvSpPr txBox="1"/>
          <p:nvPr/>
        </p:nvSpPr>
        <p:spPr>
          <a:xfrm>
            <a:off x="470042" y="442057"/>
            <a:ext cx="6097712" cy="584775"/>
          </a:xfrm>
          <a:prstGeom prst="rect">
            <a:avLst/>
          </a:prstGeom>
          <a:noFill/>
        </p:spPr>
        <p:txBody>
          <a:bodyPr wrap="square">
            <a:spAutoFit/>
          </a:bodyPr>
          <a:lstStyle/>
          <a:p>
            <a:r>
              <a:rPr lang="en-IN" sz="3200" b="1" dirty="0">
                <a:latin typeface="Book Antiqua" panose="02040602050305030304" pitchFamily="18" charset="0"/>
              </a:rPr>
              <a:t>References</a:t>
            </a:r>
          </a:p>
        </p:txBody>
      </p:sp>
      <p:sp>
        <p:nvSpPr>
          <p:cNvPr id="5" name="TextBox 4">
            <a:extLst>
              <a:ext uri="{FF2B5EF4-FFF2-40B4-BE49-F238E27FC236}">
                <a16:creationId xmlns:a16="http://schemas.microsoft.com/office/drawing/2014/main" id="{D4236217-B8F5-06A5-DAE8-17894E03DAA7}"/>
              </a:ext>
            </a:extLst>
          </p:cNvPr>
          <p:cNvSpPr txBox="1"/>
          <p:nvPr/>
        </p:nvSpPr>
        <p:spPr>
          <a:xfrm>
            <a:off x="809090" y="1243441"/>
            <a:ext cx="6097712" cy="369332"/>
          </a:xfrm>
          <a:prstGeom prst="rect">
            <a:avLst/>
          </a:prstGeom>
          <a:noFill/>
        </p:spPr>
        <p:txBody>
          <a:bodyPr wrap="square">
            <a:spAutoFit/>
          </a:bodyPr>
          <a:lstStyle/>
          <a:p>
            <a:r>
              <a:t>[1]  Sharma, A., &amp; Patel, R. (2026). Coordinated Multi-Agent Orchestration in Patient-Facing Triage Systems</a:t>
            </a:r>
            <a:endParaRPr lang="en-IN" dirty="0">
              <a:latin typeface="Aptos" panose="020B0004020202020204" pitchFamily="34" charset="0"/>
            </a:endParaRPr>
          </a:p>
          <a:p>
            <a:r>
              <a:t>     using Google ADK. IEEE Journal of Biomedical and Health Informatics, 30(2), 112-124.</a:t>
            </a:r>
          </a:p>
          <a:p>
            <a:r>
              <a:t/>
            </a:r>
          </a:p>
          <a:p>
            <a:r>
              <a:t>[2]  Chen, L., et al. (2025). Multimodal Vision-Language Models for Automatic Interpretation of Handwritten</a:t>
            </a:r>
          </a:p>
          <a:p>
            <a:r>
              <a:t>     Prescriptions and Lab Reports. Nature Medicine, 31(4), 844-856.</a:t>
            </a:r>
          </a:p>
          <a:p>
            <a:r>
              <a:t/>
            </a:r>
          </a:p>
          <a:p>
            <a:r>
              <a:t>[3]  Johnson, K., et al. (2025). Agentic AI Systems for Preventing Adverse Drug Events in Outpatient Settings.</a:t>
            </a:r>
          </a:p>
          <a:p>
            <a:r>
              <a:t>     NEJM AI, 2(1), 45-58.</a:t>
            </a:r>
          </a:p>
          <a:p>
            <a:r>
              <a:t/>
            </a:r>
          </a:p>
          <a:p>
            <a:r>
              <a:t>[4]  Zhang, Y., &amp; Wang, X. (2024). Large Language Models as Fuzzy Clinical Entity Extractors: Opportunities</a:t>
            </a:r>
          </a:p>
          <a:p>
            <a:r>
              <a:t>     and Limitations. Journal of the American Medical Informatics Association (JAMIA), 31(8), 1730-1742.</a:t>
            </a:r>
          </a:p>
          <a:p>
            <a:r>
              <a:t/>
            </a:r>
          </a:p>
          <a:p>
            <a:r>
              <a:t>[5]  Gupta, S., et al. (2024). Dermatological Lesion Classification and Triage via Edge-Deployed Vision</a:t>
            </a:r>
          </a:p>
          <a:p>
            <a:r>
              <a:t>     Transformers. Lancet Digital Health, 6(3), e150-e162.</a:t>
            </a:r>
          </a:p>
          <a:p>
            <a:r>
              <a:t/>
            </a:r>
          </a:p>
          <a:p>
            <a:r>
              <a:t>[6]  Davis, M., et al. (2023). Multi-Agent Decision Support Systems for Chronic Disease Management.</a:t>
            </a:r>
          </a:p>
          <a:p>
            <a:r>
              <a:t>     Artificial Intelligence in Medicine, 139, 102521.</a:t>
            </a:r>
          </a:p>
          <a:p>
            <a:r>
              <a:t/>
            </a:r>
          </a:p>
          <a:p>
            <a:r>
              <a:t>[7]  Smith, J., &amp; Brown, L. (2023). Deep Learning for Electrocardiogram Classification and Immediate</a:t>
            </a:r>
          </a:p>
          <a:p>
            <a:r>
              <a:t>     Arrhythmia Alerts. Cardiovascular Digital Health Journal, 4(1), 12-25.</a:t>
            </a:r>
          </a:p>
          <a:p>
            <a:r>
              <a:t/>
            </a:r>
          </a:p>
          <a:p>
            <a:r>
              <a:t>[8]  Kim, H., et al. (2022). Automated Clinical Decision Support for Food-Drug and Drug-Drug Interaction</a:t>
            </a:r>
          </a:p>
          <a:p>
            <a:r>
              <a:t>     Checking. Pharmacotherapy, 42(6), 488-499.</a:t>
            </a:r>
          </a:p>
          <a:p>
            <a:r>
              <a:t/>
            </a:r>
          </a:p>
          <a:p>
            <a:r>
              <a:t>[9]  Martinez, A., et al. (2022). Information Extraction from Clinical Lab Reports using Bidirectional</a:t>
            </a:r>
          </a:p>
          <a:p>
            <a:r>
              <a:t>     Transformers. Bioinformatics, 38(14), 3620-3632.</a:t>
            </a:r>
          </a:p>
          <a:p>
            <a:r>
              <a:t/>
            </a:r>
          </a:p>
          <a:p>
            <a:r>
              <a:t>[10] Taylor, R., et al. (2021). Deploying Medical Decision Support Systems as Microservices using FastAPI</a:t>
            </a:r>
          </a:p>
          <a:p>
            <a:r>
              <a:t>     and Docker. Software Quality Journal, 29(3), 512-525.</a:t>
            </a:r>
          </a:p>
        </p:txBody>
      </p:sp>
      <p:sp>
        <p:nvSpPr>
          <p:cNvPr id="10" name="Date Placeholder 3">
            <a:extLst>
              <a:ext uri="{FF2B5EF4-FFF2-40B4-BE49-F238E27FC236}">
                <a16:creationId xmlns:a16="http://schemas.microsoft.com/office/drawing/2014/main" id="{E115BBE8-9AD5-8D84-3BA5-316D1EDECDF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1" name="Footer Placeholder 4">
            <a:extLst>
              <a:ext uri="{FF2B5EF4-FFF2-40B4-BE49-F238E27FC236}">
                <a16:creationId xmlns:a16="http://schemas.microsoft.com/office/drawing/2014/main" id="{771EB479-8D17-20B5-4E5E-3C7B064DCCEB}"/>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a:extLst>
              <a:ext uri="{FF2B5EF4-FFF2-40B4-BE49-F238E27FC236}">
                <a16:creationId xmlns:a16="http://schemas.microsoft.com/office/drawing/2014/main" id="{EB843B29-CD93-D47E-5922-AC6D22AC4611}"/>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10</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43038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2933E-AB42-4159-1EFD-4E90435B8F04}"/>
              </a:ext>
            </a:extLst>
          </p:cNvPr>
          <p:cNvSpPr txBox="1"/>
          <p:nvPr/>
        </p:nvSpPr>
        <p:spPr>
          <a:xfrm>
            <a:off x="4214545" y="2599630"/>
            <a:ext cx="3762910" cy="585359"/>
          </a:xfrm>
          <a:prstGeom prst="rect">
            <a:avLst/>
          </a:prstGeom>
          <a:noFill/>
        </p:spPr>
        <p:txBody>
          <a:bodyPr wrap="square">
            <a:spAutoFit/>
          </a:bodyPr>
          <a:lstStyle/>
          <a:p>
            <a:r>
              <a:rPr sz="4000" b="1">
                <a:latin typeface="Bookman Old Style"/>
              </a:rPr>
              <a:t>Thank You</a:t>
            </a:r>
          </a:p>
          <a:p>
            <a:r>
              <a:t/>
            </a:r>
          </a:p>
          <a:p>
            <a:r>
              <a:rPr sz="1600">
                <a:latin typeface="Aptos"/>
              </a:rPr>
              <a:t>We welcome your questions and feedback.</a:t>
            </a:r>
          </a:p>
          <a:p>
            <a:r>
              <a:t/>
            </a:r>
          </a:p>
          <a:p>
            <a:r>
              <a:rPr sz="1300" b="1">
                <a:latin typeface="Aptos"/>
              </a:rPr>
              <a:t>MediGuide AI: A Multimodal Multi-Agent Healthcare Navigation System</a:t>
            </a:r>
          </a:p>
          <a:p>
            <a:r>
              <a:rPr sz="1100">
                <a:latin typeface="Aptos"/>
              </a:rPr>
              <a:t>Vardhaman College Of Engineering  |  Department of Information Technology  |  2025-2026</a:t>
            </a:r>
          </a:p>
          <a:p>
            <a:r>
              <a:rPr sz="1100">
                <a:latin typeface="Aptos"/>
              </a:rPr>
              <a:t>Maruthi Sai Teja  (23ITMNP-B01)  |  Student Name 2  (Roll No. 2)  |  Student Name 3  (Roll No. 3)</a:t>
            </a:r>
          </a:p>
          <a:p>
            <a:r>
              <a:rPr sz="1100">
                <a:latin typeface="Aptos"/>
              </a:rPr>
              <a:t>Guided By: Name of the Guide  |  Assistant Professor, Dept. of IT</a:t>
            </a:r>
          </a:p>
          <a:p>
            <a:r>
              <a:rPr sz="1000">
                <a:latin typeface="Aptos"/>
              </a:rPr>
              <a:t>GitHub: github.com/maruthisaiteja/mediguide-ai</a:t>
            </a:r>
          </a:p>
        </p:txBody>
      </p:sp>
      <p:sp>
        <p:nvSpPr>
          <p:cNvPr id="9" name="Date Placeholder 3">
            <a:extLst>
              <a:ext uri="{FF2B5EF4-FFF2-40B4-BE49-F238E27FC236}">
                <a16:creationId xmlns:a16="http://schemas.microsoft.com/office/drawing/2014/main" id="{DB35C752-1BC6-0C13-884D-8DB0FF6D501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17-07-2026</a:t>
            </a:r>
            <a:endParaRPr lang="en-IN" sz="1200" dirty="0">
              <a:solidFill>
                <a:schemeClr val="accent3"/>
              </a:solidFill>
              <a:latin typeface="Aptos" panose="020B0004020202020204" pitchFamily="34" charset="0"/>
            </a:endParaRPr>
          </a:p>
        </p:txBody>
      </p:sp>
      <p:sp>
        <p:nvSpPr>
          <p:cNvPr id="10" name="Footer Placeholder 4">
            <a:extLst>
              <a:ext uri="{FF2B5EF4-FFF2-40B4-BE49-F238E27FC236}">
                <a16:creationId xmlns:a16="http://schemas.microsoft.com/office/drawing/2014/main" id="{03B936E0-3D39-1842-927E-CF20081476B6}"/>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056EF318-D93C-033A-0B08-0C5A1191EAB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09695747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88</TotalTime>
  <Words>420</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Arial</vt:lpstr>
      <vt:lpstr>Book Antiqua</vt:lpstr>
      <vt:lpstr>Bookman Old Style</vt:lpstr>
      <vt:lpstr>Calibri</vt:lpstr>
      <vt:lpstr>Calibri Light</vt:lpstr>
      <vt:lpstr>Symbol</vt:lpstr>
      <vt:lpstr>Times New Roman</vt:lpstr>
      <vt:lpstr>Retrospect</vt:lpstr>
      <vt:lpstr>Project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Nikhila Sreekanth</dc:creator>
  <cp:lastModifiedBy>Dr Nikhila</cp:lastModifiedBy>
  <cp:revision>16</cp:revision>
  <dcterms:created xsi:type="dcterms:W3CDTF">2025-07-20T13:06:57Z</dcterms:created>
  <dcterms:modified xsi:type="dcterms:W3CDTF">2026-07-01T06:03:58Z</dcterms:modified>
</cp:coreProperties>
</file>