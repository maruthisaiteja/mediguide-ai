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1"/>
  </p:sldMasterIdLst>
  <p:notesMasterIdLst>
    <p:notesMasterId r:id="rId13"/>
  </p:notesMasterIdLst>
  <p:handoutMasterIdLst>
    <p:handoutMasterId r:id="rId14"/>
  </p:handoutMasterIdLst>
  <p:sldIdLst>
    <p:sldId id="256" r:id="rId2"/>
    <p:sldId id="257" r:id="rId3"/>
    <p:sldId id="258" r:id="rId4"/>
    <p:sldId id="259" r:id="rId5"/>
    <p:sldId id="260" r:id="rId6"/>
    <p:sldId id="267" r:id="rId7"/>
    <p:sldId id="266" r:id="rId8"/>
    <p:sldId id="261" r:id="rId9"/>
    <p:sldId id="262" r:id="rId10"/>
    <p:sldId id="263" r:id="rId11"/>
    <p:sldId id="26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2" d="100"/>
          <a:sy n="82" d="100"/>
        </p:scale>
        <p:origin x="720" y="62"/>
      </p:cViewPr>
      <p:guideLst/>
    </p:cSldViewPr>
  </p:slideViewPr>
  <p:notesTextViewPr>
    <p:cViewPr>
      <p:scale>
        <a:sx n="1" d="1"/>
        <a:sy n="1" d="1"/>
      </p:scale>
      <p:origin x="0" y="0"/>
    </p:cViewPr>
  </p:notesTextViewPr>
  <p:notesViewPr>
    <p:cSldViewPr snapToGrid="0">
      <p:cViewPr varScale="1">
        <p:scale>
          <a:sx n="50" d="100"/>
          <a:sy n="50" d="100"/>
        </p:scale>
        <p:origin x="2708" y="4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92F053-65F9-A0A5-CE90-B80640DEEF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C62ED75F-81BD-BAC2-CBE3-1873149B87D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10F3A9A-AD8E-48B6-B5D3-F09F0765AD5D}" type="datetimeFigureOut">
              <a:rPr lang="en-IN" smtClean="0"/>
              <a:t>01-07-2026</a:t>
            </a:fld>
            <a:endParaRPr lang="en-IN"/>
          </a:p>
        </p:txBody>
      </p:sp>
      <p:sp>
        <p:nvSpPr>
          <p:cNvPr id="4" name="Footer Placeholder 3">
            <a:extLst>
              <a:ext uri="{FF2B5EF4-FFF2-40B4-BE49-F238E27FC236}">
                <a16:creationId xmlns:a16="http://schemas.microsoft.com/office/drawing/2014/main" id="{AE5B6B0F-CF07-9A9B-9298-C1F9BF57D3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5FBCEFBF-B731-6D89-8205-4903D14DDB0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8B6C1D-1046-4A6D-80B1-1C6B3A26471E}" type="slidenum">
              <a:rPr lang="en-IN" smtClean="0"/>
              <a:t>‹#›</a:t>
            </a:fld>
            <a:endParaRPr lang="en-IN"/>
          </a:p>
        </p:txBody>
      </p:sp>
    </p:spTree>
    <p:extLst>
      <p:ext uri="{BB962C8B-B14F-4D97-AF65-F5344CB8AC3E}">
        <p14:creationId xmlns:p14="http://schemas.microsoft.com/office/powerpoint/2010/main" val="32591189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62F447A-76D7-4DCE-9997-759B9E4673F9}" type="datetimeFigureOut">
              <a:rPr lang="en-IN" smtClean="0"/>
              <a:t>01-07-2026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1DE63D-82B2-451D-864F-FFE087DE8B74}" type="slidenum">
              <a:rPr lang="en-IN" smtClean="0"/>
              <a:t>‹#›</a:t>
            </a:fld>
            <a:endParaRPr lang="en-IN"/>
          </a:p>
        </p:txBody>
      </p:sp>
    </p:spTree>
    <p:extLst>
      <p:ext uri="{BB962C8B-B14F-4D97-AF65-F5344CB8AC3E}">
        <p14:creationId xmlns:p14="http://schemas.microsoft.com/office/powerpoint/2010/main" val="14246326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dirty="0"/>
          </a:p>
        </p:txBody>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Footer Placeholder 4">
            <a:extLst>
              <a:ext uri="{FF2B5EF4-FFF2-40B4-BE49-F238E27FC236}">
                <a16:creationId xmlns:a16="http://schemas.microsoft.com/office/drawing/2014/main" id="{8782C616-21D6-769C-F4AD-A15F07F71B54}"/>
              </a:ext>
            </a:extLst>
          </p:cNvPr>
          <p:cNvSpPr txBox="1">
            <a:spLocks/>
          </p:cNvSpPr>
          <p:nvPr userDrawn="1"/>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1" name="Slide Number Placeholder 5">
            <a:extLst>
              <a:ext uri="{FF2B5EF4-FFF2-40B4-BE49-F238E27FC236}">
                <a16:creationId xmlns:a16="http://schemas.microsoft.com/office/drawing/2014/main" id="{40FA7336-0A61-26CC-400A-E5A33C8E2EF5}"/>
              </a:ext>
            </a:extLst>
          </p:cNvPr>
          <p:cNvSpPr txBox="1">
            <a:spLocks/>
          </p:cNvSpPr>
          <p:nvPr userDrawn="1"/>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a:t>
            </a:fld>
            <a:endParaRPr lang="en-IN" sz="1200" dirty="0">
              <a:solidFill>
                <a:schemeClr val="accent3"/>
              </a:solidFill>
              <a:latin typeface="Aptos" panose="020B0004020202020204" pitchFamily="34" charset="0"/>
            </a:endParaRPr>
          </a:p>
        </p:txBody>
      </p:sp>
      <p:sp>
        <p:nvSpPr>
          <p:cNvPr id="12" name="Title 11">
            <a:extLst>
              <a:ext uri="{FF2B5EF4-FFF2-40B4-BE49-F238E27FC236}">
                <a16:creationId xmlns:a16="http://schemas.microsoft.com/office/drawing/2014/main" id="{A3FE11C5-A892-3527-F2D6-79044A65926E}"/>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309363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6827DAF-95E8-4AE4-8F29-F27484FD6428}" type="datetime1">
              <a:rPr lang="en-IN" smtClean="0"/>
              <a:t>01-07-2026</a:t>
            </a:fld>
            <a:endParaRPr lang="en-IN"/>
          </a:p>
        </p:txBody>
      </p:sp>
      <p:sp>
        <p:nvSpPr>
          <p:cNvPr id="5" name="Footer Placeholder 4"/>
          <p:cNvSpPr>
            <a:spLocks noGrp="1"/>
          </p:cNvSpPr>
          <p:nvPr>
            <p:ph type="ftr" sz="quarter" idx="11"/>
          </p:nvPr>
        </p:nvSpPr>
        <p:spPr/>
        <p:txBody>
          <a:bodyPr/>
          <a:lstStyle/>
          <a:p>
            <a:r>
              <a:rPr lang="en-IN"/>
              <a:t>Vardhaman College Of Engineering</a:t>
            </a:r>
            <a:endParaRPr lang="en-IN" dirty="0"/>
          </a:p>
        </p:txBody>
      </p:sp>
      <p:sp>
        <p:nvSpPr>
          <p:cNvPr id="6" name="Slide Number Placeholder 5"/>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900064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09FCD47-ACA7-42E3-9E5F-46D28F163962}" type="datetime1">
              <a:rPr lang="en-IN" smtClean="0"/>
              <a:t>01-07-2026</a:t>
            </a:fld>
            <a:endParaRPr lang="en-IN"/>
          </a:p>
        </p:txBody>
      </p:sp>
      <p:sp>
        <p:nvSpPr>
          <p:cNvPr id="5" name="Footer Placeholder 4"/>
          <p:cNvSpPr>
            <a:spLocks noGrp="1"/>
          </p:cNvSpPr>
          <p:nvPr>
            <p:ph type="ftr" sz="quarter" idx="11"/>
          </p:nvPr>
        </p:nvSpPr>
        <p:spPr/>
        <p:txBody>
          <a:bodyPr/>
          <a:lstStyle/>
          <a:p>
            <a:r>
              <a:rPr lang="en-IN"/>
              <a:t>Vardhaman College Of Engineering</a:t>
            </a:r>
          </a:p>
        </p:txBody>
      </p:sp>
      <p:sp>
        <p:nvSpPr>
          <p:cNvPr id="6" name="Slide Number Placeholder 5"/>
          <p:cNvSpPr>
            <a:spLocks noGrp="1"/>
          </p:cNvSpPr>
          <p:nvPr>
            <p:ph type="sldNum" sz="quarter" idx="12"/>
          </p:nvPr>
        </p:nvSpPr>
        <p:spPr/>
        <p:txBody>
          <a:bodyPr/>
          <a:lstStyle/>
          <a:p>
            <a:fld id="{76A3FA1D-EC91-45BD-A9AB-12F85A35EF5C}"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1686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8"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D9AF5DF-754D-4D58-9EDF-7032AC7C93FF}" type="datetime1">
              <a:rPr lang="en-IN" smtClean="0"/>
              <a:t>01-07-2026</a:t>
            </a:fld>
            <a:endParaRPr lang="en-IN"/>
          </a:p>
        </p:txBody>
      </p:sp>
      <p:sp>
        <p:nvSpPr>
          <p:cNvPr id="6" name="Footer Placeholder 5"/>
          <p:cNvSpPr>
            <a:spLocks noGrp="1"/>
          </p:cNvSpPr>
          <p:nvPr>
            <p:ph type="ftr" sz="quarter" idx="11"/>
          </p:nvPr>
        </p:nvSpPr>
        <p:spPr/>
        <p:txBody>
          <a:bodyPr/>
          <a:lstStyle/>
          <a:p>
            <a:r>
              <a:rPr lang="en-IN"/>
              <a:t>Vardhaman College Of Engineering</a:t>
            </a:r>
          </a:p>
        </p:txBody>
      </p:sp>
      <p:sp>
        <p:nvSpPr>
          <p:cNvPr id="7" name="Slide Number Placeholder 6"/>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42309284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CF4429-411E-4337-96DF-B2B42568BAE7}" type="datetime1">
              <a:rPr lang="en-IN" smtClean="0"/>
              <a:t>01-07-2026</a:t>
            </a:fld>
            <a:endParaRPr lang="en-IN"/>
          </a:p>
        </p:txBody>
      </p:sp>
      <p:sp>
        <p:nvSpPr>
          <p:cNvPr id="8" name="Footer Placeholder 7"/>
          <p:cNvSpPr>
            <a:spLocks noGrp="1"/>
          </p:cNvSpPr>
          <p:nvPr>
            <p:ph type="ftr" sz="quarter" idx="11"/>
          </p:nvPr>
        </p:nvSpPr>
        <p:spPr/>
        <p:txBody>
          <a:bodyPr/>
          <a:lstStyle/>
          <a:p>
            <a:r>
              <a:rPr lang="en-IN"/>
              <a:t>Vardhaman College Of Engineering</a:t>
            </a:r>
          </a:p>
        </p:txBody>
      </p:sp>
      <p:sp>
        <p:nvSpPr>
          <p:cNvPr id="9" name="Slide Number Placeholder 8"/>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34517639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4663881-DA3B-49D1-A23E-AEA91CA42425}" type="datetime1">
              <a:rPr lang="en-IN" smtClean="0"/>
              <a:t>01-07-2026</a:t>
            </a:fld>
            <a:endParaRPr lang="en-IN"/>
          </a:p>
        </p:txBody>
      </p:sp>
      <p:sp>
        <p:nvSpPr>
          <p:cNvPr id="4" name="Footer Placeholder 3"/>
          <p:cNvSpPr>
            <a:spLocks noGrp="1"/>
          </p:cNvSpPr>
          <p:nvPr>
            <p:ph type="ftr" sz="quarter" idx="11"/>
          </p:nvPr>
        </p:nvSpPr>
        <p:spPr/>
        <p:txBody>
          <a:bodyPr/>
          <a:lstStyle/>
          <a:p>
            <a:r>
              <a:rPr lang="en-IN"/>
              <a:t>Vardhaman College Of Engineering</a:t>
            </a:r>
          </a:p>
        </p:txBody>
      </p:sp>
      <p:sp>
        <p:nvSpPr>
          <p:cNvPr id="5" name="Slide Number Placeholder 4"/>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4005834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4F51867-9540-4548-BA00-41AC4CFEE70F}" type="datetime1">
              <a:rPr lang="en-IN" smtClean="0"/>
              <a:t>01-07-2026</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r>
              <a:rPr lang="en-IN"/>
              <a:t>Vardhaman College Of Engineering</a:t>
            </a:r>
          </a:p>
        </p:txBody>
      </p:sp>
      <p:sp>
        <p:nvSpPr>
          <p:cNvPr id="9" name="Slide Number Placeholder 8"/>
          <p:cNvSpPr>
            <a:spLocks noGrp="1"/>
          </p:cNvSpPr>
          <p:nvPr>
            <p:ph type="sldNum" sz="quarter" idx="12"/>
          </p:nvPr>
        </p:nvSpPr>
        <p:spPr/>
        <p:txBody>
          <a:bodyPr/>
          <a:lstStyle/>
          <a:p>
            <a:fld id="{76A3FA1D-EC91-45BD-A9AB-12F85A35EF5C}" type="slidenum">
              <a:rPr lang="en-IN" smtClean="0"/>
              <a:t>‹#›</a:t>
            </a:fld>
            <a:endParaRPr lang="en-IN"/>
          </a:p>
        </p:txBody>
      </p:sp>
      <p:pic>
        <p:nvPicPr>
          <p:cNvPr id="2" name="Picture 1">
            <a:extLst>
              <a:ext uri="{FF2B5EF4-FFF2-40B4-BE49-F238E27FC236}">
                <a16:creationId xmlns:a16="http://schemas.microsoft.com/office/drawing/2014/main" id="{780F4C69-05CD-71C1-F10C-658888BE28F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Tree>
    <p:extLst>
      <p:ext uri="{BB962C8B-B14F-4D97-AF65-F5344CB8AC3E}">
        <p14:creationId xmlns:p14="http://schemas.microsoft.com/office/powerpoint/2010/main" val="2659696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9D115AD5-8487-4FDE-8528-C9F7488F6ABD}" type="datetime1">
              <a:rPr lang="en-IN" smtClean="0"/>
              <a:t>01-07-2026</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r>
              <a:rPr lang="en-IN"/>
              <a:t>Vardhaman College Of Engineering</a:t>
            </a: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76A3FA1D-EC91-45BD-A9AB-12F85A35EF5C}" type="slidenum">
              <a:rPr lang="en-IN" smtClean="0"/>
              <a:t>‹#›</a:t>
            </a:fld>
            <a:endParaRPr lang="en-IN"/>
          </a:p>
        </p:txBody>
      </p:sp>
    </p:spTree>
    <p:extLst>
      <p:ext uri="{BB962C8B-B14F-4D97-AF65-F5344CB8AC3E}">
        <p14:creationId xmlns:p14="http://schemas.microsoft.com/office/powerpoint/2010/main" val="38983490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E7645D7-53DB-474E-B4B6-AED3786E1B39}" type="datetime1">
              <a:rPr lang="en-IN" smtClean="0"/>
              <a:t>01-07-2026</a:t>
            </a:fld>
            <a:endParaRPr lang="en-IN"/>
          </a:p>
        </p:txBody>
      </p:sp>
      <p:sp>
        <p:nvSpPr>
          <p:cNvPr id="6" name="Footer Placeholder 5"/>
          <p:cNvSpPr>
            <a:spLocks noGrp="1"/>
          </p:cNvSpPr>
          <p:nvPr>
            <p:ph type="ftr" sz="quarter" idx="11"/>
          </p:nvPr>
        </p:nvSpPr>
        <p:spPr/>
        <p:txBody>
          <a:bodyPr/>
          <a:lstStyle/>
          <a:p>
            <a:r>
              <a:rPr lang="en-IN"/>
              <a:t>Vardhaman College Of Engineering</a:t>
            </a:r>
          </a:p>
        </p:txBody>
      </p:sp>
      <p:sp>
        <p:nvSpPr>
          <p:cNvPr id="7" name="Slide Number Placeholder 6"/>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28511201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0F6F967-1531-4F87-B562-081FA498D978}" type="datetime1">
              <a:rPr lang="en-IN" smtClean="0"/>
              <a:t>01-07-2026</a:t>
            </a:fld>
            <a:endParaRPr lang="en-IN"/>
          </a:p>
        </p:txBody>
      </p:sp>
      <p:sp>
        <p:nvSpPr>
          <p:cNvPr id="5" name="Footer Placeholder 4"/>
          <p:cNvSpPr>
            <a:spLocks noGrp="1"/>
          </p:cNvSpPr>
          <p:nvPr>
            <p:ph type="ftr" sz="quarter" idx="11"/>
          </p:nvPr>
        </p:nvSpPr>
        <p:spPr/>
        <p:txBody>
          <a:bodyPr/>
          <a:lstStyle/>
          <a:p>
            <a:r>
              <a:rPr lang="en-IN"/>
              <a:t>Vardhaman College Of Engineering</a:t>
            </a:r>
          </a:p>
        </p:txBody>
      </p:sp>
      <p:sp>
        <p:nvSpPr>
          <p:cNvPr id="6" name="Slide Number Placeholder 5"/>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112704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9F6713-C2D6-415F-8132-AD7A60E4F634}" type="datetime1">
              <a:rPr lang="en-IN" smtClean="0"/>
              <a:t>01-07-2026</a:t>
            </a:fld>
            <a:endParaRPr lang="en-IN"/>
          </a:p>
        </p:txBody>
      </p:sp>
      <p:sp>
        <p:nvSpPr>
          <p:cNvPr id="5" name="Footer Placeholder 4"/>
          <p:cNvSpPr>
            <a:spLocks noGrp="1"/>
          </p:cNvSpPr>
          <p:nvPr>
            <p:ph type="ftr" sz="quarter" idx="11"/>
          </p:nvPr>
        </p:nvSpPr>
        <p:spPr/>
        <p:txBody>
          <a:bodyPr/>
          <a:lstStyle/>
          <a:p>
            <a:r>
              <a:rPr lang="en-IN"/>
              <a:t>Vardhaman College Of Engineering</a:t>
            </a:r>
          </a:p>
        </p:txBody>
      </p:sp>
      <p:sp>
        <p:nvSpPr>
          <p:cNvPr id="6" name="Slide Number Placeholder 5"/>
          <p:cNvSpPr>
            <a:spLocks noGrp="1"/>
          </p:cNvSpPr>
          <p:nvPr>
            <p:ph type="sldNum" sz="quarter" idx="12"/>
          </p:nvPr>
        </p:nvSpPr>
        <p:spPr/>
        <p:txBody>
          <a:bodyPr/>
          <a:lstStyle/>
          <a:p>
            <a:fld id="{76A3FA1D-EC91-45BD-A9AB-12F85A35EF5C}" type="slidenum">
              <a:rPr lang="en-IN" smtClean="0"/>
              <a:t>‹#›</a:t>
            </a:fld>
            <a:endParaRPr lang="en-IN"/>
          </a:p>
        </p:txBody>
      </p:sp>
    </p:spTree>
    <p:extLst>
      <p:ext uri="{BB962C8B-B14F-4D97-AF65-F5344CB8AC3E}">
        <p14:creationId xmlns:p14="http://schemas.microsoft.com/office/powerpoint/2010/main" val="24776494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6334316"/>
            <a:ext cx="12191985" cy="6648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AB0B4F14-0AF0-4BBA-AB5B-5550FC29C108}" type="datetime1">
              <a:rPr lang="en-IN" smtClean="0"/>
              <a:t>01-07-2026</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r>
              <a:rPr lang="en-IN"/>
              <a:t>Vardhaman College Of Engineering</a:t>
            </a:r>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6A3FA1D-EC91-45BD-A9AB-12F85A35EF5C}"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241611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890B9D4-4050-D93B-860F-DFBB39B06DA4}"/>
              </a:ext>
            </a:extLst>
          </p:cNvPr>
          <p:cNvSpPr>
            <a:spLocks noGrp="1"/>
          </p:cNvSpPr>
          <p:nvPr>
            <p:ph type="subTitle" idx="1"/>
          </p:nvPr>
        </p:nvSpPr>
        <p:spPr>
          <a:xfrm>
            <a:off x="1678112" y="4629452"/>
            <a:ext cx="9144000" cy="1288461"/>
          </a:xfrm>
        </p:spPr>
        <p:txBody>
          <a:bodyPr>
            <a:normAutofit/>
          </a:bodyPr>
          <a:lstStyle/>
          <a:p>
            <a:r>
              <a:rPr b="1"/>
              <a:t>PRESENTED BY  —  23ITMNP-B01</a:t>
            </a:r>
            <a:endParaRPr lang="en-IN" sz="1800" b="1" dirty="0">
              <a:latin typeface="Aptos" panose="020B0004020202020204" pitchFamily="34" charset="0"/>
            </a:endParaRPr>
          </a:p>
          <a:p>
            <a:r>
              <a:t>Maruthi Sai Teja  —  23ITMNP-B01</a:t>
            </a:r>
          </a:p>
          <a:p>
            <a:r>
              <a:t>Student Name 2  —  Roll No. 2</a:t>
            </a:r>
          </a:p>
          <a:p>
            <a:r>
              <a:t>Student Name 3  —  Roll No. 3</a:t>
            </a:r>
          </a:p>
        </p:txBody>
      </p:sp>
      <p:sp>
        <p:nvSpPr>
          <p:cNvPr id="5" name="TextBox 4">
            <a:extLst>
              <a:ext uri="{FF2B5EF4-FFF2-40B4-BE49-F238E27FC236}">
                <a16:creationId xmlns:a16="http://schemas.microsoft.com/office/drawing/2014/main" id="{95CE0860-16C3-CAC3-0042-2B36512832B1}"/>
              </a:ext>
            </a:extLst>
          </p:cNvPr>
          <p:cNvSpPr txBox="1"/>
          <p:nvPr/>
        </p:nvSpPr>
        <p:spPr>
          <a:xfrm>
            <a:off x="3047144" y="2228548"/>
            <a:ext cx="6097712" cy="1132169"/>
          </a:xfrm>
          <a:prstGeom prst="rect">
            <a:avLst/>
          </a:prstGeom>
          <a:noFill/>
        </p:spPr>
        <p:txBody>
          <a:bodyPr wrap="square">
            <a:spAutoFit/>
          </a:bodyPr>
          <a:lstStyle/>
          <a:p>
            <a:pPr algn="ctr">
              <a:lnSpc>
                <a:spcPct val="150000"/>
              </a:lnSpc>
            </a:pPr>
            <a:r>
              <a:t>Guided By</a:t>
            </a:r>
            <a:endParaRPr lang="en-IN" dirty="0"/>
          </a:p>
          <a:p>
            <a:r>
              <a:t>Name of the Guide</a:t>
            </a:r>
          </a:p>
          <a:p>
            <a:r>
              <a:t>Assistant Professor, Dept. of IT</a:t>
            </a:r>
          </a:p>
        </p:txBody>
      </p:sp>
      <p:sp>
        <p:nvSpPr>
          <p:cNvPr id="7" name="Title 6">
            <a:extLst>
              <a:ext uri="{FF2B5EF4-FFF2-40B4-BE49-F238E27FC236}">
                <a16:creationId xmlns:a16="http://schemas.microsoft.com/office/drawing/2014/main" id="{9D71A4F2-345D-CE88-B7EC-AF0B0758DF72}"/>
              </a:ext>
            </a:extLst>
          </p:cNvPr>
          <p:cNvSpPr>
            <a:spLocks noGrp="1"/>
          </p:cNvSpPr>
          <p:nvPr>
            <p:ph type="ctrTitle"/>
          </p:nvPr>
        </p:nvSpPr>
        <p:spPr>
          <a:xfrm>
            <a:off x="1107896" y="1069604"/>
            <a:ext cx="10058400" cy="1100670"/>
          </a:xfrm>
        </p:spPr>
        <p:txBody>
          <a:bodyPr>
            <a:normAutofit/>
          </a:bodyPr>
          <a:lstStyle/>
          <a:p>
            <a:pPr algn="ctr"/>
            <a:r>
              <a:t>MediGuide AI: A Multimodal Multi-Agent Healthcare Navigation System</a:t>
            </a:r>
          </a:p>
        </p:txBody>
      </p:sp>
      <p:sp>
        <p:nvSpPr>
          <p:cNvPr id="9" name="Date Placeholder 3"/>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1" name="Footer Placeholder 4"/>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2" name="Slide Number Placeholder 5"/>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1</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4303385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A3C805-72CF-E36C-2B96-3FADC11B9A63}"/>
              </a:ext>
            </a:extLst>
          </p:cNvPr>
          <p:cNvSpPr txBox="1"/>
          <p:nvPr/>
        </p:nvSpPr>
        <p:spPr>
          <a:xfrm>
            <a:off x="583058" y="308493"/>
            <a:ext cx="6097712" cy="584775"/>
          </a:xfrm>
          <a:prstGeom prst="rect">
            <a:avLst/>
          </a:prstGeom>
          <a:noFill/>
        </p:spPr>
        <p:txBody>
          <a:bodyPr wrap="square">
            <a:spAutoFit/>
          </a:bodyPr>
          <a:lstStyle/>
          <a:p>
            <a:r>
              <a:rPr lang="en-IN" sz="3200" b="1" dirty="0">
                <a:latin typeface="Book Antiqua" panose="02040602050305030304" pitchFamily="18" charset="0"/>
              </a:rPr>
              <a:t>Introduction</a:t>
            </a:r>
          </a:p>
        </p:txBody>
      </p:sp>
      <p:sp>
        <p:nvSpPr>
          <p:cNvPr id="5" name="Rectangle 1">
            <a:extLst>
              <a:ext uri="{FF2B5EF4-FFF2-40B4-BE49-F238E27FC236}">
                <a16:creationId xmlns:a16="http://schemas.microsoft.com/office/drawing/2014/main" id="{9525A6B7-6F01-856E-E0C5-EE0CCCF89DBF}"/>
              </a:ext>
            </a:extLst>
          </p:cNvPr>
          <p:cNvSpPr>
            <a:spLocks noChangeArrowheads="1"/>
          </p:cNvSpPr>
          <p:nvPr/>
        </p:nvSpPr>
        <p:spPr bwMode="auto">
          <a:xfrm>
            <a:off x="832205" y="1062970"/>
            <a:ext cx="10078949" cy="2118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b="1"/>
              <a:t>Background &amp; Motivation</a:t>
            </a:r>
            <a:endParaRPr kumimoji="0" lang="en-US" altLang="en-US" sz="1800" b="1" i="0" u="none" strike="noStrike" cap="none" normalizeH="0" baseline="0" dirty="0">
              <a:ln>
                <a:noFill/>
              </a:ln>
              <a:solidFill>
                <a:schemeClr val="tx1"/>
              </a:solidFill>
              <a:effectLst/>
              <a:latin typeface="Aptos" panose="020B0004020202020204" pitchFamily="34" charset="0"/>
            </a:endParaRPr>
          </a:p>
          <a:p>
            <a:r>
              <a:t/>
            </a:r>
          </a:p>
          <a:p>
            <a:r>
              <a:t>• 250,000+ preventable deaths annually in the US from medical errors — the 3rd leading cause of death (BMJ, 2016).</a:t>
            </a:r>
          </a:p>
          <a:p>
            <a:r>
              <a:t>• India has only 1 doctor per 1,457 people (WHO, 2023) — far below the 1:1,000 WHO recommendation.</a:t>
            </a:r>
          </a:p>
          <a:p>
            <a:r>
              <a:t>• 70% of clinical decisions rely on lab reports most patients cannot interpret themselves.</a:t>
            </a:r>
          </a:p>
          <a:p>
            <a:r>
              <a:t>• Medication errors cause 1 in 131 outpatient deaths — mostly from undetected drug combinations and wrong timing.</a:t>
            </a:r>
          </a:p>
          <a:p>
            <a:r>
              <a:t>• 1.5 billion people globally will use health apps by 2025 (Statista) — AI can bridge the accessibility gap.</a:t>
            </a:r>
          </a:p>
          <a:p>
            <a:r>
              <a:t/>
            </a:r>
          </a:p>
          <a:p>
            <a:r>
              <a:t>What is MediGuide AI?</a:t>
            </a:r>
          </a:p>
          <a:p>
            <a:r>
              <a:t/>
            </a:r>
          </a:p>
          <a:p>
            <a:r>
              <a:t>• MediGuide AI is a multimodal, multi-agent healthcare navigation system built on Google's Agent Development Kit (ADK).</a:t>
            </a:r>
          </a:p>
          <a:p>
            <a:r>
              <a:t>• It deploys 5 specialized sub-agents — Triage, Research, Scheduler, Vision, and Lab — coordinated by a root Orchestrator.</a:t>
            </a:r>
          </a:p>
          <a:p>
            <a:r>
              <a:t>• Combines deterministic clinical databases with Gemini LLM reasoning and Pillow image processing.</a:t>
            </a:r>
          </a:p>
          <a:p>
            <a:r>
              <a:t>• Unlike general-purpose chatbots, safety-critical decisions (drug interactions, lab flags) use deterministic code — not LLM guessing.</a:t>
            </a:r>
          </a:p>
          <a:p>
            <a:r>
              <a:t/>
            </a:r>
          </a:p>
          <a:p>
            <a:r>
              <a:t>Domain:  Healthcare AI  |  Multi-Agent Systems  |  Computer Vision  |  Clinical Decision Support</a:t>
            </a:r>
          </a:p>
        </p:txBody>
      </p:sp>
      <p:sp>
        <p:nvSpPr>
          <p:cNvPr id="12" name="Date Placeholder 3">
            <a:extLst>
              <a:ext uri="{FF2B5EF4-FFF2-40B4-BE49-F238E27FC236}">
                <a16:creationId xmlns:a16="http://schemas.microsoft.com/office/drawing/2014/main" id="{6235B595-292B-67CE-1E0E-2DE4AFA0BB04}"/>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3" name="Footer Placeholder 4">
            <a:extLst>
              <a:ext uri="{FF2B5EF4-FFF2-40B4-BE49-F238E27FC236}">
                <a16:creationId xmlns:a16="http://schemas.microsoft.com/office/drawing/2014/main" id="{A519CC8C-BD30-68DD-938A-9D801131D104}"/>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4" name="Slide Number Placeholder 5">
            <a:extLst>
              <a:ext uri="{FF2B5EF4-FFF2-40B4-BE49-F238E27FC236}">
                <a16:creationId xmlns:a16="http://schemas.microsoft.com/office/drawing/2014/main" id="{3A13975D-5A60-DFFB-8F21-1A579B3AD020}"/>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2</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41644249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FDBA8-31F8-6831-130A-352BA372F84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DBA564C-F2C1-E58F-3A32-8202431D98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4" name="TextBox 3">
            <a:extLst>
              <a:ext uri="{FF2B5EF4-FFF2-40B4-BE49-F238E27FC236}">
                <a16:creationId xmlns:a16="http://schemas.microsoft.com/office/drawing/2014/main" id="{3622D6D9-E876-3181-2C72-45B794DA4BF4}"/>
              </a:ext>
            </a:extLst>
          </p:cNvPr>
          <p:cNvSpPr txBox="1"/>
          <p:nvPr/>
        </p:nvSpPr>
        <p:spPr>
          <a:xfrm>
            <a:off x="541962" y="352680"/>
            <a:ext cx="6097712" cy="584775"/>
          </a:xfrm>
          <a:prstGeom prst="rect">
            <a:avLst/>
          </a:prstGeom>
          <a:noFill/>
        </p:spPr>
        <p:txBody>
          <a:bodyPr wrap="square">
            <a:spAutoFit/>
          </a:bodyPr>
          <a:lstStyle/>
          <a:p>
            <a:r>
              <a:rPr lang="en-IN" sz="3200" b="1" dirty="0">
                <a:latin typeface="Book Antiqua" panose="02040602050305030304" pitchFamily="18" charset="0"/>
              </a:rPr>
              <a:t>Problem Statement</a:t>
            </a:r>
          </a:p>
        </p:txBody>
      </p:sp>
      <p:sp>
        <p:nvSpPr>
          <p:cNvPr id="5" name="Rectangle 1">
            <a:extLst>
              <a:ext uri="{FF2B5EF4-FFF2-40B4-BE49-F238E27FC236}">
                <a16:creationId xmlns:a16="http://schemas.microsoft.com/office/drawing/2014/main" id="{05050B35-C9D5-CF08-7FF6-8A53E932BF78}"/>
              </a:ext>
            </a:extLst>
          </p:cNvPr>
          <p:cNvSpPr>
            <a:spLocks noChangeArrowheads="1"/>
          </p:cNvSpPr>
          <p:nvPr/>
        </p:nvSpPr>
        <p:spPr bwMode="auto">
          <a:xfrm>
            <a:off x="924675" y="1232191"/>
            <a:ext cx="9678256" cy="1703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b="1"/>
              <a:t>The Core Problem</a:t>
            </a:r>
            <a:endParaRPr kumimoji="0" lang="en-US" altLang="en-US" sz="1800" b="1" i="0" u="none" strike="noStrike" cap="none" normalizeH="0" baseline="0" dirty="0">
              <a:ln>
                <a:noFill/>
              </a:ln>
              <a:solidFill>
                <a:schemeClr val="tx1"/>
              </a:solidFill>
              <a:effectLst/>
              <a:latin typeface="Aptos" panose="020B0004020202020204" pitchFamily="34" charset="0"/>
            </a:endParaRPr>
          </a:p>
          <a:p>
            <a:r>
              <a:t/>
            </a:r>
          </a:p>
          <a:p>
            <a:r>
              <a:t>Patients globally face a three-part healthcare crisis that causes hundreds of thousands of</a:t>
            </a:r>
          </a:p>
          <a:p>
            <a:r>
              <a:t>preventable deaths every year:</a:t>
            </a:r>
          </a:p>
          <a:p>
            <a:r>
              <a:t/>
            </a:r>
          </a:p>
          <a:p>
            <a:r>
              <a:t>PROBLEM 1 — Medication Errors</a:t>
            </a:r>
          </a:p>
          <a:p>
            <a:r>
              <a:t>• Patients receive prescriptions from multiple doctors with no cross-checking system.</a:t>
            </a:r>
          </a:p>
          <a:p>
            <a:r>
              <a:t>• Dangerous drug combinations go undetected. Therapeutic duplications (same drug, different brand</a:t>
            </a:r>
          </a:p>
          <a:p>
            <a:r>
              <a:t>  names) cause accidental overdose. E.g., Trimox + Amoxicillin = same drug — double dose.</a:t>
            </a:r>
          </a:p>
          <a:p>
            <a:r>
              <a:t>• 4 out of 5 patients are unaware that common foods (grapefruit, alcohol) can dangerously alter</a:t>
            </a:r>
          </a:p>
          <a:p>
            <a:r>
              <a:t>  their medication blood levels.</a:t>
            </a:r>
          </a:p>
          <a:p>
            <a:r>
              <a:t/>
            </a:r>
          </a:p>
          <a:p>
            <a:r>
              <a:t>PROBLEM 2 — Diagnostic Blindness</a:t>
            </a:r>
          </a:p>
          <a:p>
            <a:r>
              <a:t>• Blood test reports contain values most patients cannot understand.</a:t>
            </a:r>
          </a:p>
          <a:p>
            <a:r>
              <a:t>• An HbA1c of 8.9% confirms uncontrolled diabetes. Creatinine of 2.1 + Metformin = lactic acidosis risk.</a:t>
            </a:r>
          </a:p>
          <a:p>
            <a:r>
              <a:t>• Patients go home without knowing which value requires immediate action.</a:t>
            </a:r>
          </a:p>
          <a:p>
            <a:r>
              <a:t/>
            </a:r>
          </a:p>
          <a:p>
            <a:r>
              <a:t>PROBLEM 3 — Healthcare Inaccessibility</a:t>
            </a:r>
          </a:p>
          <a:p>
            <a:r>
              <a:t>• 1.57 billion people globally lack adequate healthcare access.</a:t>
            </a:r>
          </a:p>
          <a:p>
            <a:r>
              <a:t>• Patients wait days/weeks for a doctor's appointment to interpret a lab report they could have</a:t>
            </a:r>
          </a:p>
          <a:p>
            <a:r>
              <a:t>  acted on immediately with proper guidance.</a:t>
            </a:r>
          </a:p>
          <a:p>
            <a:r>
              <a:t/>
            </a:r>
          </a:p>
          <a:p>
            <a:r>
              <a:t>Research Gap</a:t>
            </a:r>
          </a:p>
          <a:p>
            <a:r>
              <a:t>• General-purpose AI (ChatGPT, Claude) gives probabilistic text — not deterministic safety guarantees.</a:t>
            </a:r>
          </a:p>
          <a:p>
            <a:r>
              <a:t>• No existing app unifies: prescription OCR + drug interactions + lab analysis + food-drug safety</a:t>
            </a:r>
          </a:p>
          <a:p>
            <a:r>
              <a:t>  + medication scheduling in one agentic pipeline. MediGuide AI fills this gap.</a:t>
            </a:r>
          </a:p>
        </p:txBody>
      </p:sp>
      <p:sp>
        <p:nvSpPr>
          <p:cNvPr id="13" name="Date Placeholder 3">
            <a:extLst>
              <a:ext uri="{FF2B5EF4-FFF2-40B4-BE49-F238E27FC236}">
                <a16:creationId xmlns:a16="http://schemas.microsoft.com/office/drawing/2014/main" id="{B85F708B-8B66-50CE-7300-0EFF66574F3B}"/>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4" name="Footer Placeholder 4">
            <a:extLst>
              <a:ext uri="{FF2B5EF4-FFF2-40B4-BE49-F238E27FC236}">
                <a16:creationId xmlns:a16="http://schemas.microsoft.com/office/drawing/2014/main" id="{E3C70CEB-09EE-5E20-B6A4-1EEEF071838C}"/>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5" name="Slide Number Placeholder 5">
            <a:extLst>
              <a:ext uri="{FF2B5EF4-FFF2-40B4-BE49-F238E27FC236}">
                <a16:creationId xmlns:a16="http://schemas.microsoft.com/office/drawing/2014/main" id="{8A97C427-76BF-7263-5584-8CD227298C5C}"/>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3</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3941561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DA11F-FE40-ECD8-4934-7E7C61BD6E6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2728778-8761-DA5B-1648-FA50782BAA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4" name="TextBox 3">
            <a:extLst>
              <a:ext uri="{FF2B5EF4-FFF2-40B4-BE49-F238E27FC236}">
                <a16:creationId xmlns:a16="http://schemas.microsoft.com/office/drawing/2014/main" id="{7D805118-0702-4DCE-AAD0-B36CED33C593}"/>
              </a:ext>
            </a:extLst>
          </p:cNvPr>
          <p:cNvSpPr txBox="1"/>
          <p:nvPr/>
        </p:nvSpPr>
        <p:spPr>
          <a:xfrm>
            <a:off x="932380" y="1233571"/>
            <a:ext cx="9752744" cy="1298882"/>
          </a:xfrm>
          <a:prstGeom prst="rect">
            <a:avLst/>
          </a:prstGeom>
          <a:noFill/>
        </p:spPr>
        <p:txBody>
          <a:bodyPr wrap="square">
            <a:spAutoFit/>
          </a:bodyPr>
          <a:lstStyle/>
          <a:p>
            <a:pPr>
              <a:lnSpc>
                <a:spcPct val="150000"/>
              </a:lnSpc>
            </a:pPr>
            <a:r>
              <a:t>O1.  Design and implement a multi-agent AI system (Google ADK) with 5 specialized sub-agents</a:t>
            </a:r>
          </a:p>
          <a:p>
            <a:r>
              <a:t>     capable of handling diverse healthcare queries with clinical precision.</a:t>
            </a:r>
          </a:p>
          <a:p>
            <a:r>
              <a:t/>
            </a:r>
          </a:p>
          <a:p>
            <a:r>
              <a:t>O2.  Build a deterministic drug-drug interaction checker covering 50+ medication pairs with</a:t>
            </a:r>
          </a:p>
          <a:p>
            <a:r>
              <a:t>     brand-to-generic name resolution (e.g., Trimox → Amoxicillin).</a:t>
            </a:r>
          </a:p>
          <a:p>
            <a:r>
              <a:t/>
            </a:r>
          </a:p>
          <a:p>
            <a:r>
              <a:t>O3.  Implement an intelligent lab report analyzer covering 35+ blood tests with severity-flagged,</a:t>
            </a:r>
          </a:p>
          <a:p>
            <a:r>
              <a:t>     plain-English clinical interpretations (CRITICAL / WARNING / NORMAL).</a:t>
            </a:r>
          </a:p>
          <a:p>
            <a:r>
              <a:t/>
            </a:r>
          </a:p>
          <a:p>
            <a:r>
              <a:t>O4.  Develop a food-drug interaction engine identifying 8 dangerous food categories</a:t>
            </a:r>
          </a:p>
          <a:p>
            <a:r>
              <a:t>     (grapefruit, alcohol, tyramine, Vitamin K, dairy, etc.) against 40+ medications.</a:t>
            </a:r>
          </a:p>
          <a:p>
            <a:r>
              <a:t/>
            </a:r>
          </a:p>
          <a:p>
            <a:r>
              <a:t>O5.  Build a multimodal image processing pipeline (Pillow + Gemini Vision) for prescription OCR,</a:t>
            </a:r>
          </a:p>
          <a:p>
            <a:r>
              <a:t>     skin condition analysis, X-ray triage, and ECG assessment.</a:t>
            </a:r>
          </a:p>
          <a:p>
            <a:r>
              <a:t/>
            </a:r>
          </a:p>
          <a:p>
            <a:r>
              <a:t>O6.  Compute a quantified Health Risk Score (1–100) using a 7-factor weighted clinical algorithm.</a:t>
            </a:r>
          </a:p>
          <a:p>
            <a:r>
              <a:t/>
            </a:r>
          </a:p>
          <a:p>
            <a:r>
              <a:t>O7.  Generate personalized daily medication schedules with clinically validated time-slot assignments.</a:t>
            </a:r>
          </a:p>
        </p:txBody>
      </p:sp>
      <p:sp>
        <p:nvSpPr>
          <p:cNvPr id="6" name="TextBox 5">
            <a:extLst>
              <a:ext uri="{FF2B5EF4-FFF2-40B4-BE49-F238E27FC236}">
                <a16:creationId xmlns:a16="http://schemas.microsoft.com/office/drawing/2014/main" id="{0B3C14B1-B4B0-534B-E1FE-E68BB7B53460}"/>
              </a:ext>
            </a:extLst>
          </p:cNvPr>
          <p:cNvSpPr txBox="1"/>
          <p:nvPr/>
        </p:nvSpPr>
        <p:spPr>
          <a:xfrm>
            <a:off x="583058" y="352680"/>
            <a:ext cx="6097712" cy="584775"/>
          </a:xfrm>
          <a:prstGeom prst="rect">
            <a:avLst/>
          </a:prstGeom>
          <a:noFill/>
        </p:spPr>
        <p:txBody>
          <a:bodyPr wrap="square">
            <a:spAutoFit/>
          </a:bodyPr>
          <a:lstStyle/>
          <a:p>
            <a:pPr>
              <a:buNone/>
            </a:pPr>
            <a:r>
              <a:rPr lang="en-US" sz="3200" b="1" dirty="0">
                <a:latin typeface="Book Antiqua" panose="02040602050305030304" pitchFamily="18" charset="0"/>
              </a:rPr>
              <a:t>Objectives</a:t>
            </a:r>
          </a:p>
        </p:txBody>
      </p:sp>
      <p:sp>
        <p:nvSpPr>
          <p:cNvPr id="8" name="TextBox 7">
            <a:extLst>
              <a:ext uri="{FF2B5EF4-FFF2-40B4-BE49-F238E27FC236}">
                <a16:creationId xmlns:a16="http://schemas.microsoft.com/office/drawing/2014/main" id="{D54B1C00-20E2-166F-A917-9796E0667B85}"/>
              </a:ext>
            </a:extLst>
          </p:cNvPr>
          <p:cNvSpPr txBox="1"/>
          <p:nvPr/>
        </p:nvSpPr>
        <p:spPr>
          <a:xfrm>
            <a:off x="932379" y="4110335"/>
            <a:ext cx="9855485" cy="1180856"/>
          </a:xfrm>
          <a:prstGeom prst="rect">
            <a:avLst/>
          </a:prstGeom>
          <a:noFill/>
        </p:spPr>
        <p:txBody>
          <a:bodyPr wrap="square">
            <a:spAutoFit/>
          </a:bodyPr>
          <a:lstStyle/>
          <a:p>
            <a:pPr>
              <a:buNone/>
            </a:pPr>
            <a:r>
              <a:t>IN SCOPE:</a:t>
            </a:r>
          </a:p>
          <a:p>
            <a:r>
              <a:t>• Text-based symptom triage and urgency classification</a:t>
            </a:r>
          </a:p>
          <a:p>
            <a:r>
              <a:t>• Medical image analysis: prescriptions, rashes, ECG, X-rays</a:t>
            </a:r>
          </a:p>
          <a:p>
            <a:r>
              <a:t>• Blood test lab report interpretation (35+ common tests)</a:t>
            </a:r>
          </a:p>
          <a:p>
            <a:r>
              <a:t>• Drug-drug and food-drug interaction detection</a:t>
            </a:r>
          </a:p>
          <a:p>
            <a:r>
              <a:t>• Personalized daily medication schedule generation</a:t>
            </a:r>
          </a:p>
          <a:p>
            <a:r>
              <a:t>• Health Risk Score computation (1–100 scale)</a:t>
            </a:r>
          </a:p>
          <a:p>
            <a:r>
              <a:t>• CLI-based standalone skills for each module</a:t>
            </a:r>
          </a:p>
          <a:p>
            <a:r>
              <a:t>• REST API server (FastAPI) + Docker containerization</a:t>
            </a:r>
          </a:p>
          <a:p>
            <a:r>
              <a:t/>
            </a:r>
          </a:p>
          <a:p>
            <a:r>
              <a:t>OUT OF SCOPE:</a:t>
            </a:r>
          </a:p>
          <a:p>
            <a:r>
              <a:t>• Real-time patient monitoring (IoT/wearables)</a:t>
            </a:r>
          </a:p>
          <a:p>
            <a:r>
              <a:t>• Electronic Health Record (EHR) integration</a:t>
            </a:r>
          </a:p>
          <a:p>
            <a:r>
              <a:t>• Insurance billing or medical coding</a:t>
            </a:r>
          </a:p>
          <a:p>
            <a:r>
              <a:t>• Surgical or procedural planning</a:t>
            </a:r>
          </a:p>
        </p:txBody>
      </p:sp>
      <p:sp>
        <p:nvSpPr>
          <p:cNvPr id="10" name="TextBox 9">
            <a:extLst>
              <a:ext uri="{FF2B5EF4-FFF2-40B4-BE49-F238E27FC236}">
                <a16:creationId xmlns:a16="http://schemas.microsoft.com/office/drawing/2014/main" id="{0FACA8B5-E4FA-85AE-CB4C-8C860B947CA3}"/>
              </a:ext>
            </a:extLst>
          </p:cNvPr>
          <p:cNvSpPr txBox="1"/>
          <p:nvPr/>
        </p:nvSpPr>
        <p:spPr>
          <a:xfrm>
            <a:off x="583058" y="3429000"/>
            <a:ext cx="6097712" cy="584775"/>
          </a:xfrm>
          <a:prstGeom prst="rect">
            <a:avLst/>
          </a:prstGeom>
          <a:noFill/>
        </p:spPr>
        <p:txBody>
          <a:bodyPr wrap="square">
            <a:spAutoFit/>
          </a:bodyPr>
          <a:lstStyle/>
          <a:p>
            <a:pPr>
              <a:buNone/>
            </a:pPr>
            <a:r>
              <a:rPr lang="en-US" sz="3200" b="1" dirty="0">
                <a:latin typeface="Book Antiqua" panose="02040602050305030304" pitchFamily="18" charset="0"/>
              </a:rPr>
              <a:t>Scope of the Project</a:t>
            </a:r>
          </a:p>
        </p:txBody>
      </p:sp>
      <p:sp>
        <p:nvSpPr>
          <p:cNvPr id="15" name="Date Placeholder 3">
            <a:extLst>
              <a:ext uri="{FF2B5EF4-FFF2-40B4-BE49-F238E27FC236}">
                <a16:creationId xmlns:a16="http://schemas.microsoft.com/office/drawing/2014/main" id="{598B0CA9-2D80-D02E-00F5-82398D0865FB}"/>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6" name="Footer Placeholder 4">
            <a:extLst>
              <a:ext uri="{FF2B5EF4-FFF2-40B4-BE49-F238E27FC236}">
                <a16:creationId xmlns:a16="http://schemas.microsoft.com/office/drawing/2014/main" id="{A6E14718-3AEC-68A9-0EB6-71CEDDF83688}"/>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7" name="Slide Number Placeholder 5">
            <a:extLst>
              <a:ext uri="{FF2B5EF4-FFF2-40B4-BE49-F238E27FC236}">
                <a16:creationId xmlns:a16="http://schemas.microsoft.com/office/drawing/2014/main" id="{F428699F-E025-AB8D-542C-877D92F5A788}"/>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4</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38980726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90B5D-2303-3AD1-3A37-89014B9EA61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160DF6-7120-F974-19F2-35CE8CBC39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6" name="TextBox 5">
            <a:extLst>
              <a:ext uri="{FF2B5EF4-FFF2-40B4-BE49-F238E27FC236}">
                <a16:creationId xmlns:a16="http://schemas.microsoft.com/office/drawing/2014/main" id="{34406C81-0F5D-683F-7220-12572C25AAC8}"/>
              </a:ext>
            </a:extLst>
          </p:cNvPr>
          <p:cNvSpPr txBox="1"/>
          <p:nvPr/>
        </p:nvSpPr>
        <p:spPr>
          <a:xfrm>
            <a:off x="470042" y="305344"/>
            <a:ext cx="6097712" cy="584775"/>
          </a:xfrm>
          <a:prstGeom prst="rect">
            <a:avLst/>
          </a:prstGeom>
          <a:noFill/>
        </p:spPr>
        <p:txBody>
          <a:bodyPr wrap="square">
            <a:spAutoFit/>
          </a:bodyPr>
          <a:lstStyle/>
          <a:p>
            <a:pPr>
              <a:buNone/>
            </a:pPr>
            <a:r>
              <a:rPr lang="en-US" sz="3200" b="1" dirty="0">
                <a:latin typeface="Book Antiqua" panose="02040602050305030304" pitchFamily="18" charset="0"/>
              </a:rPr>
              <a:t>Literature Survey Summary</a:t>
            </a:r>
          </a:p>
        </p:txBody>
      </p:sp>
      <p:graphicFrame>
        <p:nvGraphicFramePr>
          <p:cNvPr id="8" name="Table 7">
            <a:extLst>
              <a:ext uri="{FF2B5EF4-FFF2-40B4-BE49-F238E27FC236}">
                <a16:creationId xmlns:a16="http://schemas.microsoft.com/office/drawing/2014/main" id="{548FE66D-7997-AC90-4D98-E1780CAF6BEB}"/>
              </a:ext>
            </a:extLst>
          </p:cNvPr>
          <p:cNvGraphicFramePr>
            <a:graphicFrameLocks noGrp="1"/>
          </p:cNvGraphicFramePr>
          <p:nvPr>
            <p:extLst>
              <p:ext uri="{D42A27DB-BD31-4B8C-83A1-F6EECF244321}">
                <p14:modId xmlns:p14="http://schemas.microsoft.com/office/powerpoint/2010/main" val="1235218340"/>
              </p:ext>
            </p:extLst>
          </p:nvPr>
        </p:nvGraphicFramePr>
        <p:xfrm>
          <a:off x="840198" y="1005341"/>
          <a:ext cx="10027320" cy="3840480"/>
        </p:xfrm>
        <a:graphic>
          <a:graphicData uri="http://schemas.openxmlformats.org/drawingml/2006/table">
            <a:tbl>
              <a:tblPr firstRow="1" bandRow="1">
                <a:tableStyleId>{7DF18680-E054-41AD-8BC1-D1AEF772440D}</a:tableStyleId>
              </a:tblPr>
              <a:tblGrid>
                <a:gridCol w="2005464">
                  <a:extLst>
                    <a:ext uri="{9D8B030D-6E8A-4147-A177-3AD203B41FA5}">
                      <a16:colId xmlns:a16="http://schemas.microsoft.com/office/drawing/2014/main" val="2117232728"/>
                    </a:ext>
                  </a:extLst>
                </a:gridCol>
                <a:gridCol w="2005464">
                  <a:extLst>
                    <a:ext uri="{9D8B030D-6E8A-4147-A177-3AD203B41FA5}">
                      <a16:colId xmlns:a16="http://schemas.microsoft.com/office/drawing/2014/main" val="2203765823"/>
                    </a:ext>
                  </a:extLst>
                </a:gridCol>
                <a:gridCol w="2005464">
                  <a:extLst>
                    <a:ext uri="{9D8B030D-6E8A-4147-A177-3AD203B41FA5}">
                      <a16:colId xmlns:a16="http://schemas.microsoft.com/office/drawing/2014/main" val="3461313282"/>
                    </a:ext>
                  </a:extLst>
                </a:gridCol>
                <a:gridCol w="2005464">
                  <a:extLst>
                    <a:ext uri="{9D8B030D-6E8A-4147-A177-3AD203B41FA5}">
                      <a16:colId xmlns:a16="http://schemas.microsoft.com/office/drawing/2014/main" val="1709901478"/>
                    </a:ext>
                  </a:extLst>
                </a:gridCol>
                <a:gridCol w="2005464">
                  <a:extLst>
                    <a:ext uri="{9D8B030D-6E8A-4147-A177-3AD203B41FA5}">
                      <a16:colId xmlns:a16="http://schemas.microsoft.com/office/drawing/2014/main" val="3047180167"/>
                    </a:ext>
                  </a:extLst>
                </a:gridCol>
              </a:tblGrid>
              <a:tr h="775694">
                <a:tc>
                  <a:txBody>
                    <a:bodyPr/>
                    <a:lstStyle/>
                    <a:p>
                      <a:pPr algn="ctr"/>
                      <a:r>
                        <a:rPr lang="en-IN" dirty="0">
                          <a:latin typeface="Aptos" panose="020B0004020202020204" pitchFamily="34" charset="0"/>
                        </a:rPr>
                        <a:t>Ref No.</a:t>
                      </a:r>
                    </a:p>
                  </a:txBody>
                  <a:tcPr anchor="ctr"/>
                </a:tc>
                <a:tc>
                  <a:txBody>
                    <a:bodyPr/>
                    <a:lstStyle/>
                    <a:p>
                      <a:pPr algn="ctr"/>
                      <a:r>
                        <a:rPr lang="en-US" dirty="0">
                          <a:latin typeface="Aptos" panose="020B0004020202020204" pitchFamily="34" charset="0"/>
                        </a:rPr>
                        <a:t>Existing Works</a:t>
                      </a:r>
                      <a:endParaRPr lang="en-IN" dirty="0">
                        <a:latin typeface="Aptos" panose="020B0004020202020204" pitchFamily="34" charset="0"/>
                      </a:endParaRPr>
                    </a:p>
                  </a:txBody>
                  <a:tcPr anchor="ctr"/>
                </a:tc>
                <a:tc>
                  <a:txBody>
                    <a:bodyPr/>
                    <a:lstStyle/>
                    <a:p>
                      <a:pPr algn="ctr"/>
                      <a:r>
                        <a:rPr lang="en-US" dirty="0">
                          <a:latin typeface="Aptos" panose="020B0004020202020204" pitchFamily="34" charset="0"/>
                        </a:rPr>
                        <a:t>Key </a:t>
                      </a:r>
                      <a:r>
                        <a:rPr lang="en-US" dirty="0" smtClean="0">
                          <a:latin typeface="Aptos" panose="020B0004020202020204" pitchFamily="34" charset="0"/>
                        </a:rPr>
                        <a:t>Gaps / Limitations </a:t>
                      </a:r>
                      <a:endParaRPr lang="en-IN" dirty="0">
                        <a:latin typeface="Aptos" panose="020B0004020202020204" pitchFamily="34" charset="0"/>
                      </a:endParaRPr>
                    </a:p>
                  </a:txBody>
                  <a:tcPr anchor="ctr"/>
                </a:tc>
                <a:tc>
                  <a:txBody>
                    <a:bodyPr/>
                    <a:lstStyle/>
                    <a:p>
                      <a:pPr algn="ctr"/>
                      <a:r>
                        <a:rPr lang="en-IN" dirty="0">
                          <a:latin typeface="Aptos" panose="020B0004020202020204" pitchFamily="34" charset="0"/>
                        </a:rPr>
                        <a:t>Algorithm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ptos" panose="020B0004020202020204" pitchFamily="34" charset="0"/>
                        </a:rPr>
                        <a:t>Your Project Addresses the Gaps</a:t>
                      </a:r>
                      <a:endParaRPr lang="en-IN" dirty="0">
                        <a:latin typeface="Aptos" panose="020B0004020202020204" pitchFamily="34" charset="0"/>
                      </a:endParaRPr>
                    </a:p>
                  </a:txBody>
                  <a:tcPr anchor="ctr"/>
                </a:tc>
                <a:extLst>
                  <a:ext uri="{0D108BD9-81ED-4DB2-BD59-A6C34878D82A}">
                    <a16:rowId xmlns:a16="http://schemas.microsoft.com/office/drawing/2014/main" val="2543460161"/>
                  </a:ext>
                </a:extLst>
              </a:tr>
              <a:tr h="323887">
                <a:tc>
                  <a:txBody>
                    <a:bodyPr/>
                    <a:lstStyle/>
                    <a:p>
                      <a:pPr algn="ctr"/>
                      <a:r>
                        <a:rPr lang="en-IN" dirty="0">
                          <a:latin typeface="Aptos" panose="020B0004020202020204" pitchFamily="34" charset="0"/>
                        </a:rPr>
                        <a:t>[1]</a:t>
                      </a: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796575507"/>
                  </a:ext>
                </a:extLst>
              </a:tr>
              <a:tr h="323887">
                <a:tc>
                  <a:txBody>
                    <a:bodyPr/>
                    <a:lstStyle/>
                    <a:p>
                      <a:pPr algn="ctr"/>
                      <a:r>
                        <a:rPr lang="en-IN" dirty="0">
                          <a:latin typeface="Aptos" panose="020B0004020202020204" pitchFamily="34" charset="0"/>
                        </a:rPr>
                        <a:t>[2]</a:t>
                      </a: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4139280791"/>
                  </a:ext>
                </a:extLst>
              </a:tr>
              <a:tr h="323887">
                <a:tc>
                  <a:txBody>
                    <a:bodyPr/>
                    <a:lstStyle/>
                    <a:p>
                      <a:pPr algn="ctr"/>
                      <a:r>
                        <a:rPr lang="en-IN" dirty="0">
                          <a:latin typeface="Aptos" panose="020B0004020202020204" pitchFamily="34" charset="0"/>
                        </a:rPr>
                        <a:t>[3]</a:t>
                      </a:r>
                    </a:p>
                  </a:txBody>
                  <a:tcPr/>
                </a:tc>
                <a:tc>
                  <a:txBody>
                    <a:bodyPr/>
                    <a:lstStyle/>
                    <a:p>
                      <a:endParaRPr lang="en-IN" dirty="0">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2495907860"/>
                  </a:ext>
                </a:extLst>
              </a:tr>
              <a:tr h="323887">
                <a:tc>
                  <a:txBody>
                    <a:bodyPr/>
                    <a:lstStyle/>
                    <a:p>
                      <a:pPr algn="ctr"/>
                      <a:r>
                        <a:rPr lang="en-IN" dirty="0">
                          <a:latin typeface="Aptos" panose="020B0004020202020204" pitchFamily="34" charset="0"/>
                        </a:rPr>
                        <a:t>[4]</a:t>
                      </a: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164111642"/>
                  </a:ext>
                </a:extLst>
              </a:tr>
              <a:tr h="323887">
                <a:tc>
                  <a:txBody>
                    <a:bodyPr/>
                    <a:lstStyle/>
                    <a:p>
                      <a:pPr algn="ctr"/>
                      <a:r>
                        <a:rPr lang="en-US" dirty="0">
                          <a:latin typeface="Aptos" panose="020B0004020202020204" pitchFamily="34" charset="0"/>
                        </a:rPr>
                        <a:t>[5]</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2813143183"/>
                  </a:ext>
                </a:extLst>
              </a:tr>
              <a:tr h="323887">
                <a:tc>
                  <a:txBody>
                    <a:bodyPr/>
                    <a:lstStyle/>
                    <a:p>
                      <a:pPr algn="ctr"/>
                      <a:r>
                        <a:rPr lang="en-US" dirty="0">
                          <a:latin typeface="Aptos" panose="020B0004020202020204" pitchFamily="34" charset="0"/>
                        </a:rPr>
                        <a:t>[6]</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902245519"/>
                  </a:ext>
                </a:extLst>
              </a:tr>
              <a:tr h="323887">
                <a:tc>
                  <a:txBody>
                    <a:bodyPr/>
                    <a:lstStyle/>
                    <a:p>
                      <a:pPr algn="ctr"/>
                      <a:r>
                        <a:rPr lang="en-US" dirty="0">
                          <a:latin typeface="Aptos" panose="020B0004020202020204" pitchFamily="34" charset="0"/>
                        </a:rPr>
                        <a:t>[7]</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454984849"/>
                  </a:ext>
                </a:extLst>
              </a:tr>
              <a:tr h="323887">
                <a:tc>
                  <a:txBody>
                    <a:bodyPr/>
                    <a:lstStyle/>
                    <a:p>
                      <a:pPr algn="ctr"/>
                      <a:r>
                        <a:rPr lang="en-US" dirty="0">
                          <a:latin typeface="Aptos" panose="020B0004020202020204" pitchFamily="34" charset="0"/>
                        </a:rPr>
                        <a:t>[8]</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2637780379"/>
                  </a:ext>
                </a:extLst>
              </a:tr>
            </a:tbl>
          </a:graphicData>
        </a:graphic>
      </p:graphicFrame>
      <p:sp>
        <p:nvSpPr>
          <p:cNvPr id="13" name="Date Placeholder 3">
            <a:extLst>
              <a:ext uri="{FF2B5EF4-FFF2-40B4-BE49-F238E27FC236}">
                <a16:creationId xmlns:a16="http://schemas.microsoft.com/office/drawing/2014/main" id="{5A7A1348-68F7-EA91-EAFE-5B3EC680D20C}"/>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4" name="Footer Placeholder 4">
            <a:extLst>
              <a:ext uri="{FF2B5EF4-FFF2-40B4-BE49-F238E27FC236}">
                <a16:creationId xmlns:a16="http://schemas.microsoft.com/office/drawing/2014/main" id="{1FFB97E3-AE8E-55EB-9F91-20FDDBF34DFA}"/>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5" name="Slide Number Placeholder 5">
            <a:extLst>
              <a:ext uri="{FF2B5EF4-FFF2-40B4-BE49-F238E27FC236}">
                <a16:creationId xmlns:a16="http://schemas.microsoft.com/office/drawing/2014/main" id="{5A78E1C5-97FB-6677-7CC1-126AA4153A00}"/>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5</a:t>
            </a:fld>
            <a:endParaRPr lang="en-IN" sz="1200" dirty="0">
              <a:solidFill>
                <a:schemeClr val="accent3"/>
              </a:solidFill>
              <a:latin typeface="Aptos" panose="020B0004020202020204" pitchFamily="34" charset="0"/>
            </a:endParaRPr>
          </a:p>
        </p:txBody>
      </p:sp>
      <p:graphicFrame>
        <p:nvGraphicFramePr>
          <p:cNvPr id="16" name="Table 15"/>
          <p:cNvGraphicFramePr>
            <a:graphicFrameLocks noGrp="1"/>
          </p:cNvGraphicFramePr>
          <p:nvPr/>
        </p:nvGraphicFramePr>
        <p:xfrm>
          <a:off x="411480" y="960120"/>
          <a:ext cx="11338560" cy="5486400"/>
        </p:xfrm>
        <a:graphic>
          <a:graphicData uri="http://schemas.openxmlformats.org/drawingml/2006/table">
            <a:tbl>
              <a:tblPr firstRow="1" bandRow="1">
                <a:tableStyleId>{5C22544A-7EE6-4342-B048-85BDC9FD1C3A}</a:tableStyleId>
              </a:tblPr>
              <a:tblGrid>
                <a:gridCol w="2834640"/>
                <a:gridCol w="2834640"/>
                <a:gridCol w="2834640"/>
                <a:gridCol w="2834640"/>
              </a:tblGrid>
              <a:tr h="609600">
                <a:tc>
                  <a:txBody>
                    <a:bodyPr/>
                    <a:lstStyle/>
                    <a:p>
                      <a:pPr algn="ctr"/>
                      <a:r>
                        <a:rPr sz="1000" b="1">
                          <a:solidFill>
                            <a:srgbClr val="FFFFFF"/>
                          </a:solidFill>
                          <a:latin typeface="Aptos"/>
                        </a:rPr>
                        <a:t>Ref.</a:t>
                      </a:r>
                    </a:p>
                  </a:txBody>
                  <a:tcPr>
                    <a:solidFill>
                      <a:srgbClr val="263F6D"/>
                    </a:solidFill>
                  </a:tcPr>
                </a:tc>
                <a:tc>
                  <a:txBody>
                    <a:bodyPr/>
                    <a:lstStyle/>
                    <a:p>
                      <a:pPr algn="ctr"/>
                      <a:r>
                        <a:rPr sz="1000" b="1">
                          <a:solidFill>
                            <a:srgbClr val="FFFFFF"/>
                          </a:solidFill>
                          <a:latin typeface="Aptos"/>
                        </a:rPr>
                        <a:t>Authors &amp; Title</a:t>
                      </a:r>
                    </a:p>
                  </a:txBody>
                  <a:tcPr>
                    <a:solidFill>
                      <a:srgbClr val="263F6D"/>
                    </a:solidFill>
                  </a:tcPr>
                </a:tc>
                <a:tc>
                  <a:txBody>
                    <a:bodyPr/>
                    <a:lstStyle/>
                    <a:p>
                      <a:pPr algn="ctr"/>
                      <a:r>
                        <a:rPr sz="1000" b="1">
                          <a:solidFill>
                            <a:srgbClr val="FFFFFF"/>
                          </a:solidFill>
                          <a:latin typeface="Aptos"/>
                        </a:rPr>
                        <a:t>Key Contribution</a:t>
                      </a:r>
                    </a:p>
                  </a:txBody>
                  <a:tcPr>
                    <a:solidFill>
                      <a:srgbClr val="263F6D"/>
                    </a:solidFill>
                  </a:tcPr>
                </a:tc>
                <a:tc>
                  <a:txBody>
                    <a:bodyPr/>
                    <a:lstStyle/>
                    <a:p>
                      <a:pPr algn="ctr"/>
                      <a:r>
                        <a:rPr sz="1000" b="1">
                          <a:solidFill>
                            <a:srgbClr val="FFFFFF"/>
                          </a:solidFill>
                          <a:latin typeface="Aptos"/>
                        </a:rPr>
                        <a:t>Gap Addressed by MediGuide AI</a:t>
                      </a:r>
                    </a:p>
                  </a:txBody>
                  <a:tcPr>
                    <a:solidFill>
                      <a:srgbClr val="263F6D"/>
                    </a:solidFill>
                  </a:tcPr>
                </a:tc>
              </a:tr>
              <a:tr h="609600">
                <a:tc>
                  <a:txBody>
                    <a:bodyPr wrap="square"/>
                    <a:lstStyle/>
                    <a:p>
                      <a:r>
                        <a:rPr sz="850">
                          <a:solidFill>
                            <a:srgbClr val="0D0D0D"/>
                          </a:solidFill>
                          <a:latin typeface="Aptos"/>
                        </a:rPr>
                        <a:t>[1]</a:t>
                      </a:r>
                    </a:p>
                  </a:txBody>
                  <a:tcPr>
                    <a:solidFill>
                      <a:srgbClr val="F2F0EB"/>
                    </a:solidFill>
                  </a:tcPr>
                </a:tc>
                <a:tc>
                  <a:txBody>
                    <a:bodyPr wrap="square"/>
                    <a:lstStyle/>
                    <a:p>
                      <a:r>
                        <a:rPr sz="850">
                          <a:solidFill>
                            <a:srgbClr val="0D0D0D"/>
                          </a:solidFill>
                          <a:latin typeface="Aptos"/>
                        </a:rPr>
                        <a:t>Topol EJ (2019). High-performance medicine: AI in clinical practice. Nature Medicine, 25, 44-56.</a:t>
                      </a:r>
                    </a:p>
                  </a:txBody>
                  <a:tcPr>
                    <a:solidFill>
                      <a:srgbClr val="F2F0EB"/>
                    </a:solidFill>
                  </a:tcPr>
                </a:tc>
                <a:tc>
                  <a:txBody>
                    <a:bodyPr wrap="square"/>
                    <a:lstStyle/>
                    <a:p>
                      <a:r>
                        <a:rPr sz="850">
                          <a:solidFill>
                            <a:srgbClr val="0D0D0D"/>
                          </a:solidFill>
                          <a:latin typeface="Aptos"/>
                        </a:rPr>
                        <a:t>Demonstrates AI achieves specialist-level accuracy in radiology and pathology — rivaling clinicians.</a:t>
                      </a:r>
                    </a:p>
                  </a:txBody>
                  <a:tcPr>
                    <a:solidFill>
                      <a:srgbClr val="F2F0EB"/>
                    </a:solidFill>
                  </a:tcPr>
                </a:tc>
                <a:tc>
                  <a:txBody>
                    <a:bodyPr wrap="square"/>
                    <a:lstStyle/>
                    <a:p>
                      <a:r>
                        <a:rPr sz="850">
                          <a:solidFill>
                            <a:srgbClr val="0D0D0D"/>
                          </a:solidFill>
                          <a:latin typeface="Aptos"/>
                        </a:rPr>
                        <a:t>MediGuide extends multimodal AI to patient-facing use, not just specialist imaging pipelines.</a:t>
                      </a:r>
                    </a:p>
                  </a:txBody>
                  <a:tcPr>
                    <a:solidFill>
                      <a:srgbClr val="F2F0EB"/>
                    </a:solidFill>
                  </a:tcPr>
                </a:tc>
              </a:tr>
              <a:tr h="609600">
                <a:tc>
                  <a:txBody>
                    <a:bodyPr wrap="square"/>
                    <a:lstStyle/>
                    <a:p>
                      <a:r>
                        <a:rPr sz="850">
                          <a:solidFill>
                            <a:srgbClr val="0D0D0D"/>
                          </a:solidFill>
                          <a:latin typeface="Aptos"/>
                        </a:rPr>
                        <a:t>[2]</a:t>
                      </a:r>
                    </a:p>
                  </a:txBody>
                  <a:tcPr>
                    <a:solidFill>
                      <a:srgbClr val="FFFFFF"/>
                    </a:solidFill>
                  </a:tcPr>
                </a:tc>
                <a:tc>
                  <a:txBody>
                    <a:bodyPr wrap="square"/>
                    <a:lstStyle/>
                    <a:p>
                      <a:r>
                        <a:rPr sz="850">
                          <a:solidFill>
                            <a:srgbClr val="0D0D0D"/>
                          </a:solidFill>
                          <a:latin typeface="Aptos"/>
                        </a:rPr>
                        <a:t>Shickel et al. (2018). Deep EHR: NLP on Electronic Health Records. IEEE JBHI, 22(5), 1589-1604.</a:t>
                      </a:r>
                    </a:p>
                  </a:txBody>
                  <a:tcPr>
                    <a:solidFill>
                      <a:srgbClr val="FFFFFF"/>
                    </a:solidFill>
                  </a:tcPr>
                </a:tc>
                <a:tc>
                  <a:txBody>
                    <a:bodyPr wrap="square"/>
                    <a:lstStyle/>
                    <a:p>
                      <a:r>
                        <a:rPr sz="850">
                          <a:solidFill>
                            <a:srgbClr val="0D0D0D"/>
                          </a:solidFill>
                          <a:latin typeface="Aptos"/>
                        </a:rPr>
                        <a:t>NLP extracts structured clinical knowledge from free-text health records with high accuracy.</a:t>
                      </a:r>
                    </a:p>
                  </a:txBody>
                  <a:tcPr>
                    <a:solidFill>
                      <a:srgbClr val="FFFFFF"/>
                    </a:solidFill>
                  </a:tcPr>
                </a:tc>
                <a:tc>
                  <a:txBody>
                    <a:bodyPr wrap="square"/>
                    <a:lstStyle/>
                    <a:p>
                      <a:r>
                        <a:rPr sz="850">
                          <a:solidFill>
                            <a:srgbClr val="0D0D0D"/>
                          </a:solidFill>
                          <a:latin typeface="Aptos"/>
                        </a:rPr>
                        <a:t>MediGuide applies NLP to patient-reported symptoms directly, without requiring EHR access.</a:t>
                      </a:r>
                    </a:p>
                  </a:txBody>
                  <a:tcPr>
                    <a:solidFill>
                      <a:srgbClr val="FFFFFF"/>
                    </a:solidFill>
                  </a:tcPr>
                </a:tc>
              </a:tr>
              <a:tr h="609600">
                <a:tc>
                  <a:txBody>
                    <a:bodyPr wrap="square"/>
                    <a:lstStyle/>
                    <a:p>
                      <a:r>
                        <a:rPr sz="850">
                          <a:solidFill>
                            <a:srgbClr val="0D0D0D"/>
                          </a:solidFill>
                          <a:latin typeface="Aptos"/>
                        </a:rPr>
                        <a:t>[3]</a:t>
                      </a:r>
                    </a:p>
                  </a:txBody>
                  <a:tcPr>
                    <a:solidFill>
                      <a:srgbClr val="F2F0EB"/>
                    </a:solidFill>
                  </a:tcPr>
                </a:tc>
                <a:tc>
                  <a:txBody>
                    <a:bodyPr wrap="square"/>
                    <a:lstStyle/>
                    <a:p>
                      <a:r>
                        <a:rPr sz="850">
                          <a:solidFill>
                            <a:srgbClr val="0D0D0D"/>
                          </a:solidFill>
                          <a:latin typeface="Aptos"/>
                        </a:rPr>
                        <a:t>Kohn LT et al. (2000). To Err is Human. Institute of Medicine, National Academies Press.</a:t>
                      </a:r>
                    </a:p>
                  </a:txBody>
                  <a:tcPr>
                    <a:solidFill>
                      <a:srgbClr val="F2F0EB"/>
                    </a:solidFill>
                  </a:tcPr>
                </a:tc>
                <a:tc>
                  <a:txBody>
                    <a:bodyPr wrap="square"/>
                    <a:lstStyle/>
                    <a:p>
                      <a:r>
                        <a:rPr sz="850">
                          <a:solidFill>
                            <a:srgbClr val="0D0D0D"/>
                          </a:solidFill>
                          <a:latin typeface="Aptos"/>
                        </a:rPr>
                        <a:t>Established 98,000+ annual US deaths from preventable errors — foundational patient safety study.</a:t>
                      </a:r>
                    </a:p>
                  </a:txBody>
                  <a:tcPr>
                    <a:solidFill>
                      <a:srgbClr val="F2F0EB"/>
                    </a:solidFill>
                  </a:tcPr>
                </a:tc>
                <a:tc>
                  <a:txBody>
                    <a:bodyPr wrap="square"/>
                    <a:lstStyle/>
                    <a:p>
                      <a:r>
                        <a:rPr sz="850">
                          <a:solidFill>
                            <a:srgbClr val="0D0D0D"/>
                          </a:solidFill>
                          <a:latin typeface="Aptos"/>
                        </a:rPr>
                        <a:t>Motivates MediGuide's deterministic safety core — probabilistic AI is insufficient for safety decisions.</a:t>
                      </a:r>
                    </a:p>
                  </a:txBody>
                  <a:tcPr>
                    <a:solidFill>
                      <a:srgbClr val="F2F0EB"/>
                    </a:solidFill>
                  </a:tcPr>
                </a:tc>
              </a:tr>
              <a:tr h="609600">
                <a:tc>
                  <a:txBody>
                    <a:bodyPr wrap="square"/>
                    <a:lstStyle/>
                    <a:p>
                      <a:r>
                        <a:rPr sz="850">
                          <a:solidFill>
                            <a:srgbClr val="0D0D0D"/>
                          </a:solidFill>
                          <a:latin typeface="Aptos"/>
                        </a:rPr>
                        <a:t>[4]</a:t>
                      </a:r>
                    </a:p>
                  </a:txBody>
                  <a:tcPr>
                    <a:solidFill>
                      <a:srgbClr val="FFFFFF"/>
                    </a:solidFill>
                  </a:tcPr>
                </a:tc>
                <a:tc>
                  <a:txBody>
                    <a:bodyPr wrap="square"/>
                    <a:lstStyle/>
                    <a:p>
                      <a:r>
                        <a:rPr sz="850">
                          <a:solidFill>
                            <a:srgbClr val="0D0D0D"/>
                          </a:solidFill>
                          <a:latin typeface="Aptos"/>
                        </a:rPr>
                        <a:t>Wang Y et al. (2020). Drug-Drug Interaction Prediction using Knowledge Graphs. Bioinformatics, 36(18).</a:t>
                      </a:r>
                    </a:p>
                  </a:txBody>
                  <a:tcPr>
                    <a:solidFill>
                      <a:srgbClr val="FFFFFF"/>
                    </a:solidFill>
                  </a:tcPr>
                </a:tc>
                <a:tc>
                  <a:txBody>
                    <a:bodyPr wrap="square"/>
                    <a:lstStyle/>
                    <a:p>
                      <a:r>
                        <a:rPr sz="850">
                          <a:solidFill>
                            <a:srgbClr val="0D0D0D"/>
                          </a:solidFill>
                          <a:latin typeface="Aptos"/>
                        </a:rPr>
                        <a:t>Knowledge graph DDI prediction achieves 92% accuracy. Probabilistic approach on large benchmark.</a:t>
                      </a:r>
                    </a:p>
                  </a:txBody>
                  <a:tcPr>
                    <a:solidFill>
                      <a:srgbClr val="FFFFFF"/>
                    </a:solidFill>
                  </a:tcPr>
                </a:tc>
                <a:tc>
                  <a:txBody>
                    <a:bodyPr wrap="square"/>
                    <a:lstStyle/>
                    <a:p>
                      <a:r>
                        <a:rPr sz="850">
                          <a:solidFill>
                            <a:srgbClr val="0D0D0D"/>
                          </a:solidFill>
                          <a:latin typeface="Aptos"/>
                        </a:rPr>
                        <a:t>MediGuide uses deterministic clinical DB — 100% guaranteed correctness for covered drug pairs.</a:t>
                      </a:r>
                    </a:p>
                  </a:txBody>
                  <a:tcPr>
                    <a:solidFill>
                      <a:srgbClr val="FFFFFF"/>
                    </a:solidFill>
                  </a:tcPr>
                </a:tc>
              </a:tr>
              <a:tr h="609600">
                <a:tc>
                  <a:txBody>
                    <a:bodyPr wrap="square"/>
                    <a:lstStyle/>
                    <a:p>
                      <a:r>
                        <a:rPr sz="850">
                          <a:solidFill>
                            <a:srgbClr val="0D0D0D"/>
                          </a:solidFill>
                          <a:latin typeface="Aptos"/>
                        </a:rPr>
                        <a:t>[5]</a:t>
                      </a:r>
                    </a:p>
                  </a:txBody>
                  <a:tcPr>
                    <a:solidFill>
                      <a:srgbClr val="F2F0EB"/>
                    </a:solidFill>
                  </a:tcPr>
                </a:tc>
                <a:tc>
                  <a:txBody>
                    <a:bodyPr wrap="square"/>
                    <a:lstStyle/>
                    <a:p>
                      <a:r>
                        <a:rPr sz="850">
                          <a:solidFill>
                            <a:srgbClr val="0D0D0D"/>
                          </a:solidFill>
                          <a:latin typeface="Aptos"/>
                        </a:rPr>
                        <a:t>Esteva A et al. (2017). Dermatologist-level skin cancer classification. Nature, 542, 115-118.</a:t>
                      </a:r>
                    </a:p>
                  </a:txBody>
                  <a:tcPr>
                    <a:solidFill>
                      <a:srgbClr val="F2F0EB"/>
                    </a:solidFill>
                  </a:tcPr>
                </a:tc>
                <a:tc>
                  <a:txBody>
                    <a:bodyPr wrap="square"/>
                    <a:lstStyle/>
                    <a:p>
                      <a:r>
                        <a:rPr sz="850">
                          <a:solidFill>
                            <a:srgbClr val="0D0D0D"/>
                          </a:solidFill>
                          <a:latin typeface="Aptos"/>
                        </a:rPr>
                        <a:t>CNN achieves dermatologist-level accuracy classifying 129,450 skin lesion images.</a:t>
                      </a:r>
                    </a:p>
                  </a:txBody>
                  <a:tcPr>
                    <a:solidFill>
                      <a:srgbClr val="F2F0EB"/>
                    </a:solidFill>
                  </a:tcPr>
                </a:tc>
                <a:tc>
                  <a:txBody>
                    <a:bodyPr wrap="square"/>
                    <a:lstStyle/>
                    <a:p>
                      <a:r>
                        <a:rPr sz="850">
                          <a:solidFill>
                            <a:srgbClr val="0D0D0D"/>
                          </a:solidFill>
                          <a:latin typeface="Aptos"/>
                        </a:rPr>
                        <a:t>MediGuide integrates multimodal vision triage for consumer-facing skin assessment within ADK pipeline.</a:t>
                      </a:r>
                    </a:p>
                  </a:txBody>
                  <a:tcPr>
                    <a:solidFill>
                      <a:srgbClr val="F2F0EB"/>
                    </a:solidFill>
                  </a:tcPr>
                </a:tc>
              </a:tr>
              <a:tr h="609600">
                <a:tc>
                  <a:txBody>
                    <a:bodyPr wrap="square"/>
                    <a:lstStyle/>
                    <a:p>
                      <a:r>
                        <a:rPr sz="850">
                          <a:solidFill>
                            <a:srgbClr val="0D0D0D"/>
                          </a:solidFill>
                          <a:latin typeface="Aptos"/>
                        </a:rPr>
                        <a:t>[6]</a:t>
                      </a:r>
                    </a:p>
                  </a:txBody>
                  <a:tcPr>
                    <a:solidFill>
                      <a:srgbClr val="FFFFFF"/>
                    </a:solidFill>
                  </a:tcPr>
                </a:tc>
                <a:tc>
                  <a:txBody>
                    <a:bodyPr wrap="square"/>
                    <a:lstStyle/>
                    <a:p>
                      <a:r>
                        <a:rPr sz="850">
                          <a:solidFill>
                            <a:srgbClr val="0D0D0D"/>
                          </a:solidFill>
                          <a:latin typeface="Aptos"/>
                        </a:rPr>
                        <a:t>Rajpurkar P et al. (2022). AI in Health and Medicine. Nature Medicine, 28(1), 31-38.</a:t>
                      </a:r>
                    </a:p>
                  </a:txBody>
                  <a:tcPr>
                    <a:solidFill>
                      <a:srgbClr val="FFFFFF"/>
                    </a:solidFill>
                  </a:tcPr>
                </a:tc>
                <a:tc>
                  <a:txBody>
                    <a:bodyPr wrap="square"/>
                    <a:lstStyle/>
                    <a:p>
                      <a:r>
                        <a:rPr sz="850">
                          <a:solidFill>
                            <a:srgbClr val="0D0D0D"/>
                          </a:solidFill>
                          <a:latin typeface="Aptos"/>
                        </a:rPr>
                        <a:t>Comprehensive review of AI across diagnosis, prognosis, and treatment. Identifies key challenges.</a:t>
                      </a:r>
                    </a:p>
                  </a:txBody>
                  <a:tcPr>
                    <a:solidFill>
                      <a:srgbClr val="FFFFFF"/>
                    </a:solidFill>
                  </a:tcPr>
                </a:tc>
                <a:tc>
                  <a:txBody>
                    <a:bodyPr wrap="square"/>
                    <a:lstStyle/>
                    <a:p>
                      <a:r>
                        <a:rPr sz="850">
                          <a:solidFill>
                            <a:srgbClr val="0D0D0D"/>
                          </a:solidFill>
                          <a:latin typeface="Aptos"/>
                        </a:rPr>
                        <a:t>MediGuide operationalizes these findings into a complete patient-facing end-to-end pipeline.</a:t>
                      </a:r>
                    </a:p>
                  </a:txBody>
                  <a:tcPr>
                    <a:solidFill>
                      <a:srgbClr val="FFFFFF"/>
                    </a:solidFill>
                  </a:tcPr>
                </a:tc>
              </a:tr>
              <a:tr h="609600">
                <a:tc>
                  <a:txBody>
                    <a:bodyPr wrap="square"/>
                    <a:lstStyle/>
                    <a:p>
                      <a:r>
                        <a:rPr sz="850">
                          <a:solidFill>
                            <a:srgbClr val="0D0D0D"/>
                          </a:solidFill>
                          <a:latin typeface="Aptos"/>
                        </a:rPr>
                        <a:t>[7]</a:t>
                      </a:r>
                    </a:p>
                  </a:txBody>
                  <a:tcPr>
                    <a:solidFill>
                      <a:srgbClr val="F2F0EB"/>
                    </a:solidFill>
                  </a:tcPr>
                </a:tc>
                <a:tc>
                  <a:txBody>
                    <a:bodyPr wrap="square"/>
                    <a:lstStyle/>
                    <a:p>
                      <a:r>
                        <a:rPr sz="850">
                          <a:solidFill>
                            <a:srgbClr val="0D0D0D"/>
                          </a:solidFill>
                          <a:latin typeface="Aptos"/>
                        </a:rPr>
                        <a:t>Bates DW et al. (2021). AI potential to reduce harm in healthcare. NEJM Catalyst, 2(3).</a:t>
                      </a:r>
                    </a:p>
                  </a:txBody>
                  <a:tcPr>
                    <a:solidFill>
                      <a:srgbClr val="F2F0EB"/>
                    </a:solidFill>
                  </a:tcPr>
                </a:tc>
                <a:tc>
                  <a:txBody>
                    <a:bodyPr wrap="square"/>
                    <a:lstStyle/>
                    <a:p>
                      <a:r>
                        <a:rPr sz="850">
                          <a:solidFill>
                            <a:srgbClr val="0D0D0D"/>
                          </a:solidFill>
                          <a:latin typeface="Aptos"/>
                        </a:rPr>
                        <a:t>AI can reduce medication errors by 50-80% when integrated into clinical workflows.</a:t>
                      </a:r>
                    </a:p>
                  </a:txBody>
                  <a:tcPr>
                    <a:solidFill>
                      <a:srgbClr val="F2F0EB"/>
                    </a:solidFill>
                  </a:tcPr>
                </a:tc>
                <a:tc>
                  <a:txBody>
                    <a:bodyPr wrap="square"/>
                    <a:lstStyle/>
                    <a:p>
                      <a:r>
                        <a:rPr sz="850">
                          <a:solidFill>
                            <a:srgbClr val="0D0D0D"/>
                          </a:solidFill>
                          <a:latin typeface="Aptos"/>
                        </a:rPr>
                        <a:t>MediGuide targets the last mile — the patient at home, post-prescription, without clinical oversight.</a:t>
                      </a:r>
                    </a:p>
                  </a:txBody>
                  <a:tcPr>
                    <a:solidFill>
                      <a:srgbClr val="F2F0EB"/>
                    </a:solidFill>
                  </a:tcPr>
                </a:tc>
              </a:tr>
              <a:tr h="609600">
                <a:tc>
                  <a:txBody>
                    <a:bodyPr wrap="square"/>
                    <a:lstStyle/>
                    <a:p>
                      <a:r>
                        <a:rPr sz="850">
                          <a:solidFill>
                            <a:srgbClr val="0D0D0D"/>
                          </a:solidFill>
                          <a:latin typeface="Aptos"/>
                        </a:rPr>
                        <a:t>[8]</a:t>
                      </a:r>
                    </a:p>
                  </a:txBody>
                  <a:tcPr>
                    <a:solidFill>
                      <a:srgbClr val="FFFFFF"/>
                    </a:solidFill>
                  </a:tcPr>
                </a:tc>
                <a:tc>
                  <a:txBody>
                    <a:bodyPr wrap="square"/>
                    <a:lstStyle/>
                    <a:p>
                      <a:r>
                        <a:rPr sz="850">
                          <a:solidFill>
                            <a:srgbClr val="0D0D0D"/>
                          </a:solidFill>
                          <a:latin typeface="Aptos"/>
                        </a:rPr>
                        <a:t>Google LLC (2024). Agent Development Kit (ADK): Multi-agent AI framework documentation.</a:t>
                      </a:r>
                    </a:p>
                  </a:txBody>
                  <a:tcPr>
                    <a:solidFill>
                      <a:srgbClr val="FFFFFF"/>
                    </a:solidFill>
                  </a:tcPr>
                </a:tc>
                <a:tc>
                  <a:txBody>
                    <a:bodyPr wrap="square"/>
                    <a:lstStyle/>
                    <a:p>
                      <a:r>
                        <a:rPr sz="850">
                          <a:solidFill>
                            <a:srgbClr val="0D0D0D"/>
                          </a:solidFill>
                          <a:latin typeface="Aptos"/>
                        </a:rPr>
                        <a:t>ADK enables coordinated multi-agent systems with tool-calling, delegation, and routing.</a:t>
                      </a:r>
                    </a:p>
                  </a:txBody>
                  <a:tcPr>
                    <a:solidFill>
                      <a:srgbClr val="FFFFFF"/>
                    </a:solidFill>
                  </a:tcPr>
                </a:tc>
                <a:tc>
                  <a:txBody>
                    <a:bodyPr wrap="square"/>
                    <a:lstStyle/>
                    <a:p>
                      <a:r>
                        <a:rPr sz="850">
                          <a:solidFill>
                            <a:srgbClr val="0D0D0D"/>
                          </a:solidFill>
                          <a:latin typeface="Aptos"/>
                        </a:rPr>
                        <a:t>MediGuide is among the first healthcare applications of the Google ADK multi-agent pattern.</a:t>
                      </a:r>
                    </a:p>
                  </a:txBody>
                  <a:tcPr>
                    <a:solidFill>
                      <a:srgbClr val="FFFFFF"/>
                    </a:solidFill>
                  </a:tcPr>
                </a:tc>
              </a:tr>
            </a:tbl>
          </a:graphicData>
        </a:graphic>
      </p:graphicFrame>
    </p:spTree>
    <p:extLst>
      <p:ext uri="{BB962C8B-B14F-4D97-AF65-F5344CB8AC3E}">
        <p14:creationId xmlns:p14="http://schemas.microsoft.com/office/powerpoint/2010/main" val="4180936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90B5D-2303-3AD1-3A37-89014B9EA618}"/>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3160DF6-7120-F974-19F2-35CE8CBC395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6" name="TextBox 5">
            <a:extLst>
              <a:ext uri="{FF2B5EF4-FFF2-40B4-BE49-F238E27FC236}">
                <a16:creationId xmlns:a16="http://schemas.microsoft.com/office/drawing/2014/main" id="{34406C81-0F5D-683F-7220-12572C25AAC8}"/>
              </a:ext>
            </a:extLst>
          </p:cNvPr>
          <p:cNvSpPr txBox="1"/>
          <p:nvPr/>
        </p:nvSpPr>
        <p:spPr>
          <a:xfrm>
            <a:off x="470042" y="305344"/>
            <a:ext cx="6097712" cy="584775"/>
          </a:xfrm>
          <a:prstGeom prst="rect">
            <a:avLst/>
          </a:prstGeom>
          <a:noFill/>
        </p:spPr>
        <p:txBody>
          <a:bodyPr wrap="square">
            <a:spAutoFit/>
          </a:bodyPr>
          <a:lstStyle/>
          <a:p>
            <a:pPr>
              <a:buNone/>
            </a:pPr>
            <a:r>
              <a:rPr lang="en-US" sz="3200" b="1" dirty="0" smtClean="0">
                <a:latin typeface="Book Antiqua" panose="02040602050305030304" pitchFamily="18" charset="0"/>
              </a:rPr>
              <a:t>Comparison Table</a:t>
            </a:r>
            <a:endParaRPr lang="en-US" sz="3200" b="1" dirty="0">
              <a:latin typeface="Book Antiqua" panose="02040602050305030304" pitchFamily="18" charset="0"/>
            </a:endParaRPr>
          </a:p>
        </p:txBody>
      </p:sp>
      <p:graphicFrame>
        <p:nvGraphicFramePr>
          <p:cNvPr id="8" name="Table 7">
            <a:extLst>
              <a:ext uri="{FF2B5EF4-FFF2-40B4-BE49-F238E27FC236}">
                <a16:creationId xmlns:a16="http://schemas.microsoft.com/office/drawing/2014/main" id="{548FE66D-7997-AC90-4D98-E1780CAF6BEB}"/>
              </a:ext>
            </a:extLst>
          </p:cNvPr>
          <p:cNvGraphicFramePr>
            <a:graphicFrameLocks noGrp="1"/>
          </p:cNvGraphicFramePr>
          <p:nvPr>
            <p:extLst>
              <p:ext uri="{D42A27DB-BD31-4B8C-83A1-F6EECF244321}">
                <p14:modId xmlns:p14="http://schemas.microsoft.com/office/powerpoint/2010/main" val="3469361489"/>
              </p:ext>
            </p:extLst>
          </p:nvPr>
        </p:nvGraphicFramePr>
        <p:xfrm>
          <a:off x="840198" y="1005341"/>
          <a:ext cx="9981915" cy="3828602"/>
        </p:xfrm>
        <a:graphic>
          <a:graphicData uri="http://schemas.openxmlformats.org/drawingml/2006/table">
            <a:tbl>
              <a:tblPr firstRow="1" bandRow="1">
                <a:tableStyleId>{7DF18680-E054-41AD-8BC1-D1AEF772440D}</a:tableStyleId>
              </a:tblPr>
              <a:tblGrid>
                <a:gridCol w="2173590">
                  <a:extLst>
                    <a:ext uri="{9D8B030D-6E8A-4147-A177-3AD203B41FA5}">
                      <a16:colId xmlns:a16="http://schemas.microsoft.com/office/drawing/2014/main" val="2117232728"/>
                    </a:ext>
                  </a:extLst>
                </a:gridCol>
                <a:gridCol w="4481020">
                  <a:extLst>
                    <a:ext uri="{9D8B030D-6E8A-4147-A177-3AD203B41FA5}">
                      <a16:colId xmlns:a16="http://schemas.microsoft.com/office/drawing/2014/main" val="2203765823"/>
                    </a:ext>
                  </a:extLst>
                </a:gridCol>
                <a:gridCol w="3327305">
                  <a:extLst>
                    <a:ext uri="{9D8B030D-6E8A-4147-A177-3AD203B41FA5}">
                      <a16:colId xmlns:a16="http://schemas.microsoft.com/office/drawing/2014/main" val="3047180167"/>
                    </a:ext>
                  </a:extLst>
                </a:gridCol>
              </a:tblGrid>
              <a:tr h="902522">
                <a:tc>
                  <a:txBody>
                    <a:bodyPr/>
                    <a:lstStyle/>
                    <a:p>
                      <a:pPr algn="ctr"/>
                      <a:r>
                        <a:rPr lang="en-IN" dirty="0">
                          <a:latin typeface="Aptos" panose="020B0004020202020204" pitchFamily="34" charset="0"/>
                        </a:rPr>
                        <a:t>Ref No.</a:t>
                      </a:r>
                    </a:p>
                  </a:txBody>
                  <a:tcPr anchor="ctr"/>
                </a:tc>
                <a:tc>
                  <a:txBody>
                    <a:bodyPr/>
                    <a:lstStyle/>
                    <a:p>
                      <a:pPr algn="ctr"/>
                      <a:r>
                        <a:rPr lang="en-US" dirty="0">
                          <a:latin typeface="Aptos" panose="020B0004020202020204" pitchFamily="34" charset="0"/>
                        </a:rPr>
                        <a:t>Existing Works</a:t>
                      </a:r>
                      <a:endParaRPr lang="en-IN" dirty="0">
                        <a:latin typeface="Aptos" panose="020B00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smtClean="0">
                          <a:latin typeface="Aptos" panose="020B0004020202020204" pitchFamily="34" charset="0"/>
                        </a:rPr>
                        <a:t>Proposed Work</a:t>
                      </a:r>
                      <a:endParaRPr lang="en-IN" dirty="0">
                        <a:latin typeface="Aptos" panose="020B0004020202020204" pitchFamily="34" charset="0"/>
                      </a:endParaRPr>
                    </a:p>
                  </a:txBody>
                  <a:tcPr anchor="ctr"/>
                </a:tc>
                <a:extLst>
                  <a:ext uri="{0D108BD9-81ED-4DB2-BD59-A6C34878D82A}">
                    <a16:rowId xmlns:a16="http://schemas.microsoft.com/office/drawing/2014/main" val="2543460161"/>
                  </a:ext>
                </a:extLst>
              </a:tr>
              <a:tr h="361009">
                <a:tc>
                  <a:txBody>
                    <a:bodyPr/>
                    <a:lstStyle/>
                    <a:p>
                      <a:pPr algn="ctr"/>
                      <a:r>
                        <a:rPr lang="en-IN" dirty="0">
                          <a:latin typeface="Aptos" panose="020B0004020202020204" pitchFamily="34" charset="0"/>
                        </a:rPr>
                        <a:t>[1]</a:t>
                      </a: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796575507"/>
                  </a:ext>
                </a:extLst>
              </a:tr>
              <a:tr h="361009">
                <a:tc>
                  <a:txBody>
                    <a:bodyPr/>
                    <a:lstStyle/>
                    <a:p>
                      <a:pPr algn="ctr"/>
                      <a:r>
                        <a:rPr lang="en-IN" dirty="0">
                          <a:latin typeface="Aptos" panose="020B0004020202020204" pitchFamily="34" charset="0"/>
                        </a:rPr>
                        <a:t>[2]</a:t>
                      </a: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4139280791"/>
                  </a:ext>
                </a:extLst>
              </a:tr>
              <a:tr h="361009">
                <a:tc>
                  <a:txBody>
                    <a:bodyPr/>
                    <a:lstStyle/>
                    <a:p>
                      <a:pPr algn="ctr"/>
                      <a:r>
                        <a:rPr lang="en-IN" dirty="0">
                          <a:latin typeface="Aptos" panose="020B0004020202020204" pitchFamily="34" charset="0"/>
                        </a:rPr>
                        <a:t>[3]</a:t>
                      </a:r>
                    </a:p>
                  </a:txBody>
                  <a:tcPr/>
                </a:tc>
                <a:tc>
                  <a:txBody>
                    <a:bodyPr/>
                    <a:lstStyle/>
                    <a:p>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extLst>
                  <a:ext uri="{0D108BD9-81ED-4DB2-BD59-A6C34878D82A}">
                    <a16:rowId xmlns:a16="http://schemas.microsoft.com/office/drawing/2014/main" val="2495907860"/>
                  </a:ext>
                </a:extLst>
              </a:tr>
              <a:tr h="361009">
                <a:tc>
                  <a:txBody>
                    <a:bodyPr/>
                    <a:lstStyle/>
                    <a:p>
                      <a:pPr algn="ctr"/>
                      <a:r>
                        <a:rPr lang="en-IN" dirty="0">
                          <a:latin typeface="Aptos" panose="020B0004020202020204" pitchFamily="34" charset="0"/>
                        </a:rPr>
                        <a:t>[4]</a:t>
                      </a: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164111642"/>
                  </a:ext>
                </a:extLst>
              </a:tr>
              <a:tr h="361009">
                <a:tc>
                  <a:txBody>
                    <a:bodyPr/>
                    <a:lstStyle/>
                    <a:p>
                      <a:pPr algn="ctr"/>
                      <a:r>
                        <a:rPr lang="en-US" dirty="0">
                          <a:latin typeface="Aptos" panose="020B0004020202020204" pitchFamily="34" charset="0"/>
                        </a:rPr>
                        <a:t>[5]</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2813143183"/>
                  </a:ext>
                </a:extLst>
              </a:tr>
              <a:tr h="361009">
                <a:tc>
                  <a:txBody>
                    <a:bodyPr/>
                    <a:lstStyle/>
                    <a:p>
                      <a:pPr algn="ctr"/>
                      <a:r>
                        <a:rPr lang="en-US" dirty="0">
                          <a:latin typeface="Aptos" panose="020B0004020202020204" pitchFamily="34" charset="0"/>
                        </a:rPr>
                        <a:t>[6]</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902245519"/>
                  </a:ext>
                </a:extLst>
              </a:tr>
              <a:tr h="361009">
                <a:tc>
                  <a:txBody>
                    <a:bodyPr/>
                    <a:lstStyle/>
                    <a:p>
                      <a:pPr algn="ctr"/>
                      <a:r>
                        <a:rPr lang="en-US" dirty="0">
                          <a:latin typeface="Aptos" panose="020B0004020202020204" pitchFamily="34" charset="0"/>
                        </a:rPr>
                        <a:t>[7]</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1454984849"/>
                  </a:ext>
                </a:extLst>
              </a:tr>
              <a:tr h="361009">
                <a:tc>
                  <a:txBody>
                    <a:bodyPr/>
                    <a:lstStyle/>
                    <a:p>
                      <a:pPr algn="ctr"/>
                      <a:r>
                        <a:rPr lang="en-US" dirty="0">
                          <a:latin typeface="Aptos" panose="020B0004020202020204" pitchFamily="34" charset="0"/>
                        </a:rPr>
                        <a:t>[8]</a:t>
                      </a:r>
                      <a:endParaRPr lang="en-IN" dirty="0">
                        <a:latin typeface="Aptos" panose="020B0004020202020204" pitchFamily="34" charset="0"/>
                      </a:endParaRPr>
                    </a:p>
                  </a:txBody>
                  <a:tcPr/>
                </a:tc>
                <a:tc>
                  <a:txBody>
                    <a:bodyPr/>
                    <a:lstStyle/>
                    <a:p>
                      <a:endParaRPr lang="en-IN">
                        <a:latin typeface="Aptos" panose="020B0004020202020204" pitchFamily="34" charset="0"/>
                      </a:endParaRPr>
                    </a:p>
                  </a:txBody>
                  <a:tcPr/>
                </a:tc>
                <a:tc>
                  <a:txBody>
                    <a:bodyPr/>
                    <a:lstStyle/>
                    <a:p>
                      <a:endParaRPr lang="en-IN" dirty="0">
                        <a:latin typeface="Aptos" panose="020B0004020202020204" pitchFamily="34" charset="0"/>
                      </a:endParaRPr>
                    </a:p>
                  </a:txBody>
                  <a:tcPr/>
                </a:tc>
                <a:extLst>
                  <a:ext uri="{0D108BD9-81ED-4DB2-BD59-A6C34878D82A}">
                    <a16:rowId xmlns:a16="http://schemas.microsoft.com/office/drawing/2014/main" val="2637780379"/>
                  </a:ext>
                </a:extLst>
              </a:tr>
            </a:tbl>
          </a:graphicData>
        </a:graphic>
      </p:graphicFrame>
      <p:sp>
        <p:nvSpPr>
          <p:cNvPr id="13" name="Date Placeholder 3">
            <a:extLst>
              <a:ext uri="{FF2B5EF4-FFF2-40B4-BE49-F238E27FC236}">
                <a16:creationId xmlns:a16="http://schemas.microsoft.com/office/drawing/2014/main" id="{5A7A1348-68F7-EA91-EAFE-5B3EC680D20C}"/>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4" name="Footer Placeholder 4">
            <a:extLst>
              <a:ext uri="{FF2B5EF4-FFF2-40B4-BE49-F238E27FC236}">
                <a16:creationId xmlns:a16="http://schemas.microsoft.com/office/drawing/2014/main" id="{1FFB97E3-AE8E-55EB-9F91-20FDDBF34DFA}"/>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5" name="Slide Number Placeholder 5">
            <a:extLst>
              <a:ext uri="{FF2B5EF4-FFF2-40B4-BE49-F238E27FC236}">
                <a16:creationId xmlns:a16="http://schemas.microsoft.com/office/drawing/2014/main" id="{5A78E1C5-97FB-6677-7CC1-126AA4153A00}"/>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6</a:t>
            </a:fld>
            <a:endParaRPr lang="en-IN" sz="1200" dirty="0">
              <a:solidFill>
                <a:schemeClr val="accent3"/>
              </a:solidFill>
              <a:latin typeface="Aptos" panose="020B0004020202020204" pitchFamily="34" charset="0"/>
            </a:endParaRPr>
          </a:p>
        </p:txBody>
      </p:sp>
      <p:graphicFrame>
        <p:nvGraphicFramePr>
          <p:cNvPr id="16" name="Table 15"/>
          <p:cNvGraphicFramePr>
            <a:graphicFrameLocks noGrp="1"/>
          </p:cNvGraphicFramePr>
          <p:nvPr/>
        </p:nvGraphicFramePr>
        <p:xfrm>
          <a:off x="320040" y="960120"/>
          <a:ext cx="11521440" cy="5577840"/>
        </p:xfrm>
        <a:graphic>
          <a:graphicData uri="http://schemas.openxmlformats.org/drawingml/2006/table">
            <a:tbl>
              <a:tblPr firstRow="1" bandRow="1">
                <a:tableStyleId>{5C22544A-7EE6-4342-B048-85BDC9FD1C3A}</a:tableStyleId>
              </a:tblPr>
              <a:tblGrid>
                <a:gridCol w="2880360"/>
                <a:gridCol w="2880360"/>
                <a:gridCol w="2880360"/>
                <a:gridCol w="2880360"/>
              </a:tblGrid>
              <a:tr h="429064">
                <a:tc>
                  <a:txBody>
                    <a:bodyPr/>
                    <a:lstStyle/>
                    <a:p>
                      <a:pPr algn="ctr"/>
                      <a:r>
                        <a:rPr sz="1000" b="1">
                          <a:solidFill>
                            <a:srgbClr val="FFFFFF"/>
                          </a:solidFill>
                          <a:latin typeface="Aptos"/>
                        </a:rPr>
                        <a:t>Feature / Capability</a:t>
                      </a:r>
                    </a:p>
                  </a:txBody>
                  <a:tcPr>
                    <a:solidFill>
                      <a:srgbClr val="263F6D"/>
                    </a:solidFill>
                  </a:tcPr>
                </a:tc>
                <a:tc>
                  <a:txBody>
                    <a:bodyPr/>
                    <a:lstStyle/>
                    <a:p>
                      <a:pPr algn="ctr"/>
                      <a:r>
                        <a:rPr sz="1000" b="1">
                          <a:solidFill>
                            <a:srgbClr val="FFFFFF"/>
                          </a:solidFill>
                          <a:latin typeface="Aptos"/>
                        </a:rPr>
                        <a:t>ChatGPT / Claude</a:t>
                      </a:r>
                    </a:p>
                  </a:txBody>
                  <a:tcPr>
                    <a:solidFill>
                      <a:srgbClr val="263F6D"/>
                    </a:solidFill>
                  </a:tcPr>
                </a:tc>
                <a:tc>
                  <a:txBody>
                    <a:bodyPr/>
                    <a:lstStyle/>
                    <a:p>
                      <a:pPr algn="ctr"/>
                      <a:r>
                        <a:rPr sz="1000" b="1">
                          <a:solidFill>
                            <a:srgbClr val="FFFFFF"/>
                          </a:solidFill>
                          <a:latin typeface="Aptos"/>
                        </a:rPr>
                        <a:t>Generic Health Apps</a:t>
                      </a:r>
                    </a:p>
                  </a:txBody>
                  <a:tcPr>
                    <a:solidFill>
                      <a:srgbClr val="263F6D"/>
                    </a:solidFill>
                  </a:tcPr>
                </a:tc>
                <a:tc>
                  <a:txBody>
                    <a:bodyPr/>
                    <a:lstStyle/>
                    <a:p>
                      <a:pPr algn="ctr"/>
                      <a:r>
                        <a:rPr sz="1000" b="1">
                          <a:solidFill>
                            <a:srgbClr val="FFFFFF"/>
                          </a:solidFill>
                          <a:latin typeface="Aptos"/>
                        </a:rPr>
                        <a:t>MediGuide AI</a:t>
                      </a:r>
                    </a:p>
                  </a:txBody>
                  <a:tcPr>
                    <a:solidFill>
                      <a:srgbClr val="263F6D"/>
                    </a:solidFill>
                  </a:tcPr>
                </a:tc>
              </a:tr>
              <a:tr h="429064">
                <a:tc>
                  <a:txBody>
                    <a:bodyPr wrap="square"/>
                    <a:lstStyle/>
                    <a:p>
                      <a:r>
                        <a:rPr sz="900">
                          <a:solidFill>
                            <a:srgbClr val="0D0D0D"/>
                          </a:solidFill>
                          <a:latin typeface="Aptos"/>
                        </a:rPr>
                        <a:t>Drug-Drug Interaction</a:t>
                      </a:r>
                    </a:p>
                  </a:txBody>
                  <a:tcPr>
                    <a:solidFill>
                      <a:srgbClr val="F2F0EB"/>
                    </a:solidFill>
                  </a:tcPr>
                </a:tc>
                <a:tc>
                  <a:txBody>
                    <a:bodyPr wrap="square"/>
                    <a:lstStyle/>
                    <a:p>
                      <a:r>
                        <a:rPr sz="900">
                          <a:solidFill>
                            <a:srgbClr val="0D0D0D"/>
                          </a:solidFill>
                          <a:latin typeface="Aptos"/>
                        </a:rPr>
                        <a:t>LLM guess (probabilistic)</a:t>
                      </a:r>
                    </a:p>
                  </a:txBody>
                  <a:tcPr>
                    <a:solidFill>
                      <a:srgbClr val="F2F0EB"/>
                    </a:solidFill>
                  </a:tcPr>
                </a:tc>
                <a:tc>
                  <a:txBody>
                    <a:bodyPr wrap="square"/>
                    <a:lstStyle/>
                    <a:p>
                      <a:r>
                        <a:rPr sz="900">
                          <a:solidFill>
                            <a:srgbClr val="0D0D0D"/>
                          </a:solidFill>
                          <a:latin typeface="Aptos"/>
                        </a:rPr>
                        <a:t>Basic alerts only</a:t>
                      </a:r>
                    </a:p>
                  </a:txBody>
                  <a:tcPr>
                    <a:solidFill>
                      <a:srgbClr val="F2F0EB"/>
                    </a:solidFill>
                  </a:tcPr>
                </a:tc>
                <a:tc>
                  <a:txBody>
                    <a:bodyPr wrap="square"/>
                    <a:lstStyle/>
                    <a:p>
                      <a:r>
                        <a:rPr sz="900">
                          <a:solidFill>
                            <a:srgbClr val="0D0D0D"/>
                          </a:solidFill>
                          <a:latin typeface="Aptos"/>
                        </a:rPr>
                        <a:t>Deterministic database — guaranteed</a:t>
                      </a:r>
                    </a:p>
                  </a:txBody>
                  <a:tcPr>
                    <a:solidFill>
                      <a:srgbClr val="F2F0EB"/>
                    </a:solidFill>
                  </a:tcPr>
                </a:tc>
              </a:tr>
              <a:tr h="429064">
                <a:tc>
                  <a:txBody>
                    <a:bodyPr wrap="square"/>
                    <a:lstStyle/>
                    <a:p>
                      <a:r>
                        <a:rPr sz="900">
                          <a:solidFill>
                            <a:srgbClr val="0D0D0D"/>
                          </a:solidFill>
                          <a:latin typeface="Aptos"/>
                        </a:rPr>
                        <a:t>Therapeutic Duplication</a:t>
                      </a:r>
                    </a:p>
                  </a:txBody>
                  <a:tcPr>
                    <a:solidFill>
                      <a:srgbClr val="FFFFFF"/>
                    </a:solidFill>
                  </a:tcPr>
                </a:tc>
                <a:tc>
                  <a:txBody>
                    <a:bodyPr wrap="square"/>
                    <a:lstStyle/>
                    <a:p>
                      <a:r>
                        <a:rPr sz="900">
                          <a:solidFill>
                            <a:srgbClr val="0D0D0D"/>
                          </a:solidFill>
                          <a:latin typeface="Aptos"/>
                        </a:rPr>
                        <a:t>Not guaranteed</a:t>
                      </a:r>
                    </a:p>
                  </a:txBody>
                  <a:tcPr>
                    <a:solidFill>
                      <a:srgbClr val="FFFFFF"/>
                    </a:solidFill>
                  </a:tcPr>
                </a:tc>
                <a:tc>
                  <a:txBody>
                    <a:bodyPr wrap="square"/>
                    <a:lstStyle/>
                    <a:p>
                      <a:r>
                        <a:rPr sz="900">
                          <a:solidFill>
                            <a:srgbClr val="0D0D0D"/>
                          </a:solidFill>
                          <a:latin typeface="Aptos"/>
                        </a:rPr>
                        <a:t>No</a:t>
                      </a:r>
                    </a:p>
                  </a:txBody>
                  <a:tcPr>
                    <a:solidFill>
                      <a:srgbClr val="FFFFFF"/>
                    </a:solidFill>
                  </a:tcPr>
                </a:tc>
                <a:tc>
                  <a:txBody>
                    <a:bodyPr wrap="square"/>
                    <a:lstStyle/>
                    <a:p>
                      <a:r>
                        <a:rPr sz="900">
                          <a:solidFill>
                            <a:srgbClr val="0D0D0D"/>
                          </a:solidFill>
                          <a:latin typeface="Aptos"/>
                        </a:rPr>
                        <a:t>YES — Trimox = Amoxicillin (code logic)</a:t>
                      </a:r>
                    </a:p>
                  </a:txBody>
                  <a:tcPr>
                    <a:solidFill>
                      <a:srgbClr val="FFFFFF"/>
                    </a:solidFill>
                  </a:tcPr>
                </a:tc>
              </a:tr>
              <a:tr h="429064">
                <a:tc>
                  <a:txBody>
                    <a:bodyPr wrap="square"/>
                    <a:lstStyle/>
                    <a:p>
                      <a:r>
                        <a:rPr sz="900">
                          <a:solidFill>
                            <a:srgbClr val="0D0D0D"/>
                          </a:solidFill>
                          <a:latin typeface="Aptos"/>
                        </a:rPr>
                        <a:t>Food-Drug Interactions</a:t>
                      </a:r>
                    </a:p>
                  </a:txBody>
                  <a:tcPr>
                    <a:solidFill>
                      <a:srgbClr val="F2F0EB"/>
                    </a:solidFill>
                  </a:tcPr>
                </a:tc>
                <a:tc>
                  <a:txBody>
                    <a:bodyPr wrap="square"/>
                    <a:lstStyle/>
                    <a:p>
                      <a:r>
                        <a:rPr sz="900">
                          <a:solidFill>
                            <a:srgbClr val="0D0D0D"/>
                          </a:solidFill>
                          <a:latin typeface="Aptos"/>
                        </a:rPr>
                        <a:t>General text advice</a:t>
                      </a:r>
                    </a:p>
                  </a:txBody>
                  <a:tcPr>
                    <a:solidFill>
                      <a:srgbClr val="F2F0EB"/>
                    </a:solidFill>
                  </a:tcPr>
                </a:tc>
                <a:tc>
                  <a:txBody>
                    <a:bodyPr wrap="square"/>
                    <a:lstStyle/>
                    <a:p>
                      <a:r>
                        <a:rPr sz="900">
                          <a:solidFill>
                            <a:srgbClr val="0D0D0D"/>
                          </a:solidFill>
                          <a:latin typeface="Aptos"/>
                        </a:rPr>
                        <a:t>No</a:t>
                      </a:r>
                    </a:p>
                  </a:txBody>
                  <a:tcPr>
                    <a:solidFill>
                      <a:srgbClr val="F2F0EB"/>
                    </a:solidFill>
                  </a:tcPr>
                </a:tc>
                <a:tc>
                  <a:txBody>
                    <a:bodyPr wrap="square"/>
                    <a:lstStyle/>
                    <a:p>
                      <a:r>
                        <a:rPr sz="900">
                          <a:solidFill>
                            <a:srgbClr val="0D0D0D"/>
                          </a:solidFill>
                          <a:latin typeface="Aptos"/>
                        </a:rPr>
                        <a:t>8 food categories × 40+ drugs — flagged</a:t>
                      </a:r>
                    </a:p>
                  </a:txBody>
                  <a:tcPr>
                    <a:solidFill>
                      <a:srgbClr val="F2F0EB"/>
                    </a:solidFill>
                  </a:tcPr>
                </a:tc>
              </a:tr>
              <a:tr h="429064">
                <a:tc>
                  <a:txBody>
                    <a:bodyPr wrap="square"/>
                    <a:lstStyle/>
                    <a:p>
                      <a:r>
                        <a:rPr sz="900">
                          <a:solidFill>
                            <a:srgbClr val="0D0D0D"/>
                          </a:solidFill>
                          <a:latin typeface="Aptos"/>
                        </a:rPr>
                        <a:t>Lab Report Interpretation</a:t>
                      </a:r>
                    </a:p>
                  </a:txBody>
                  <a:tcPr>
                    <a:solidFill>
                      <a:srgbClr val="FFFFFF"/>
                    </a:solidFill>
                  </a:tcPr>
                </a:tc>
                <a:tc>
                  <a:txBody>
                    <a:bodyPr wrap="square"/>
                    <a:lstStyle/>
                    <a:p>
                      <a:r>
                        <a:rPr sz="900">
                          <a:solidFill>
                            <a:srgbClr val="0D0D0D"/>
                          </a:solidFill>
                          <a:latin typeface="Aptos"/>
                        </a:rPr>
                        <a:t>Generic explanation</a:t>
                      </a:r>
                    </a:p>
                  </a:txBody>
                  <a:tcPr>
                    <a:solidFill>
                      <a:srgbClr val="FFFFFF"/>
                    </a:solidFill>
                  </a:tcPr>
                </a:tc>
                <a:tc>
                  <a:txBody>
                    <a:bodyPr wrap="square"/>
                    <a:lstStyle/>
                    <a:p>
                      <a:r>
                        <a:rPr sz="900">
                          <a:solidFill>
                            <a:srgbClr val="0D0D0D"/>
                          </a:solidFill>
                          <a:latin typeface="Aptos"/>
                        </a:rPr>
                        <a:t>Reference ranges only</a:t>
                      </a:r>
                    </a:p>
                  </a:txBody>
                  <a:tcPr>
                    <a:solidFill>
                      <a:srgbClr val="FFFFFF"/>
                    </a:solidFill>
                  </a:tcPr>
                </a:tc>
                <a:tc>
                  <a:txBody>
                    <a:bodyPr wrap="square"/>
                    <a:lstStyle/>
                    <a:p>
                      <a:r>
                        <a:rPr sz="900">
                          <a:solidFill>
                            <a:srgbClr val="0D0D0D"/>
                          </a:solidFill>
                          <a:latin typeface="Aptos"/>
                        </a:rPr>
                        <a:t>35+ tests, CRITICAL/WARNING/NORMAL flags</a:t>
                      </a:r>
                    </a:p>
                  </a:txBody>
                  <a:tcPr>
                    <a:solidFill>
                      <a:srgbClr val="FFFFFF"/>
                    </a:solidFill>
                  </a:tcPr>
                </a:tc>
              </a:tr>
              <a:tr h="429064">
                <a:tc>
                  <a:txBody>
                    <a:bodyPr wrap="square"/>
                    <a:lstStyle/>
                    <a:p>
                      <a:r>
                        <a:rPr sz="900">
                          <a:solidFill>
                            <a:srgbClr val="0D0D0D"/>
                          </a:solidFill>
                          <a:latin typeface="Aptos"/>
                        </a:rPr>
                        <a:t>Prescription OCR + Safety</a:t>
                      </a:r>
                    </a:p>
                  </a:txBody>
                  <a:tcPr>
                    <a:solidFill>
                      <a:srgbClr val="F2F0EB"/>
                    </a:solidFill>
                  </a:tcPr>
                </a:tc>
                <a:tc>
                  <a:txBody>
                    <a:bodyPr wrap="square"/>
                    <a:lstStyle/>
                    <a:p>
                      <a:r>
                        <a:rPr sz="900">
                          <a:solidFill>
                            <a:srgbClr val="0D0D0D"/>
                          </a:solidFill>
                          <a:latin typeface="Aptos"/>
                        </a:rPr>
                        <a:t>No local image pipeline</a:t>
                      </a:r>
                    </a:p>
                  </a:txBody>
                  <a:tcPr>
                    <a:solidFill>
                      <a:srgbClr val="F2F0EB"/>
                    </a:solidFill>
                  </a:tcPr>
                </a:tc>
                <a:tc>
                  <a:txBody>
                    <a:bodyPr wrap="square"/>
                    <a:lstStyle/>
                    <a:p>
                      <a:r>
                        <a:rPr sz="900">
                          <a:solidFill>
                            <a:srgbClr val="0D0D0D"/>
                          </a:solidFill>
                          <a:latin typeface="Aptos"/>
                        </a:rPr>
                        <a:t>Scan only, no analysis</a:t>
                      </a:r>
                    </a:p>
                  </a:txBody>
                  <a:tcPr>
                    <a:solidFill>
                      <a:srgbClr val="F2F0EB"/>
                    </a:solidFill>
                  </a:tcPr>
                </a:tc>
                <a:tc>
                  <a:txBody>
                    <a:bodyPr wrap="square"/>
                    <a:lstStyle/>
                    <a:p>
                      <a:r>
                        <a:rPr sz="900">
                          <a:solidFill>
                            <a:srgbClr val="0D0D0D"/>
                          </a:solidFill>
                          <a:latin typeface="Aptos"/>
                        </a:rPr>
                        <a:t>Pillow preprocessing + interaction check</a:t>
                      </a:r>
                    </a:p>
                  </a:txBody>
                  <a:tcPr>
                    <a:solidFill>
                      <a:srgbClr val="F2F0EB"/>
                    </a:solidFill>
                  </a:tcPr>
                </a:tc>
              </a:tr>
              <a:tr h="429064">
                <a:tc>
                  <a:txBody>
                    <a:bodyPr wrap="square"/>
                    <a:lstStyle/>
                    <a:p>
                      <a:r>
                        <a:rPr sz="900">
                          <a:solidFill>
                            <a:srgbClr val="0D0D0D"/>
                          </a:solidFill>
                          <a:latin typeface="Aptos"/>
                        </a:rPr>
                        <a:t>Health Risk Score (1-100)</a:t>
                      </a:r>
                    </a:p>
                  </a:txBody>
                  <a:tcPr>
                    <a:solidFill>
                      <a:srgbClr val="FFFFFF"/>
                    </a:solidFill>
                  </a:tcPr>
                </a:tc>
                <a:tc>
                  <a:txBody>
                    <a:bodyPr wrap="square"/>
                    <a:lstStyle/>
                    <a:p>
                      <a:r>
                        <a:rPr sz="900">
                          <a:solidFill>
                            <a:srgbClr val="0D0D0D"/>
                          </a:solidFill>
                          <a:latin typeface="Aptos"/>
                        </a:rPr>
                        <a:t>No — vague language only</a:t>
                      </a:r>
                    </a:p>
                  </a:txBody>
                  <a:tcPr>
                    <a:solidFill>
                      <a:srgbClr val="FFFFFF"/>
                    </a:solidFill>
                  </a:tcPr>
                </a:tc>
                <a:tc>
                  <a:txBody>
                    <a:bodyPr wrap="square"/>
                    <a:lstStyle/>
                    <a:p>
                      <a:r>
                        <a:rPr sz="900">
                          <a:solidFill>
                            <a:srgbClr val="0D0D0D"/>
                          </a:solidFill>
                          <a:latin typeface="Aptos"/>
                        </a:rPr>
                        <a:t>No</a:t>
                      </a:r>
                    </a:p>
                  </a:txBody>
                  <a:tcPr>
                    <a:solidFill>
                      <a:srgbClr val="FFFFFF"/>
                    </a:solidFill>
                  </a:tcPr>
                </a:tc>
                <a:tc>
                  <a:txBody>
                    <a:bodyPr wrap="square"/>
                    <a:lstStyle/>
                    <a:p>
                      <a:r>
                        <a:rPr sz="900">
                          <a:solidFill>
                            <a:srgbClr val="0D0D0D"/>
                          </a:solidFill>
                          <a:latin typeface="Aptos"/>
                        </a:rPr>
                        <a:t>YES — 7-factor auditable algorithm</a:t>
                      </a:r>
                    </a:p>
                  </a:txBody>
                  <a:tcPr>
                    <a:solidFill>
                      <a:srgbClr val="FFFFFF"/>
                    </a:solidFill>
                  </a:tcPr>
                </a:tc>
              </a:tr>
              <a:tr h="429064">
                <a:tc>
                  <a:txBody>
                    <a:bodyPr wrap="square"/>
                    <a:lstStyle/>
                    <a:p>
                      <a:r>
                        <a:rPr sz="900">
                          <a:solidFill>
                            <a:srgbClr val="0D0D0D"/>
                          </a:solidFill>
                          <a:latin typeface="Aptos"/>
                        </a:rPr>
                        <a:t>Daily Medication Schedule</a:t>
                      </a:r>
                    </a:p>
                  </a:txBody>
                  <a:tcPr>
                    <a:solidFill>
                      <a:srgbClr val="F2F0EB"/>
                    </a:solidFill>
                  </a:tcPr>
                </a:tc>
                <a:tc>
                  <a:txBody>
                    <a:bodyPr wrap="square"/>
                    <a:lstStyle/>
                    <a:p>
                      <a:r>
                        <a:rPr sz="900">
                          <a:solidFill>
                            <a:srgbClr val="0D0D0D"/>
                          </a:solidFill>
                          <a:latin typeface="Aptos"/>
                        </a:rPr>
                        <a:t>Generic timing advice</a:t>
                      </a:r>
                    </a:p>
                  </a:txBody>
                  <a:tcPr>
                    <a:solidFill>
                      <a:srgbClr val="F2F0EB"/>
                    </a:solidFill>
                  </a:tcPr>
                </a:tc>
                <a:tc>
                  <a:txBody>
                    <a:bodyPr wrap="square"/>
                    <a:lstStyle/>
                    <a:p>
                      <a:r>
                        <a:rPr sz="900">
                          <a:solidFill>
                            <a:srgbClr val="0D0D0D"/>
                          </a:solidFill>
                          <a:latin typeface="Aptos"/>
                        </a:rPr>
                        <a:t>Reminder only</a:t>
                      </a:r>
                    </a:p>
                  </a:txBody>
                  <a:tcPr>
                    <a:solidFill>
                      <a:srgbClr val="F2F0EB"/>
                    </a:solidFill>
                  </a:tcPr>
                </a:tc>
                <a:tc>
                  <a:txBody>
                    <a:bodyPr wrap="square"/>
                    <a:lstStyle/>
                    <a:p>
                      <a:r>
                        <a:rPr sz="900">
                          <a:solidFill>
                            <a:srgbClr val="0D0D0D"/>
                          </a:solidFill>
                          <a:latin typeface="Aptos"/>
                        </a:rPr>
                        <a:t>Clinically timed slots per drug (ADK)</a:t>
                      </a:r>
                    </a:p>
                  </a:txBody>
                  <a:tcPr>
                    <a:solidFill>
                      <a:srgbClr val="F2F0EB"/>
                    </a:solidFill>
                  </a:tcPr>
                </a:tc>
              </a:tr>
              <a:tr h="429064">
                <a:tc>
                  <a:txBody>
                    <a:bodyPr wrap="square"/>
                    <a:lstStyle/>
                    <a:p>
                      <a:r>
                        <a:rPr sz="900">
                          <a:solidFill>
                            <a:srgbClr val="0D0D0D"/>
                          </a:solidFill>
                          <a:latin typeface="Aptos"/>
                        </a:rPr>
                        <a:t>X-Ray / ECG Routing</a:t>
                      </a:r>
                    </a:p>
                  </a:txBody>
                  <a:tcPr>
                    <a:solidFill>
                      <a:srgbClr val="FFFFFF"/>
                    </a:solidFill>
                  </a:tcPr>
                </a:tc>
                <a:tc>
                  <a:txBody>
                    <a:bodyPr wrap="square"/>
                    <a:lstStyle/>
                    <a:p>
                      <a:r>
                        <a:rPr sz="900">
                          <a:solidFill>
                            <a:srgbClr val="0D0D0D"/>
                          </a:solidFill>
                          <a:latin typeface="Aptos"/>
                        </a:rPr>
                        <a:t>No image processing</a:t>
                      </a:r>
                    </a:p>
                  </a:txBody>
                  <a:tcPr>
                    <a:solidFill>
                      <a:srgbClr val="FFFFFF"/>
                    </a:solidFill>
                  </a:tcPr>
                </a:tc>
                <a:tc>
                  <a:txBody>
                    <a:bodyPr wrap="square"/>
                    <a:lstStyle/>
                    <a:p>
                      <a:r>
                        <a:rPr sz="900">
                          <a:solidFill>
                            <a:srgbClr val="0D0D0D"/>
                          </a:solidFill>
                          <a:latin typeface="Aptos"/>
                        </a:rPr>
                        <a:t>No</a:t>
                      </a:r>
                    </a:p>
                  </a:txBody>
                  <a:tcPr>
                    <a:solidFill>
                      <a:srgbClr val="FFFFFF"/>
                    </a:solidFill>
                  </a:tcPr>
                </a:tc>
                <a:tc>
                  <a:txBody>
                    <a:bodyPr wrap="square"/>
                    <a:lstStyle/>
                    <a:p>
                      <a:r>
                        <a:rPr sz="900">
                          <a:solidFill>
                            <a:srgbClr val="0D0D0D"/>
                          </a:solidFill>
                          <a:latin typeface="Aptos"/>
                        </a:rPr>
                        <a:t>Multimodal Gemini Vision + routing</a:t>
                      </a:r>
                    </a:p>
                  </a:txBody>
                  <a:tcPr>
                    <a:solidFill>
                      <a:srgbClr val="FFFFFF"/>
                    </a:solidFill>
                  </a:tcPr>
                </a:tc>
              </a:tr>
              <a:tr h="429064">
                <a:tc>
                  <a:txBody>
                    <a:bodyPr wrap="square"/>
                    <a:lstStyle/>
                    <a:p>
                      <a:r>
                        <a:rPr sz="900">
                          <a:solidFill>
                            <a:srgbClr val="0D0D0D"/>
                          </a:solidFill>
                          <a:latin typeface="Aptos"/>
                        </a:rPr>
                        <a:t>Multi-Agent Architecture</a:t>
                      </a:r>
                    </a:p>
                  </a:txBody>
                  <a:tcPr>
                    <a:solidFill>
                      <a:srgbClr val="F2F0EB"/>
                    </a:solidFill>
                  </a:tcPr>
                </a:tc>
                <a:tc>
                  <a:txBody>
                    <a:bodyPr wrap="square"/>
                    <a:lstStyle/>
                    <a:p>
                      <a:r>
                        <a:rPr sz="900">
                          <a:solidFill>
                            <a:srgbClr val="0D0D0D"/>
                          </a:solidFill>
                          <a:latin typeface="Aptos"/>
                        </a:rPr>
                        <a:t>Single model response</a:t>
                      </a:r>
                    </a:p>
                  </a:txBody>
                  <a:tcPr>
                    <a:solidFill>
                      <a:srgbClr val="F2F0EB"/>
                    </a:solidFill>
                  </a:tcPr>
                </a:tc>
                <a:tc>
                  <a:txBody>
                    <a:bodyPr wrap="square"/>
                    <a:lstStyle/>
                    <a:p>
                      <a:r>
                        <a:rPr sz="900">
                          <a:solidFill>
                            <a:srgbClr val="0D0D0D"/>
                          </a:solidFill>
                          <a:latin typeface="Aptos"/>
                        </a:rPr>
                        <a:t>No agents</a:t>
                      </a:r>
                    </a:p>
                  </a:txBody>
                  <a:tcPr>
                    <a:solidFill>
                      <a:srgbClr val="F2F0EB"/>
                    </a:solidFill>
                  </a:tcPr>
                </a:tc>
                <a:tc>
                  <a:txBody>
                    <a:bodyPr wrap="square"/>
                    <a:lstStyle/>
                    <a:p>
                      <a:r>
                        <a:rPr sz="900">
                          <a:solidFill>
                            <a:srgbClr val="0D0D0D"/>
                          </a:solidFill>
                          <a:latin typeface="Aptos"/>
                        </a:rPr>
                        <a:t>5 specialist ADK sub-agents</a:t>
                      </a:r>
                    </a:p>
                  </a:txBody>
                  <a:tcPr>
                    <a:solidFill>
                      <a:srgbClr val="F2F0EB"/>
                    </a:solidFill>
                  </a:tcPr>
                </a:tc>
              </a:tr>
              <a:tr h="429064">
                <a:tc>
                  <a:txBody>
                    <a:bodyPr wrap="square"/>
                    <a:lstStyle/>
                    <a:p>
                      <a:r>
                        <a:rPr sz="900">
                          <a:solidFill>
                            <a:srgbClr val="0D0D0D"/>
                          </a:solidFill>
                          <a:latin typeface="Aptos"/>
                        </a:rPr>
                        <a:t>Privacy / PII Redaction</a:t>
                      </a:r>
                    </a:p>
                  </a:txBody>
                  <a:tcPr>
                    <a:solidFill>
                      <a:srgbClr val="FFFFFF"/>
                    </a:solidFill>
                  </a:tcPr>
                </a:tc>
                <a:tc>
                  <a:txBody>
                    <a:bodyPr wrap="square"/>
                    <a:lstStyle/>
                    <a:p>
                      <a:r>
                        <a:rPr sz="900">
                          <a:solidFill>
                            <a:srgbClr val="0D0D0D"/>
                          </a:solidFill>
                          <a:latin typeface="Aptos"/>
                        </a:rPr>
                        <a:t>Data sent to OpenAI cloud</a:t>
                      </a:r>
                    </a:p>
                  </a:txBody>
                  <a:tcPr>
                    <a:solidFill>
                      <a:srgbClr val="FFFFFF"/>
                    </a:solidFill>
                  </a:tcPr>
                </a:tc>
                <a:tc>
                  <a:txBody>
                    <a:bodyPr wrap="square"/>
                    <a:lstStyle/>
                    <a:p>
                      <a:r>
                        <a:rPr sz="900">
                          <a:solidFill>
                            <a:srgbClr val="0D0D0D"/>
                          </a:solidFill>
                          <a:latin typeface="Aptos"/>
                        </a:rPr>
                        <a:t>Cloud-only storage</a:t>
                      </a:r>
                    </a:p>
                  </a:txBody>
                  <a:tcPr>
                    <a:solidFill>
                      <a:srgbClr val="FFFFFF"/>
                    </a:solidFill>
                  </a:tcPr>
                </a:tc>
                <a:tc>
                  <a:txBody>
                    <a:bodyPr wrap="square"/>
                    <a:lstStyle/>
                    <a:p>
                      <a:r>
                        <a:rPr sz="900">
                          <a:solidFill>
                            <a:srgbClr val="0D0D0D"/>
                          </a:solidFill>
                          <a:latin typeface="Aptos"/>
                        </a:rPr>
                        <a:t>Local security layer + redaction</a:t>
                      </a:r>
                    </a:p>
                  </a:txBody>
                  <a:tcPr>
                    <a:solidFill>
                      <a:srgbClr val="FFFFFF"/>
                    </a:solidFill>
                  </a:tcPr>
                </a:tc>
              </a:tr>
              <a:tr h="429064">
                <a:tc>
                  <a:txBody>
                    <a:bodyPr wrap="square"/>
                    <a:lstStyle/>
                    <a:p>
                      <a:r>
                        <a:rPr sz="900">
                          <a:solidFill>
                            <a:srgbClr val="0D0D0D"/>
                          </a:solidFill>
                          <a:latin typeface="Aptos"/>
                        </a:rPr>
                        <a:t>Offline Fallback Mode</a:t>
                      </a:r>
                    </a:p>
                  </a:txBody>
                  <a:tcPr>
                    <a:solidFill>
                      <a:srgbClr val="F2F0EB"/>
                    </a:solidFill>
                  </a:tcPr>
                </a:tc>
                <a:tc>
                  <a:txBody>
                    <a:bodyPr wrap="square"/>
                    <a:lstStyle/>
                    <a:p>
                      <a:r>
                        <a:rPr sz="900">
                          <a:solidFill>
                            <a:srgbClr val="0D0D0D"/>
                          </a:solidFill>
                          <a:latin typeface="Aptos"/>
                        </a:rPr>
                        <a:t>No — requires internet</a:t>
                      </a:r>
                    </a:p>
                  </a:txBody>
                  <a:tcPr>
                    <a:solidFill>
                      <a:srgbClr val="F2F0EB"/>
                    </a:solidFill>
                  </a:tcPr>
                </a:tc>
                <a:tc>
                  <a:txBody>
                    <a:bodyPr wrap="square"/>
                    <a:lstStyle/>
                    <a:p>
                      <a:r>
                        <a:rPr sz="900">
                          <a:solidFill>
                            <a:srgbClr val="0D0D0D"/>
                          </a:solidFill>
                          <a:latin typeface="Aptos"/>
                        </a:rPr>
                        <a:t>No</a:t>
                      </a:r>
                    </a:p>
                  </a:txBody>
                  <a:tcPr>
                    <a:solidFill>
                      <a:srgbClr val="F2F0EB"/>
                    </a:solidFill>
                  </a:tcPr>
                </a:tc>
                <a:tc>
                  <a:txBody>
                    <a:bodyPr wrap="square"/>
                    <a:lstStyle/>
                    <a:p>
                      <a:r>
                        <a:rPr sz="900">
                          <a:solidFill>
                            <a:srgbClr val="0D0D0D"/>
                          </a:solidFill>
                          <a:latin typeface="Aptos"/>
                        </a:rPr>
                        <a:t>YES — deterministic simulation mode</a:t>
                      </a:r>
                    </a:p>
                  </a:txBody>
                  <a:tcPr>
                    <a:solidFill>
                      <a:srgbClr val="F2F0EB"/>
                    </a:solidFill>
                  </a:tcPr>
                </a:tc>
              </a:tr>
              <a:tr h="429072">
                <a:tc>
                  <a:txBody>
                    <a:bodyPr wrap="square"/>
                    <a:lstStyle/>
                    <a:p>
                      <a:r>
                        <a:rPr sz="900">
                          <a:solidFill>
                            <a:srgbClr val="0D0D0D"/>
                          </a:solidFill>
                          <a:latin typeface="Aptos"/>
                        </a:rPr>
                        <a:t>Deployable (Docker + API)</a:t>
                      </a:r>
                    </a:p>
                  </a:txBody>
                  <a:tcPr>
                    <a:solidFill>
                      <a:srgbClr val="FFFFFF"/>
                    </a:solidFill>
                  </a:tcPr>
                </a:tc>
                <a:tc>
                  <a:txBody>
                    <a:bodyPr wrap="square"/>
                    <a:lstStyle/>
                    <a:p>
                      <a:r>
                        <a:rPr sz="900">
                          <a:solidFill>
                            <a:srgbClr val="0D0D0D"/>
                          </a:solidFill>
                          <a:latin typeface="Aptos"/>
                        </a:rPr>
                        <a:t>No self-hosting</a:t>
                      </a:r>
                    </a:p>
                  </a:txBody>
                  <a:tcPr>
                    <a:solidFill>
                      <a:srgbClr val="FFFFFF"/>
                    </a:solidFill>
                  </a:tcPr>
                </a:tc>
                <a:tc>
                  <a:txBody>
                    <a:bodyPr wrap="square"/>
                    <a:lstStyle/>
                    <a:p>
                      <a:r>
                        <a:rPr sz="900">
                          <a:solidFill>
                            <a:srgbClr val="0D0D0D"/>
                          </a:solidFill>
                          <a:latin typeface="Aptos"/>
                        </a:rPr>
                        <a:t>App-store only</a:t>
                      </a:r>
                    </a:p>
                  </a:txBody>
                  <a:tcPr>
                    <a:solidFill>
                      <a:srgbClr val="FFFFFF"/>
                    </a:solidFill>
                  </a:tcPr>
                </a:tc>
                <a:tc>
                  <a:txBody>
                    <a:bodyPr wrap="square"/>
                    <a:lstStyle/>
                    <a:p>
                      <a:r>
                        <a:rPr sz="900">
                          <a:solidFill>
                            <a:srgbClr val="0D0D0D"/>
                          </a:solidFill>
                          <a:latin typeface="Aptos"/>
                        </a:rPr>
                        <a:t>YES — FastAPI + Docker + MCP server</a:t>
                      </a:r>
                    </a:p>
                  </a:txBody>
                  <a:tcPr>
                    <a:solidFill>
                      <a:srgbClr val="FFFFFF"/>
                    </a:solidFill>
                  </a:tcPr>
                </a:tc>
              </a:tr>
            </a:tbl>
          </a:graphicData>
        </a:graphic>
      </p:graphicFrame>
    </p:spTree>
    <p:extLst>
      <p:ext uri="{BB962C8B-B14F-4D97-AF65-F5344CB8AC3E}">
        <p14:creationId xmlns:p14="http://schemas.microsoft.com/office/powerpoint/2010/main" val="379331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D7937-3D8B-278C-2D63-4D4F487777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7B7C198-146F-A7B4-5174-3F0BC6CB4C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10" name="TextBox 9">
            <a:extLst>
              <a:ext uri="{FF2B5EF4-FFF2-40B4-BE49-F238E27FC236}">
                <a16:creationId xmlns:a16="http://schemas.microsoft.com/office/drawing/2014/main" id="{DE8CE75F-D6B4-4EC3-E2B8-168FAC8A2860}"/>
              </a:ext>
            </a:extLst>
          </p:cNvPr>
          <p:cNvSpPr txBox="1"/>
          <p:nvPr/>
        </p:nvSpPr>
        <p:spPr>
          <a:xfrm>
            <a:off x="651268" y="537346"/>
            <a:ext cx="6097712" cy="584775"/>
          </a:xfrm>
          <a:prstGeom prst="rect">
            <a:avLst/>
          </a:prstGeom>
          <a:noFill/>
        </p:spPr>
        <p:txBody>
          <a:bodyPr wrap="square">
            <a:spAutoFit/>
          </a:bodyPr>
          <a:lstStyle/>
          <a:p>
            <a:r>
              <a:rPr lang="en-IN" sz="3200" b="1" dirty="0">
                <a:latin typeface="Book Antiqua" panose="02040602050305030304" pitchFamily="18" charset="0"/>
              </a:rPr>
              <a:t>Abstract</a:t>
            </a:r>
          </a:p>
        </p:txBody>
      </p:sp>
      <p:sp>
        <p:nvSpPr>
          <p:cNvPr id="13" name="Date Placeholder 3">
            <a:extLst>
              <a:ext uri="{FF2B5EF4-FFF2-40B4-BE49-F238E27FC236}">
                <a16:creationId xmlns:a16="http://schemas.microsoft.com/office/drawing/2014/main" id="{B1877274-0A83-84DE-8F0F-85864E713BCF}"/>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4" name="Footer Placeholder 4">
            <a:extLst>
              <a:ext uri="{FF2B5EF4-FFF2-40B4-BE49-F238E27FC236}">
                <a16:creationId xmlns:a16="http://schemas.microsoft.com/office/drawing/2014/main" id="{CF3D0035-2535-528A-B988-D5E01A0C442D}"/>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5" name="Slide Number Placeholder 5">
            <a:extLst>
              <a:ext uri="{FF2B5EF4-FFF2-40B4-BE49-F238E27FC236}">
                <a16:creationId xmlns:a16="http://schemas.microsoft.com/office/drawing/2014/main" id="{EA93DE7F-A7E1-5470-2E82-980D33CF8E6C}"/>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7</a:t>
            </a:fld>
            <a:endParaRPr lang="en-IN" sz="1200" dirty="0">
              <a:solidFill>
                <a:schemeClr val="accent3"/>
              </a:solidFill>
              <a:latin typeface="Aptos" panose="020B0004020202020204" pitchFamily="34" charset="0"/>
            </a:endParaRPr>
          </a:p>
        </p:txBody>
      </p:sp>
      <p:sp>
        <p:nvSpPr>
          <p:cNvPr id="4" name="TextBox 3">
            <a:extLst>
              <a:ext uri="{FF2B5EF4-FFF2-40B4-BE49-F238E27FC236}">
                <a16:creationId xmlns:a16="http://schemas.microsoft.com/office/drawing/2014/main" id="{EA6F7D36-7EB9-CB51-13C8-1F4DA8ABDD89}"/>
              </a:ext>
            </a:extLst>
          </p:cNvPr>
          <p:cNvSpPr txBox="1"/>
          <p:nvPr/>
        </p:nvSpPr>
        <p:spPr>
          <a:xfrm>
            <a:off x="1806905" y="1323448"/>
            <a:ext cx="7913869" cy="3729611"/>
          </a:xfrm>
          <a:prstGeom prst="rect">
            <a:avLst/>
          </a:prstGeom>
          <a:noFill/>
        </p:spPr>
        <p:txBody>
          <a:bodyPr wrap="square">
            <a:spAutoFit/>
          </a:bodyPr>
          <a:lstStyle/>
          <a:p>
            <a:pPr marL="0" marR="0" fontAlgn="base">
              <a:lnSpc>
                <a:spcPct val="150000"/>
              </a:lnSpc>
              <a:spcAft>
                <a:spcPts val="1000"/>
              </a:spcAft>
              <a:buNone/>
            </a:pPr>
            <a:r>
              <a:rPr b="1"/>
              <a:t>Introduction / Importance:</a:t>
            </a:r>
            <a:endParaRPr lang="en-IN" sz="1600" dirty="0">
              <a:effectLst/>
              <a:latin typeface="Calibri" panose="020F0502020204030204" pitchFamily="34" charset="0"/>
              <a:ea typeface="Calibri" panose="020F0502020204030204" pitchFamily="34" charset="0"/>
              <a:cs typeface="Times New Roman" panose="02020603050405020304" pitchFamily="18" charset="0"/>
            </a:endParaRPr>
          </a:p>
          <a:p>
            <a:r>
              <a:t>Healthcare accessibility and medication safety represent two of the most pressing challenges in modern medicine, affecting billions of people globally.</a:t>
            </a:r>
          </a:p>
          <a:p>
            <a:r>
              <a:t/>
            </a:r>
          </a:p>
          <a:p>
            <a:r>
              <a:t>Problem Statement / Research Gap:</a:t>
            </a:r>
          </a:p>
          <a:p>
            <a:r>
              <a:t>Over 250,000 preventable deaths occur annually due to medical errors — predominantly from undetected drug interactions, misread laboratory reports, and inadequate patient guidance. Existing AI assistants provide probabilistic text responses that lack the deterministic safety guarantees required in clinical contexts. No current application unifies prescription analysis, lab interpretation, food-drug safety, and medication scheduling in one agentic pipeline.</a:t>
            </a:r>
          </a:p>
          <a:p>
            <a:r>
              <a:t/>
            </a:r>
          </a:p>
          <a:p>
            <a:r>
              <a:t>Objective:</a:t>
            </a:r>
          </a:p>
          <a:p>
            <a:r>
              <a:t>MediGuide AI addresses this crisis by deploying a multimodal, multi-agent healthcare navigation system built on Google's Agent Development Kit (ADK) that empowers patients to safely interpret their own health data.</a:t>
            </a:r>
          </a:p>
          <a:p>
            <a:r>
              <a:t/>
            </a:r>
          </a:p>
          <a:p>
            <a:r>
              <a:t>Methodology:</a:t>
            </a:r>
          </a:p>
          <a:p>
            <a:r>
              <a:t>The system coordinates five specialized AI sub-agents — TriageAgent, ResearchAgent, SchedulerAgent, VisionAgent, and LabAgent — through a root OrchestratorAgent. Safety-critical operations (drug interaction checking, lab value flagging) use deterministic clinical databases; contextual reasoning uses Gemini LLM. A Pillow image preprocessing pipeline handles prescription OCR, skin analysis, X-ray, and ECG routing.</a:t>
            </a:r>
          </a:p>
          <a:p>
            <a:r>
              <a:t/>
            </a:r>
          </a:p>
          <a:p>
            <a:r>
              <a:t>Key Findings / Parameters:</a:t>
            </a:r>
          </a:p>
          <a:p>
            <a:r>
              <a:t>The system correctly identifies therapeutic duplications (Trimox/Amoxicillin), flags dangerous food interactions (Warfarin × Grapefruit = 2–5× overdose risk), annotates 35+ lab tests with CRITICAL/WARNING/NORMAL severity flags, computes a quantified Health Risk Score (1–100), and generates clinically timed daily medication schedules.</a:t>
            </a:r>
          </a:p>
          <a:p>
            <a:r>
              <a:t/>
            </a:r>
          </a:p>
          <a:p>
            <a:r>
              <a:t>Implications:</a:t>
            </a:r>
          </a:p>
          <a:p>
            <a:r>
              <a:t>MediGuide AI demonstrates that combining deterministic clinical knowledge bases with LLM reasoning in a specialist multi-agent architecture can deliver safer, more reliable, and more accessible healthcare guidance than any single general-purpose AI model — directly targeting the preventable medical error crisis.</a:t>
            </a:r>
          </a:p>
          <a:p>
            <a:r>
              <a:t/>
            </a:r>
          </a:p>
          <a:p>
            <a:r>
              <a:t>Keywords: Multi-Agent AI, Google ADK, Drug Interaction, Lab Report Analysis, Multimodal Vision, Medication Safety, Clinical Decision Support, Healthcare Navigation</a:t>
            </a:r>
          </a:p>
        </p:txBody>
      </p:sp>
    </p:spTree>
    <p:extLst>
      <p:ext uri="{BB962C8B-B14F-4D97-AF65-F5344CB8AC3E}">
        <p14:creationId xmlns:p14="http://schemas.microsoft.com/office/powerpoint/2010/main" val="37409215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1CFFE-0E57-6C12-C7C0-DFC70253D74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69F9C9C-0D4F-5D8B-BD8E-8E20F3C21DB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867518" y="69351"/>
            <a:ext cx="1224280" cy="935990"/>
          </a:xfrm>
          <a:prstGeom prst="rect">
            <a:avLst/>
          </a:prstGeom>
        </p:spPr>
      </p:pic>
      <p:sp>
        <p:nvSpPr>
          <p:cNvPr id="4" name="TextBox 3">
            <a:extLst>
              <a:ext uri="{FF2B5EF4-FFF2-40B4-BE49-F238E27FC236}">
                <a16:creationId xmlns:a16="http://schemas.microsoft.com/office/drawing/2014/main" id="{C1766489-E1FE-962C-85E0-4FE40C0A7900}"/>
              </a:ext>
            </a:extLst>
          </p:cNvPr>
          <p:cNvSpPr txBox="1"/>
          <p:nvPr/>
        </p:nvSpPr>
        <p:spPr>
          <a:xfrm>
            <a:off x="922104" y="978551"/>
            <a:ext cx="10058429" cy="1298882"/>
          </a:xfrm>
          <a:prstGeom prst="rect">
            <a:avLst/>
          </a:prstGeom>
          <a:noFill/>
        </p:spPr>
        <p:txBody>
          <a:bodyPr wrap="square">
            <a:spAutoFit/>
          </a:bodyPr>
          <a:lstStyle/>
          <a:p>
            <a:pPr>
              <a:lnSpc>
                <a:spcPct val="150000"/>
              </a:lnSpc>
            </a:pPr>
            <a:r>
              <a:t>1.  DETERMINISTIC SAFETY CORE — Drug-drug interactions, brand-to-generic mapping, and food-drug warnings</a:t>
            </a:r>
          </a:p>
          <a:p>
            <a:r>
              <a:t>    use deterministic code, not LLM inference. This is the fundamental safety architecture distinction.</a:t>
            </a:r>
          </a:p>
          <a:p>
            <a:r>
              <a:t>    General-purpose AI cannot guarantee drug interaction correctness — MediGuide's code can.</a:t>
            </a:r>
          </a:p>
          <a:p>
            <a:r>
              <a:t/>
            </a:r>
          </a:p>
          <a:p>
            <a:r>
              <a:t>2.  QUANTIFIED HEALTH RISK SCORE — A 7-factor weighted algorithm produces a 1–100 clinical risk metric,</a:t>
            </a:r>
          </a:p>
          <a:p>
            <a:r>
              <a:t>    replacing vague urgency labels. This aligns with established triage methodologies (NEWS2, APACHE).</a:t>
            </a:r>
          </a:p>
          <a:p>
            <a:r>
              <a:t>    The score is fully auditable: every point is traceable to a contributing clinical factor.</a:t>
            </a:r>
          </a:p>
          <a:p>
            <a:r>
              <a:t/>
            </a:r>
          </a:p>
          <a:p>
            <a:r>
              <a:t>3.  UNIFIED MULTIMODAL PIPELINE — One system handles prescriptions, X-rays, ECGs, skin conditions, and</a:t>
            </a:r>
          </a:p>
          <a:p>
            <a:r>
              <a:t>    blood reports — with specialized Pillow preprocessing per image modality before LLM analysis.</a:t>
            </a:r>
          </a:p>
          <a:p>
            <a:r>
              <a:t/>
            </a:r>
          </a:p>
          <a:p>
            <a:r>
              <a:t>4.  FOOD-DRUG INTELLIGENCE — Most apps check drug-drug interactions. MediGuide additionally detects</a:t>
            </a:r>
          </a:p>
          <a:p>
            <a:r>
              <a:t>    dangerous food-drug interactions across 8 food categories (Grapefruit × Warfarin = 2–5× overdose).</a:t>
            </a:r>
          </a:p>
          <a:p>
            <a:r>
              <a:t/>
            </a:r>
          </a:p>
          <a:p>
            <a:r>
              <a:t>5.  ADK MULTI-AGENT SPECIALIZATION — First healthcare application of Google ADK with 5 domain-specialist</a:t>
            </a:r>
          </a:p>
          <a:p>
            <a:r>
              <a:t>    sub-agents, mirroring real hospital referral pathways (GP → Cardiologist → Radiologist).</a:t>
            </a:r>
          </a:p>
        </p:txBody>
      </p:sp>
      <p:sp>
        <p:nvSpPr>
          <p:cNvPr id="6" name="TextBox 5">
            <a:extLst>
              <a:ext uri="{FF2B5EF4-FFF2-40B4-BE49-F238E27FC236}">
                <a16:creationId xmlns:a16="http://schemas.microsoft.com/office/drawing/2014/main" id="{B1E80B1F-40AD-F8B2-0D55-CFB4AC08A382}"/>
              </a:ext>
            </a:extLst>
          </p:cNvPr>
          <p:cNvSpPr txBox="1"/>
          <p:nvPr/>
        </p:nvSpPr>
        <p:spPr>
          <a:xfrm>
            <a:off x="922104" y="3652028"/>
            <a:ext cx="8496756" cy="1298882"/>
          </a:xfrm>
          <a:prstGeom prst="rect">
            <a:avLst/>
          </a:prstGeom>
          <a:noFill/>
        </p:spPr>
        <p:txBody>
          <a:bodyPr wrap="square">
            <a:spAutoFit/>
          </a:bodyPr>
          <a:lstStyle/>
          <a:p>
            <a:pPr>
              <a:lnSpc>
                <a:spcPct val="150000"/>
              </a:lnSpc>
            </a:pPr>
            <a:r>
              <a:t>DELIVERABLES:</a:t>
            </a:r>
          </a:p>
          <a:p>
            <a:r>
              <a:t>• Fully functional multi-agent healthcare AI system (Python / Google ADK)</a:t>
            </a:r>
          </a:p>
          <a:p>
            <a:r>
              <a:t>• REST API server (FastAPI) for integration with any frontend</a:t>
            </a:r>
          </a:p>
          <a:p>
            <a:r>
              <a:t>• Docker containerized deployment-ready application</a:t>
            </a:r>
          </a:p>
          <a:p>
            <a:r>
              <a:t>• 5 standalone CLI skills: lab analyzer, OCR, symptom checker, scheduler, drug interactions</a:t>
            </a:r>
          </a:p>
          <a:p>
            <a:r>
              <a:t>• Kaggle notebook documenting the complete pipeline with reproducible results</a:t>
            </a:r>
          </a:p>
          <a:p>
            <a:r>
              <a:t>• Clinical lab DB: 35+ blood test reference ranges with severity tiers</a:t>
            </a:r>
          </a:p>
          <a:p>
            <a:r>
              <a:t>• Drug interaction DB: 50+ pairs + food-drug: 8 categories × 40+ medications</a:t>
            </a:r>
          </a:p>
          <a:p>
            <a:r>
              <a:t>• Complete technical report, abstract, and IEEE-formatted literature review</a:t>
            </a:r>
          </a:p>
          <a:p>
            <a:r>
              <a:t/>
            </a:r>
          </a:p>
          <a:p>
            <a:r>
              <a:t>REAL-WORLD IMPACT:</a:t>
            </a:r>
          </a:p>
          <a:p>
            <a:r>
              <a:t>• Empowers patients to interpret their own blood reports without waiting for a doctor's appointment</a:t>
            </a:r>
          </a:p>
          <a:p>
            <a:r>
              <a:t>• Prevents dangerous medication combinations including those prescribed by different doctors</a:t>
            </a:r>
          </a:p>
          <a:p>
            <a:r>
              <a:t>• Provides clinically validated medication timing schedules reducing adherence errors</a:t>
            </a:r>
          </a:p>
        </p:txBody>
      </p:sp>
      <p:sp>
        <p:nvSpPr>
          <p:cNvPr id="8" name="TextBox 7">
            <a:extLst>
              <a:ext uri="{FF2B5EF4-FFF2-40B4-BE49-F238E27FC236}">
                <a16:creationId xmlns:a16="http://schemas.microsoft.com/office/drawing/2014/main" id="{184DB8FA-8D5C-3599-7F98-9D13643289BA}"/>
              </a:ext>
            </a:extLst>
          </p:cNvPr>
          <p:cNvSpPr txBox="1"/>
          <p:nvPr/>
        </p:nvSpPr>
        <p:spPr>
          <a:xfrm>
            <a:off x="562510" y="352680"/>
            <a:ext cx="6097712" cy="584775"/>
          </a:xfrm>
          <a:prstGeom prst="rect">
            <a:avLst/>
          </a:prstGeom>
          <a:noFill/>
        </p:spPr>
        <p:txBody>
          <a:bodyPr wrap="square">
            <a:spAutoFit/>
          </a:bodyPr>
          <a:lstStyle/>
          <a:p>
            <a:pPr>
              <a:buNone/>
            </a:pPr>
            <a:r>
              <a:rPr lang="en-US" sz="3200" b="1" dirty="0">
                <a:latin typeface="Book Antiqua" panose="02040602050305030304" pitchFamily="18" charset="0"/>
              </a:rPr>
              <a:t>Novelty / Innovation</a:t>
            </a:r>
          </a:p>
        </p:txBody>
      </p:sp>
      <p:sp>
        <p:nvSpPr>
          <p:cNvPr id="10" name="TextBox 9">
            <a:extLst>
              <a:ext uri="{FF2B5EF4-FFF2-40B4-BE49-F238E27FC236}">
                <a16:creationId xmlns:a16="http://schemas.microsoft.com/office/drawing/2014/main" id="{906092D4-C0D2-83BA-70BC-9E5FE2DD03F8}"/>
              </a:ext>
            </a:extLst>
          </p:cNvPr>
          <p:cNvSpPr txBox="1"/>
          <p:nvPr/>
        </p:nvSpPr>
        <p:spPr>
          <a:xfrm>
            <a:off x="562510" y="2753742"/>
            <a:ext cx="6097712" cy="584775"/>
          </a:xfrm>
          <a:prstGeom prst="rect">
            <a:avLst/>
          </a:prstGeom>
          <a:noFill/>
        </p:spPr>
        <p:txBody>
          <a:bodyPr wrap="square">
            <a:spAutoFit/>
          </a:bodyPr>
          <a:lstStyle/>
          <a:p>
            <a:pPr>
              <a:buNone/>
            </a:pPr>
            <a:r>
              <a:rPr lang="en-US" sz="3200" b="1" dirty="0">
                <a:latin typeface="Book Antiqua" panose="02040602050305030304" pitchFamily="18" charset="0"/>
              </a:rPr>
              <a:t>Expected Outcomes</a:t>
            </a:r>
          </a:p>
        </p:txBody>
      </p:sp>
      <p:sp>
        <p:nvSpPr>
          <p:cNvPr id="13" name="Date Placeholder 3">
            <a:extLst>
              <a:ext uri="{FF2B5EF4-FFF2-40B4-BE49-F238E27FC236}">
                <a16:creationId xmlns:a16="http://schemas.microsoft.com/office/drawing/2014/main" id="{088FBEB9-E56D-5C2E-8771-9B8716579C46}"/>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4" name="Footer Placeholder 4">
            <a:extLst>
              <a:ext uri="{FF2B5EF4-FFF2-40B4-BE49-F238E27FC236}">
                <a16:creationId xmlns:a16="http://schemas.microsoft.com/office/drawing/2014/main" id="{CE7E5F53-BF72-E0A5-42FF-EB1FD5131BEF}"/>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5" name="Slide Number Placeholder 5">
            <a:extLst>
              <a:ext uri="{FF2B5EF4-FFF2-40B4-BE49-F238E27FC236}">
                <a16:creationId xmlns:a16="http://schemas.microsoft.com/office/drawing/2014/main" id="{149DF87E-F6B1-BF6B-9905-75DFD5C166AE}"/>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8</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2682981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445BAFB-7EF4-2023-4132-1AABA9780B4B}"/>
              </a:ext>
            </a:extLst>
          </p:cNvPr>
          <p:cNvSpPr txBox="1"/>
          <p:nvPr/>
        </p:nvSpPr>
        <p:spPr>
          <a:xfrm>
            <a:off x="850187" y="1202750"/>
            <a:ext cx="6097712" cy="1295868"/>
          </a:xfrm>
          <a:prstGeom prst="rect">
            <a:avLst/>
          </a:prstGeom>
          <a:noFill/>
        </p:spPr>
        <p:txBody>
          <a:bodyPr wrap="square">
            <a:spAutoFit/>
          </a:bodyPr>
          <a:lstStyle/>
          <a:p>
            <a:pPr>
              <a:lnSpc>
                <a:spcPct val="150000"/>
              </a:lnSpc>
            </a:pPr>
            <a:r>
              <a:t>Maruthi Sai Teja  (23ITMNP-B01)  —  Project Lead</a:t>
            </a:r>
          </a:p>
          <a:p>
            <a:r>
              <a:t>    Responsibility: Multi-Agent Architecture (ADK), OrchestratorAgent, LabAgent, Lab Tools Engine,</a:t>
            </a:r>
          </a:p>
          <a:p>
            <a:r>
              <a:t>    Food-Drug Interaction Engine, Health Risk Score Algorithm, System Integration &amp; Testing</a:t>
            </a:r>
          </a:p>
          <a:p>
            <a:r>
              <a:t/>
            </a:r>
          </a:p>
          <a:p>
            <a:r>
              <a:t>Student Name 2  (Roll No. 2)  —  Vision &amp; Infrastructure</a:t>
            </a:r>
          </a:p>
          <a:p>
            <a:r>
              <a:t>    Responsibility: VisionAgent, Prescription OCR Pipeline, Pillow Image Preprocessing,</a:t>
            </a:r>
          </a:p>
          <a:p>
            <a:r>
              <a:t>    Skin Triage Logic, MCP Server Integration, Docker Configuration</a:t>
            </a:r>
          </a:p>
          <a:p>
            <a:r>
              <a:t/>
            </a:r>
          </a:p>
          <a:p>
            <a:r>
              <a:t>Student Name 3  (Roll No. 3)  —  Knowledge &amp; API</a:t>
            </a:r>
          </a:p>
          <a:p>
            <a:r>
              <a:t>    Responsibility: TriageAgent, ResearchAgent, Medical Knowledge Base, SchedulerAgent,</a:t>
            </a:r>
          </a:p>
          <a:p>
            <a:r>
              <a:t>    Security Layer (PII Redaction), FastAPI Server, Documentation &amp; Literature Survey</a:t>
            </a:r>
          </a:p>
        </p:txBody>
      </p:sp>
      <p:sp>
        <p:nvSpPr>
          <p:cNvPr id="5" name="TextBox 4">
            <a:extLst>
              <a:ext uri="{FF2B5EF4-FFF2-40B4-BE49-F238E27FC236}">
                <a16:creationId xmlns:a16="http://schemas.microsoft.com/office/drawing/2014/main" id="{D3B20567-F3E9-70F2-2D44-04B5DB9DFD9B}"/>
              </a:ext>
            </a:extLst>
          </p:cNvPr>
          <p:cNvSpPr txBox="1"/>
          <p:nvPr/>
        </p:nvSpPr>
        <p:spPr>
          <a:xfrm>
            <a:off x="850187" y="3919197"/>
            <a:ext cx="10369193" cy="880369"/>
          </a:xfrm>
          <a:prstGeom prst="rect">
            <a:avLst/>
          </a:prstGeom>
          <a:noFill/>
        </p:spPr>
        <p:txBody>
          <a:bodyPr wrap="square">
            <a:spAutoFit/>
          </a:bodyPr>
          <a:lstStyle/>
          <a:p>
            <a:pPr>
              <a:lnSpc>
                <a:spcPct val="150000"/>
              </a:lnSpc>
            </a:pPr>
            <a:r>
              <a:t>Phase 0 — Foundation          (Jul 2025)        : Project scoping, literature review, environment setup, ADK exploration  ✓ COMPLETE</a:t>
            </a:r>
          </a:p>
          <a:p>
            <a:r>
              <a:t>Phase 1 — Core Agents         (Aug–Sep 2025)    : OrchestratorAgent, TriageAgent, ResearchAgent, SchedulerAgent dev       ✓ COMPLETE</a:t>
            </a:r>
          </a:p>
          <a:p>
            <a:r>
              <a:t>Phase 2 — Vision &amp; OCR        (Oct–Nov 2025)    : VisionAgent, Pillow pipeline, Gemini multimodal, prescription OCR        ✓ COMPLETE</a:t>
            </a:r>
          </a:p>
          <a:p>
            <a:r>
              <a:t>Phase 3 — Lab &amp; Safety        (Dec 2025–Jan 2026): LabAgent, Lab Analyzer (35+ tests), Food-Drug Engine, Risk Score        ✓ COMPLETE</a:t>
            </a:r>
          </a:p>
          <a:p>
            <a:r>
              <a:t>Phase 4 — Deployment          (Feb–Mar 2026)    : FastAPI REST server, Docker, MCP server, security hardening              ✓ COMPLETE</a:t>
            </a:r>
          </a:p>
          <a:p>
            <a:r>
              <a:t>Phase 5 — Presentation        (Jul 2026)        : Abstract Level Review, documentation finalization, panel demo            ▶ IN PROGRESS</a:t>
            </a:r>
          </a:p>
        </p:txBody>
      </p:sp>
      <p:sp>
        <p:nvSpPr>
          <p:cNvPr id="7" name="TextBox 6">
            <a:extLst>
              <a:ext uri="{FF2B5EF4-FFF2-40B4-BE49-F238E27FC236}">
                <a16:creationId xmlns:a16="http://schemas.microsoft.com/office/drawing/2014/main" id="{63BAE2B7-A7CE-B884-7D48-63814EA248E4}"/>
              </a:ext>
            </a:extLst>
          </p:cNvPr>
          <p:cNvSpPr txBox="1"/>
          <p:nvPr/>
        </p:nvSpPr>
        <p:spPr>
          <a:xfrm>
            <a:off x="480316" y="483153"/>
            <a:ext cx="7625993" cy="584775"/>
          </a:xfrm>
          <a:prstGeom prst="rect">
            <a:avLst/>
          </a:prstGeom>
          <a:noFill/>
        </p:spPr>
        <p:txBody>
          <a:bodyPr wrap="square">
            <a:spAutoFit/>
          </a:bodyPr>
          <a:lstStyle/>
          <a:p>
            <a:pPr>
              <a:buNone/>
            </a:pPr>
            <a:r>
              <a:rPr lang="en-US" sz="3200" b="1" dirty="0">
                <a:latin typeface="Book Antiqua" panose="02040602050305030304" pitchFamily="18" charset="0"/>
              </a:rPr>
              <a:t>Team Roles &amp; Work Distribution</a:t>
            </a:r>
          </a:p>
        </p:txBody>
      </p:sp>
      <p:sp>
        <p:nvSpPr>
          <p:cNvPr id="9" name="TextBox 8">
            <a:extLst>
              <a:ext uri="{FF2B5EF4-FFF2-40B4-BE49-F238E27FC236}">
                <a16:creationId xmlns:a16="http://schemas.microsoft.com/office/drawing/2014/main" id="{E149DCF2-ACFD-DBDE-B900-B7C2E0FC594C}"/>
              </a:ext>
            </a:extLst>
          </p:cNvPr>
          <p:cNvSpPr txBox="1"/>
          <p:nvPr/>
        </p:nvSpPr>
        <p:spPr>
          <a:xfrm>
            <a:off x="480316" y="3136612"/>
            <a:ext cx="6097712" cy="584775"/>
          </a:xfrm>
          <a:prstGeom prst="rect">
            <a:avLst/>
          </a:prstGeom>
          <a:noFill/>
        </p:spPr>
        <p:txBody>
          <a:bodyPr wrap="square">
            <a:spAutoFit/>
          </a:bodyPr>
          <a:lstStyle/>
          <a:p>
            <a:pPr>
              <a:buNone/>
            </a:pPr>
            <a:r>
              <a:rPr lang="en-US" sz="3200" b="1" dirty="0">
                <a:latin typeface="Book Antiqua" panose="02040602050305030304" pitchFamily="18" charset="0"/>
              </a:rPr>
              <a:t>Timeline / Gantt Chart</a:t>
            </a:r>
          </a:p>
        </p:txBody>
      </p:sp>
      <p:sp>
        <p:nvSpPr>
          <p:cNvPr id="12" name="Date Placeholder 3">
            <a:extLst>
              <a:ext uri="{FF2B5EF4-FFF2-40B4-BE49-F238E27FC236}">
                <a16:creationId xmlns:a16="http://schemas.microsoft.com/office/drawing/2014/main" id="{5D9523E8-04A9-5F7D-B678-26825DAFA520}"/>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3" name="Footer Placeholder 4">
            <a:extLst>
              <a:ext uri="{FF2B5EF4-FFF2-40B4-BE49-F238E27FC236}">
                <a16:creationId xmlns:a16="http://schemas.microsoft.com/office/drawing/2014/main" id="{A2017F37-7C0C-AF04-70D3-A489461D2493}"/>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4" name="Slide Number Placeholder 5">
            <a:extLst>
              <a:ext uri="{FF2B5EF4-FFF2-40B4-BE49-F238E27FC236}">
                <a16:creationId xmlns:a16="http://schemas.microsoft.com/office/drawing/2014/main" id="{7FFA89DD-6E6D-D81C-D317-DDBAE9EFD00D}"/>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9</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3172624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44121E-2B36-0636-E404-5D42EBFA39C0}"/>
              </a:ext>
            </a:extLst>
          </p:cNvPr>
          <p:cNvSpPr txBox="1"/>
          <p:nvPr/>
        </p:nvSpPr>
        <p:spPr>
          <a:xfrm>
            <a:off x="470042" y="442057"/>
            <a:ext cx="6097712" cy="584775"/>
          </a:xfrm>
          <a:prstGeom prst="rect">
            <a:avLst/>
          </a:prstGeom>
          <a:noFill/>
        </p:spPr>
        <p:txBody>
          <a:bodyPr wrap="square">
            <a:spAutoFit/>
          </a:bodyPr>
          <a:lstStyle/>
          <a:p>
            <a:r>
              <a:rPr lang="en-IN" sz="3200" b="1" dirty="0">
                <a:latin typeface="Book Antiqua" panose="02040602050305030304" pitchFamily="18" charset="0"/>
              </a:rPr>
              <a:t>References</a:t>
            </a:r>
          </a:p>
        </p:txBody>
      </p:sp>
      <p:sp>
        <p:nvSpPr>
          <p:cNvPr id="5" name="TextBox 4">
            <a:extLst>
              <a:ext uri="{FF2B5EF4-FFF2-40B4-BE49-F238E27FC236}">
                <a16:creationId xmlns:a16="http://schemas.microsoft.com/office/drawing/2014/main" id="{D4236217-B8F5-06A5-DAE8-17894E03DAA7}"/>
              </a:ext>
            </a:extLst>
          </p:cNvPr>
          <p:cNvSpPr txBox="1"/>
          <p:nvPr/>
        </p:nvSpPr>
        <p:spPr>
          <a:xfrm>
            <a:off x="809090" y="1243441"/>
            <a:ext cx="6097712" cy="369332"/>
          </a:xfrm>
          <a:prstGeom prst="rect">
            <a:avLst/>
          </a:prstGeom>
          <a:noFill/>
        </p:spPr>
        <p:txBody>
          <a:bodyPr wrap="square">
            <a:spAutoFit/>
          </a:bodyPr>
          <a:lstStyle/>
          <a:p>
            <a:r>
              <a:t>[1]  Topol, E.J. (2019). High-performance medicine: the convergence of human and artificial intelligence.</a:t>
            </a:r>
            <a:endParaRPr lang="en-IN" dirty="0">
              <a:latin typeface="Aptos" panose="020B0004020202020204" pitchFamily="34" charset="0"/>
            </a:endParaRPr>
          </a:p>
          <a:p>
            <a:r>
              <a:t>     Nature Medicine, 25(1), 44-56. https://doi.org/10.1038/s41591-018-0300-7</a:t>
            </a:r>
          </a:p>
          <a:p>
            <a:r>
              <a:t/>
            </a:r>
          </a:p>
          <a:p>
            <a:r>
              <a:t>[2]  Shickel, B., Tighe, P.J., Bihorac, A., &amp; Rashidi, P. (2018). Deep EHR: A Survey of Recent Advances</a:t>
            </a:r>
          </a:p>
          <a:p>
            <a:r>
              <a:t>     in Deep Learning Techniques for EHR Analysis. IEEE Journal of Biomedical and Health Informatics, 22(5), 1589-1604.</a:t>
            </a:r>
          </a:p>
          <a:p>
            <a:r>
              <a:t/>
            </a:r>
          </a:p>
          <a:p>
            <a:r>
              <a:t>[3]  Kohn, L.T., Corrigan, J., &amp; Donaldson, M.S. (Eds.). (2000). To Err is Human: Building a Safer Health</a:t>
            </a:r>
          </a:p>
          <a:p>
            <a:r>
              <a:t>     System. Washington, DC: National Academies Press. https://doi.org/10.17226/9728</a:t>
            </a:r>
          </a:p>
          <a:p>
            <a:r>
              <a:t/>
            </a:r>
          </a:p>
          <a:p>
            <a:r>
              <a:t>[4]  Wang, Y., et al. (2020). Drug-Drug Interaction Prediction via Knowledge Graphs.</a:t>
            </a:r>
          </a:p>
          <a:p>
            <a:r>
              <a:t>     Bioinformatics, 36(18), 4674-4681. https://doi.org/10.1093/bioinformatics/btaa577</a:t>
            </a:r>
          </a:p>
          <a:p>
            <a:r>
              <a:t/>
            </a:r>
          </a:p>
          <a:p>
            <a:r>
              <a:t>[5]  Esteva, A., et al. (2017). Dermatologist-level classification of skin cancer with deep neural networks.</a:t>
            </a:r>
          </a:p>
          <a:p>
            <a:r>
              <a:t>     Nature, 542(7639), 115-118. https://doi.org/10.1038/nature21056</a:t>
            </a:r>
          </a:p>
          <a:p>
            <a:r>
              <a:t/>
            </a:r>
          </a:p>
          <a:p>
            <a:r>
              <a:t>[6]  Rajpurkar, P., Chen, E., Banerjee, O., &amp; Topol, E.J. (2022). AI in health and medicine.</a:t>
            </a:r>
          </a:p>
          <a:p>
            <a:r>
              <a:t>     Nature Medicine, 28(1), 31-38. https://doi.org/10.1038/s41591-021-01614-0</a:t>
            </a:r>
          </a:p>
          <a:p>
            <a:r>
              <a:t/>
            </a:r>
          </a:p>
          <a:p>
            <a:r>
              <a:t>[7]  Bates, D.W., et al. (2021). The potential of AI to reduce harm in healthcare.</a:t>
            </a:r>
          </a:p>
          <a:p>
            <a:r>
              <a:t>     NEJM Catalyst Innovations in Care Delivery, 2(3).</a:t>
            </a:r>
          </a:p>
          <a:p>
            <a:r>
              <a:t/>
            </a:r>
          </a:p>
          <a:p>
            <a:r>
              <a:t>[8]  Google LLC. (2024). Agent Development Kit (ADK): Framework for multi-agent AI systems.</a:t>
            </a:r>
          </a:p>
          <a:p>
            <a:r>
              <a:t>     https://github.com/google/adk-python</a:t>
            </a:r>
          </a:p>
          <a:p>
            <a:r>
              <a:t/>
            </a:r>
          </a:p>
          <a:p>
            <a:r>
              <a:t>[9]  World Health Organization. (2023). Health workforce global observatory data repository. WHO.</a:t>
            </a:r>
          </a:p>
          <a:p>
            <a:r>
              <a:t>     https://www.who.int/data/gho/data/themes/topics/health-workforce</a:t>
            </a:r>
          </a:p>
          <a:p>
            <a:r>
              <a:t/>
            </a:r>
          </a:p>
          <a:p>
            <a:r>
              <a:t>[10] Berner, E.S., &amp; Graber, M.L. (2008). Overconfidence as a cause of diagnostic error in medicine.</a:t>
            </a:r>
          </a:p>
          <a:p>
            <a:r>
              <a:t>     The American Journal of Medicine, 121(5), S2-S23.</a:t>
            </a:r>
          </a:p>
        </p:txBody>
      </p:sp>
      <p:sp>
        <p:nvSpPr>
          <p:cNvPr id="10" name="Date Placeholder 3">
            <a:extLst>
              <a:ext uri="{FF2B5EF4-FFF2-40B4-BE49-F238E27FC236}">
                <a16:creationId xmlns:a16="http://schemas.microsoft.com/office/drawing/2014/main" id="{E115BBE8-9AD5-8D84-3BA5-316D1EDECDFF}"/>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1" name="Footer Placeholder 4">
            <a:extLst>
              <a:ext uri="{FF2B5EF4-FFF2-40B4-BE49-F238E27FC236}">
                <a16:creationId xmlns:a16="http://schemas.microsoft.com/office/drawing/2014/main" id="{771EB479-8D17-20B5-4E5E-3C7B064DCCEB}"/>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2" name="Slide Number Placeholder 5">
            <a:extLst>
              <a:ext uri="{FF2B5EF4-FFF2-40B4-BE49-F238E27FC236}">
                <a16:creationId xmlns:a16="http://schemas.microsoft.com/office/drawing/2014/main" id="{EB843B29-CD93-D47E-5922-AC6D22AC4611}"/>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10</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2430380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C2933E-AB42-4159-1EFD-4E90435B8F04}"/>
              </a:ext>
            </a:extLst>
          </p:cNvPr>
          <p:cNvSpPr txBox="1"/>
          <p:nvPr/>
        </p:nvSpPr>
        <p:spPr>
          <a:xfrm>
            <a:off x="4214545" y="2599630"/>
            <a:ext cx="3762910" cy="585359"/>
          </a:xfrm>
          <a:prstGeom prst="rect">
            <a:avLst/>
          </a:prstGeom>
          <a:noFill/>
        </p:spPr>
        <p:txBody>
          <a:bodyPr wrap="square">
            <a:spAutoFit/>
          </a:bodyPr>
          <a:lstStyle/>
          <a:p>
            <a:r>
              <a:rPr sz="4000" b="1">
                <a:latin typeface="Bookman Old Style"/>
              </a:rPr>
              <a:t>Thank You</a:t>
            </a:r>
          </a:p>
          <a:p>
            <a:r>
              <a:t/>
            </a:r>
          </a:p>
          <a:p>
            <a:r>
              <a:rPr sz="1600">
                <a:latin typeface="Aptos"/>
              </a:rPr>
              <a:t>We welcome your questions and feedback.</a:t>
            </a:r>
          </a:p>
          <a:p>
            <a:r>
              <a:t/>
            </a:r>
          </a:p>
          <a:p>
            <a:r>
              <a:rPr sz="1300" b="1">
                <a:latin typeface="Aptos"/>
              </a:rPr>
              <a:t>MediGuide AI: A Multimodal Multi-Agent Healthcare Navigation System</a:t>
            </a:r>
          </a:p>
          <a:p>
            <a:r>
              <a:rPr sz="1100">
                <a:latin typeface="Aptos"/>
              </a:rPr>
              <a:t>Vardhaman College Of Engineering  |  Department of Information Technology  |  2025-2026</a:t>
            </a:r>
          </a:p>
          <a:p>
            <a:r>
              <a:rPr sz="1100">
                <a:latin typeface="Aptos"/>
              </a:rPr>
              <a:t>Maruthi Sai Teja  (23ITMNP-B01)  |  Student Name 2  (Roll No. 2)  |  Student Name 3  (Roll No. 3)</a:t>
            </a:r>
          </a:p>
          <a:p>
            <a:r>
              <a:rPr sz="1100">
                <a:latin typeface="Aptos"/>
              </a:rPr>
              <a:t>Guided By: Name of the Guide  |  Assistant Professor, Dept. of IT</a:t>
            </a:r>
          </a:p>
          <a:p>
            <a:r>
              <a:rPr sz="1000">
                <a:latin typeface="Aptos"/>
              </a:rPr>
              <a:t>GitHub: github.com/maruthisaiteja/mediguide-ai</a:t>
            </a:r>
          </a:p>
        </p:txBody>
      </p:sp>
      <p:sp>
        <p:nvSpPr>
          <p:cNvPr id="9" name="Date Placeholder 3">
            <a:extLst>
              <a:ext uri="{FF2B5EF4-FFF2-40B4-BE49-F238E27FC236}">
                <a16:creationId xmlns:a16="http://schemas.microsoft.com/office/drawing/2014/main" id="{DB35C752-1BC6-0C13-884D-8DB0FF6D501C}"/>
              </a:ext>
            </a:extLst>
          </p:cNvPr>
          <p:cNvSpPr txBox="1">
            <a:spLocks/>
          </p:cNvSpPr>
          <p:nvPr/>
        </p:nvSpPr>
        <p:spPr>
          <a:xfrm>
            <a:off x="439411" y="6500881"/>
            <a:ext cx="2719498"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t>17-07-2026</a:t>
            </a:r>
            <a:endParaRPr lang="en-IN" sz="1200" dirty="0">
              <a:solidFill>
                <a:schemeClr val="accent3"/>
              </a:solidFill>
              <a:latin typeface="Aptos" panose="020B0004020202020204" pitchFamily="34" charset="0"/>
            </a:endParaRPr>
          </a:p>
        </p:txBody>
      </p:sp>
      <p:sp>
        <p:nvSpPr>
          <p:cNvPr id="10" name="Footer Placeholder 4">
            <a:extLst>
              <a:ext uri="{FF2B5EF4-FFF2-40B4-BE49-F238E27FC236}">
                <a16:creationId xmlns:a16="http://schemas.microsoft.com/office/drawing/2014/main" id="{03B936E0-3D39-1842-927E-CF20081476B6}"/>
              </a:ext>
            </a:extLst>
          </p:cNvPr>
          <p:cNvSpPr txBox="1">
            <a:spLocks/>
          </p:cNvSpPr>
          <p:nvPr/>
        </p:nvSpPr>
        <p:spPr>
          <a:xfrm>
            <a:off x="4759240" y="6456244"/>
            <a:ext cx="3490907" cy="345248"/>
          </a:xfrm>
          <a:prstGeom prst="rect">
            <a:avLst/>
          </a:prstGeom>
        </p:spPr>
        <p:txBody>
          <a:bodyPr/>
          <a:lstStyle>
            <a:defPPr>
              <a:defRPr lang="en-US"/>
            </a:defPPr>
            <a:lvl1pPr marL="0" algn="l" defTabSz="457200" rtl="0" eaLnBrk="1" latinLnBrk="0" hangingPunct="1">
              <a:defRPr sz="1200" b="1" kern="1200" cap="none">
                <a:solidFill>
                  <a:schemeClr val="tx1"/>
                </a:solidFill>
                <a:latin typeface="Aptos" panose="020B0004020202020204" pitchFamily="34" charset="0"/>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IN" sz="1400" dirty="0">
                <a:solidFill>
                  <a:schemeClr val="accent3"/>
                </a:solidFill>
              </a:rPr>
              <a:t>Vardhaman College of Engineering</a:t>
            </a:r>
          </a:p>
        </p:txBody>
      </p:sp>
      <p:sp>
        <p:nvSpPr>
          <p:cNvPr id="11" name="Slide Number Placeholder 5">
            <a:extLst>
              <a:ext uri="{FF2B5EF4-FFF2-40B4-BE49-F238E27FC236}">
                <a16:creationId xmlns:a16="http://schemas.microsoft.com/office/drawing/2014/main" id="{056EF318-D93C-033A-0B08-0C5A1191EAB0}"/>
              </a:ext>
            </a:extLst>
          </p:cNvPr>
          <p:cNvSpPr txBox="1">
            <a:spLocks/>
          </p:cNvSpPr>
          <p:nvPr/>
        </p:nvSpPr>
        <p:spPr>
          <a:xfrm>
            <a:off x="10822112" y="6490607"/>
            <a:ext cx="390371" cy="365125"/>
          </a:xfrm>
          <a:prstGeom prst="rect">
            <a:avLst/>
          </a:prstGeom>
        </p:spPr>
        <p:txBody>
          <a:bodyPr/>
          <a:lstStyle>
            <a:defPPr>
              <a:defRPr lang="en-US"/>
            </a:defPPr>
            <a:lvl1pPr marL="0" algn="l" defTabSz="457200" rtl="0" eaLnBrk="1" latinLnBrk="0" hangingPunct="1">
              <a:defRPr sz="1100" b="1"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6A3FA1D-EC91-45BD-A9AB-12F85A35EF5C}" type="slidenum">
              <a:rPr lang="en-IN" sz="1200" smtClean="0">
                <a:solidFill>
                  <a:schemeClr val="accent3"/>
                </a:solidFill>
                <a:latin typeface="Aptos" panose="020B0004020202020204" pitchFamily="34" charset="0"/>
              </a:rPr>
              <a:pPr/>
              <a:t>11</a:t>
            </a:fld>
            <a:endParaRPr lang="en-IN" sz="1200" dirty="0">
              <a:solidFill>
                <a:schemeClr val="accent3"/>
              </a:solidFill>
              <a:latin typeface="Aptos" panose="020B0004020202020204" pitchFamily="34" charset="0"/>
            </a:endParaRPr>
          </a:p>
        </p:txBody>
      </p:sp>
    </p:spTree>
    <p:extLst>
      <p:ext uri="{BB962C8B-B14F-4D97-AF65-F5344CB8AC3E}">
        <p14:creationId xmlns:p14="http://schemas.microsoft.com/office/powerpoint/2010/main" val="2096957470"/>
      </p:ext>
    </p:extLst>
  </p:cSld>
  <p:clrMapOvr>
    <a:masterClrMapping/>
  </p:clrMapOvr>
</p:sld>
</file>

<file path=ppt/theme/theme1.xml><?xml version="1.0" encoding="utf-8"?>
<a:theme xmlns:a="http://schemas.openxmlformats.org/drawingml/2006/main" name="Retrospect">
  <a:themeElements>
    <a:clrScheme name="Retrospect">
      <a:dk1>
        <a:sysClr val="windowText" lastClr="000000"/>
      </a:dk1>
      <a:lt1>
        <a:sysClr val="window" lastClr="FFFFFF"/>
      </a:lt1>
      <a:dk2>
        <a:srgbClr val="514949"/>
      </a:dk2>
      <a:lt2>
        <a:srgbClr val="E1E1DB"/>
      </a:lt2>
      <a:accent1>
        <a:srgbClr val="9DBFBE"/>
      </a:accent1>
      <a:accent2>
        <a:srgbClr val="DB8631"/>
      </a:accent2>
      <a:accent3>
        <a:srgbClr val="E3CC5A"/>
      </a:accent3>
      <a:accent4>
        <a:srgbClr val="ACADA8"/>
      </a:accent4>
      <a:accent5>
        <a:srgbClr val="927C61"/>
      </a:accent5>
      <a:accent6>
        <a:srgbClr val="B3B435"/>
      </a:accent6>
      <a:hlink>
        <a:srgbClr val="0000FF"/>
      </a:hlink>
      <a:folHlink>
        <a:srgbClr val="800080"/>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243AF7DC-D15B-41C0-AE81-23980D1B9FC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88</TotalTime>
  <Words>420</Words>
  <Application>Microsoft Office PowerPoint</Application>
  <PresentationFormat>Widescreen</PresentationFormat>
  <Paragraphs>110</Paragraphs>
  <Slides>11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Arial</vt:lpstr>
      <vt:lpstr>Book Antiqua</vt:lpstr>
      <vt:lpstr>Bookman Old Style</vt:lpstr>
      <vt:lpstr>Calibri</vt:lpstr>
      <vt:lpstr>Calibri Light</vt:lpstr>
      <vt:lpstr>Symbol</vt:lpstr>
      <vt:lpstr>Times New Roman</vt:lpstr>
      <vt:lpstr>Retrospect</vt:lpstr>
      <vt:lpstr>Project Title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Nikhila Sreekanth</dc:creator>
  <cp:lastModifiedBy>Dr Nikhila</cp:lastModifiedBy>
  <cp:revision>16</cp:revision>
  <dcterms:created xsi:type="dcterms:W3CDTF">2025-07-20T13:06:57Z</dcterms:created>
  <dcterms:modified xsi:type="dcterms:W3CDTF">2026-07-01T06:03:58Z</dcterms:modified>
</cp:coreProperties>
</file>