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84124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09728" cy="46634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964"/>
                </a:solidFill>
                <a:latin typeface="Aptos"/>
              </a:rPr>
              <a:t>VARDHAMAN COLLEGE OF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  <a:latin typeface="Aptos"/>
              </a:rPr>
              <a:t>Department of Information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938528"/>
            <a:ext cx="6400800" cy="2743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2057400"/>
            <a:ext cx="2743200" cy="3200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084831"/>
            <a:ext cx="2743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ABSTRACT LEVEL REVIEW — 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3964"/>
                </a:solidFill>
                <a:latin typeface="Aptos"/>
              </a:rPr>
              <a:t>MediGuide AI: A Multimodal Multi-Agent Healthcare Navigation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566160"/>
            <a:ext cx="6400800" cy="274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5020"/>
                </a:solidFill>
                <a:latin typeface="Aptos"/>
              </a:rP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3964"/>
                </a:solidFill>
                <a:latin typeface="Aptos"/>
              </a:rPr>
              <a:t>Maruthi Sai Teja  (23ITMNP-B01)  |  Student Name 2  (Roll No. 2)  |  Student Name 3  (Roll No. 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6227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07070"/>
                </a:solidFill>
                <a:latin typeface="Aptos"/>
              </a:rPr>
              <a:t>Guided By:  Name of the Guide  |  Assistant Professor, Dept. of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07070"/>
                </a:solidFill>
                <a:latin typeface="Aptos"/>
              </a:rPr>
              <a:t>Academic Year: 2025–2026  |  Batch: 2023–2027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6400800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ptos"/>
              </a:rPr>
              <a:t>Vardhaman College Of Engineering  |  17-07-2026  |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91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tos"/>
              </a:rPr>
              <a:t>Vardhaman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73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17-07-2026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Background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8595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  <a:latin typeface="Aptos"/>
              </a:rPr>
              <a:t>•  250,000+ preventable deaths occur annually in the US alone from medical errors — the 3rd leading cause of death (BMJ, 2016).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  <a:latin typeface="Aptos"/>
              </a:rPr>
              <a:t>•  70% of clinical decisions are based on laboratory reports that patients cannot interpret themselves.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  <a:latin typeface="Aptos"/>
              </a:rPr>
              <a:t>•  India has 1 doctor per 1,457 people (WHO 2023) — far below the recommended 1:1,000 ratio. Millions lack timely healthcare access.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  <a:latin typeface="Aptos"/>
              </a:rPr>
              <a:t>•  Medication errors account for 1 in 131 outpatient deaths. Most are caused by: wrong combinations, incorrect timing, and unawareness of food-drug interactions.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  <a:latin typeface="Aptos"/>
              </a:rPr>
              <a:t>•  Digital health adoption is accelerating: 1.5 billion people globally will use health apps by 2025 (Statista). AI-powered solutions can bridge the accessibility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54680"/>
            <a:ext cx="8595360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182112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What is MediGuide AI?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520440"/>
            <a:ext cx="8595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  <a:latin typeface="Aptos"/>
              </a:rPr>
              <a:t>•  MediGuide AI is a multimodal, multi-agent healthcare navigation system built using Google's Agent Development Kit (ADK).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  <a:latin typeface="Aptos"/>
              </a:rPr>
              <a:t>•  It combines Natural Language Processing, Computer Vision (Pillow + Gemini Vision), and a deterministic clinical knowledge base to serve patients directly.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  <a:latin typeface="Aptos"/>
              </a:rPr>
              <a:t>•  The system routes queries intelligently across 5 specialized AI sub-agents: Triage, Research, Scheduler, Vision, and Lab Analysis.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  <a:latin typeface="Aptos"/>
              </a:rPr>
              <a:t>•  Unlike a general-purpose chatbot, MediGuide AI uses deterministic code for safety-critical decisions — never relying on LLM guessing for drug interaction detection.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989320"/>
            <a:ext cx="274320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0167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  <a:latin typeface="Aptos"/>
              </a:rPr>
              <a:t>Healthcare AI  |  Multi-Agent Systems  |  Computer 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91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tos"/>
              </a:rPr>
              <a:t>Vardhaman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73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17-07-2026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The Core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ptos"/>
              </a:rPr>
              <a:t>Patients globally face a three-part healthcare crisis: they cannot interpret their own medical reports, are not warned about dangerous medication combinations, and lack equitable access to timely clinical guidance — resulting in hundreds of thousands of preventable deaths every year.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57400"/>
            <a:ext cx="283464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084831"/>
            <a:ext cx="26883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PROBLEM 1 — Medication 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68880"/>
            <a:ext cx="2834640" cy="1920240"/>
          </a:xfrm>
          <a:prstGeom prst="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23744"/>
            <a:ext cx="26517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ptos"/>
              </a:rPr>
              <a:t>Patients receive prescriptions from multiple doctors with no cross-checking. Dangerous combinations — drug-drug, food-drug — go undetected. Therapeutic duplications (same drug, different brand names) cause accidental overdose.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7832" y="2057400"/>
            <a:ext cx="2834640" cy="41148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2084831"/>
            <a:ext cx="26883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PROBLEM 2 — Diagnostic Blindness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7832" y="2468880"/>
            <a:ext cx="2834640" cy="1920240"/>
          </a:xfrm>
          <a:prstGeom prst="rect">
            <a:avLst/>
          </a:prstGeom>
          <a:solidFill>
            <a:srgbClr val="F2F2F2"/>
          </a:solidFill>
          <a:ln>
            <a:solidFill>
              <a:srgbClr val="C05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2523744"/>
            <a:ext cx="26517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ptos"/>
              </a:rPr>
              <a:t>Blood test reports contain values most patients cannot understand. An HbA1c of 8.9% or Creatinine of 2.1 mg/dL carry urgent clinical implications, yet patients go home without knowing what action to take.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057400"/>
            <a:ext cx="283464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2084831"/>
            <a:ext cx="26883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PROBLEM 3 — Healthcare Inaccessibility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2468880"/>
            <a:ext cx="2834640" cy="1920240"/>
          </a:xfrm>
          <a:prstGeom prst="rect">
            <a:avLst/>
          </a:prstGeom>
          <a:solidFill>
            <a:srgbClr val="F2F2F2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3" y="2523744"/>
            <a:ext cx="26517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ptos"/>
              </a:rPr>
              <a:t>1.57 billion people globally live without adequate healthcare access. Patients wait days/weeks for a doctor appointment to understand a report they could have acted on immediately with proper guidance.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80560"/>
            <a:ext cx="8595360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07992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Research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84632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  <a:latin typeface="Aptos"/>
              </a:rPr>
              <a:t>•  Existing general-purpose AI assistants (ChatGPT, Gemini) provide probabilistic text responses — not deterministic safety guarantees required in medical contexts.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  <a:latin typeface="Aptos"/>
              </a:rPr>
              <a:t>•  No existing consumer application integrates: prescription OCR + drug interaction checking + lab report analysis + food-drug safety + personalized medication scheduling in one unified agentic pipeline.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  <a:latin typeface="Aptos"/>
              </a:rPr>
              <a:t>•  MediGuide AI fills this gap by combining deterministic clinical databases with LLM reasoning in a specialist multi-agent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91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tos"/>
              </a:rPr>
              <a:t>Vardhaman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73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17-07-2026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777240"/>
            <a:ext cx="4206240" cy="3200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95528"/>
            <a:ext cx="4023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70432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  <a:latin typeface="Aptos"/>
              </a:rPr>
              <a:t>•  O1. Design and implement a multi-agent AI system using Google ADK with 5 specialized sub-agents capable of handling diverse healthcare queries.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  <a:latin typeface="Aptos"/>
              </a:rPr>
              <a:t>•  O2. Build a deterministic drug-drug interaction checker covering 50+ medication pairs with brand-to-generic resolution.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  <a:latin typeface="Aptos"/>
              </a:rPr>
              <a:t>•  O3. Implement an intelligent lab report analyzer covering 35+ clinical blood tests with severity-flagged, plain-English output.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  <a:latin typeface="Aptos"/>
              </a:rPr>
              <a:t>•  O4. Develop a food-drug interaction engine identifying 8 dangerous food categories (grapefruit, alcohol, tyramine foods, etc.) against 40+ medications.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  <a:latin typeface="Aptos"/>
              </a:rPr>
              <a:t>•  O5. Create a multimodal image processing pipeline (Pillow + Gemini Vision) for prescription OCR, skin analysis, X-ray, and ECG assessment.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  <a:latin typeface="Aptos"/>
              </a:rPr>
              <a:t>•  O6. Implement a quantified Health Risk Score (1–100) using a 7-factor weighted clinical algorithm replacing vague urgency labels.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  <a:latin typeface="Aptos"/>
              </a:rPr>
              <a:t>•  O7. Generate personalized daily medication schedules with clinically optimal time-slot assignments per drug.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795528"/>
            <a:ext cx="4023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170432"/>
            <a:ext cx="420624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18872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IN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481328"/>
            <a:ext cx="4206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Text-based symptom triage and urgency classification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Medical image analysis: prescriptions, rashes, ECG, X-rays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Blood test lab report interpretation (35+ tests)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Drug-drug and food-drug interaction detection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Personalized daily medication schedule generation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Health Risk Score computation and display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Multi-turn session health history summarization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CLI-based standalone skills for each module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REST API server deployment via FastAPI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Docker containerization for cloud 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4206240"/>
            <a:ext cx="42062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4224528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OUT OF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2628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Real-time patient monitoring (IoT/wearables)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Electronic Health Record (EHR) integration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Insurance billing or coding support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  <a:latin typeface="Aptos"/>
              </a:rPr>
              <a:t>•  Surgical or procedural 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Literature Survey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91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tos"/>
              </a:rPr>
              <a:t>Vardhaman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73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17-07-2026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04672"/>
            <a:ext cx="2171700" cy="6096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32104"/>
            <a:ext cx="2080260" cy="554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Ref.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0300" y="804672"/>
            <a:ext cx="2171700" cy="6096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6020" y="832104"/>
            <a:ext cx="2080260" cy="554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Paper /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804672"/>
            <a:ext cx="2171700" cy="6096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832104"/>
            <a:ext cx="2080260" cy="554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Key Contribution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43700" y="804672"/>
            <a:ext cx="2171700" cy="6096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9420" y="832104"/>
            <a:ext cx="2080260" cy="554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Limitation Addressed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414272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4325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[1]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00300" y="1414272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46020" y="14325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Topol EJ (2019). High-performance medicine: AI in clinical practice. Nature Medicine.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414272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14325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Demonstrated AI achieves specialist-level diagnostic accuracy in radiology and pathology.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43700" y="1414272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9420" y="14325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MediGuide extends to multimodal patient-facing use, not just specialist imaging.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0238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0421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[2]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00300" y="20238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46020" y="20421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Shickel et al. (2018). Deep EHR: NLP on Electronic Health Records. JBHI.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0238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0421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NLP techniques extract structured clinical knowledge from free-text health records.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43700" y="20238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9420" y="20421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MediGuide applies NLP to patient-reported symptoms without requiring EHR access.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2633472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26517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[3]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00300" y="2633472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6020" y="26517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Leape LL (2000). Institute of Medicine: To Err is Human. JAMA.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2633472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26517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Established 98,000+ annual US deaths from preventable medical errors, driving patient safety research.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43700" y="2633472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9420" y="26517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Motivates MediGuide's deterministic safety engine — AI reasoning alone is insufficient.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2430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2613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[4]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00300" y="32430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46020" y="32613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Wang et al. (2020). Drug-Drug Interaction Prediction using Knowledge Graphs. Bioinformatics.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32430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32613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Knowledge graph-based DDI prediction achieves 92% accuracy on benchmark datasets.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43700" y="32430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89420" y="3261360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MediGuide uses a deterministic clinical database — guaranteed correctness, no probability.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3852671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8709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[5]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00300" y="3852671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46020" y="38709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Esteva et al. (2017). Dermatologist-level skin cancer classification. Nature.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3852671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17720" y="38709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CNN achieves dermatologist-level accuracy classifying skin lesions from photographs.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43700" y="3852671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89420" y="38709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MediGuide integrates multimodal vision triage for consumer-facing skin assessment.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4622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44805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[6]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00300" y="44622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46020" y="44805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Rajpurkar et al. (2022). AI in Health and Medicine. Nature Medicine.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44622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17720" y="44805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Comprehensive review of AI applications across diagnosis, prognosis, and treatment planning.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43700" y="44622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89420" y="44805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MediGuide operationalizes these findings into a complete end-to-end patient pipeline.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5071871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50901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[7]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00300" y="5071871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46020" y="50901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Bates DW et al. (2021). The potential of AI to reduce harm in healthcare. NEJM Catalyst.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5071871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17720" y="50901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AI can reduce medication errors by 50–80% when integrated into clinical workflows.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43700" y="5071871"/>
            <a:ext cx="2171700" cy="60960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89420" y="50901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MediGuide targets the last mile — the patient at home, post-prescription.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56814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56997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[8]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00300" y="56814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46020" y="56997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Google. Agent Development Kit (ADK) Documentation (2024).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0" y="56814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17720" y="56997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Framework for building coordinated multi-agent AI systems with tool-calling and delegation.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43700" y="5681472"/>
            <a:ext cx="21717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89420" y="5699759"/>
            <a:ext cx="2080260" cy="57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MediGuide is one of the first healthcare applications of the Google ADK multi-agent pattern.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Comparison with Existing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91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tos"/>
              </a:rPr>
              <a:t>Vardhaman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73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17-07-2026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64"/>
                </a:solidFill>
                <a:latin typeface="Aptos"/>
              </a:rPr>
              <a:t>How MediGuide AI compares against general-purpose AI assistants and existing health apps: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2171700" cy="39741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70432"/>
            <a:ext cx="2080260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Feature / Capability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1143000"/>
            <a:ext cx="2171700" cy="39741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6020" y="1170432"/>
            <a:ext cx="2080260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ChatGPT / Claude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143000"/>
            <a:ext cx="2171700" cy="39741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170432"/>
            <a:ext cx="2080260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Generic Health Apps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43700" y="1143000"/>
            <a:ext cx="2171700" cy="39741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9420" y="1170432"/>
            <a:ext cx="2080260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MediGuide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540412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558700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Drug-Drug Interaction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00" y="1540412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46020" y="1558700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LLM guess (probabilistic)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540412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558700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Basic alerts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43700" y="1540412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9420" y="1558700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Deterministic DB + brand mapping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1937824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1956112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Therapeutic Duplication Alert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00300" y="1937824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6020" y="1956112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Not guaranteed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937824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1956112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43700" y="1937824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9420" y="1956112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YES — Trimox = Amoxicillin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335236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2353524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Food-Drug Interactions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00300" y="2335236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46020" y="2353524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General advice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335236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2353524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43700" y="2335236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2353524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8 food categories × 40+ drugs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732649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2750937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Lab Report Interpretation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00300" y="2732649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46020" y="2750937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Generic text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732649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2750937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Reference ranges only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43700" y="2732649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89420" y="2750937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35+ tests, flagged + explained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0061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3148349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Prescription OCR + Safety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00300" y="3130061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46020" y="3148349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No image pipeline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3130061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17720" y="3148349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Scan only, no analysis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43700" y="3130061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89420" y="3148349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Pillow pipeline + interaction check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527473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3545761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Health Risk Score (1-100)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00300" y="3527473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46020" y="3545761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No — vague language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527473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17720" y="3545761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43700" y="3527473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89420" y="3545761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YES — 7-factor auditable algorithm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924886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3943174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Daily Medication Schedule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00300" y="3924886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46020" y="3943174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Generic advice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924886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17720" y="3943174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Reminder only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43700" y="3924886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89420" y="3943174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Clinically timed per drug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4322298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4340586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X-Ray / ECG Analysis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00300" y="4322298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446020" y="4340586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No file processing pipeline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322298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17720" y="4340586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43700" y="4322298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89420" y="4340586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Multimodal Gemini Vision routing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719710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" y="4737998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Multi-Agent Architecture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400300" y="4719710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446020" y="4737998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Single model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719710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17720" y="4737998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No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743700" y="4719710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789420" y="4737998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5 specialist ADK sub-agents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5117123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5135411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Privacy / PII Redaction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00300" y="5117123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446020" y="5135411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Data sent to OpenAI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5117123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17720" y="5135411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Cloud only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743700" y="5117123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789420" y="5135411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Local security layer + redaction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5514535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74320" y="5532823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Offline Fallback Mode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00300" y="5514535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446020" y="5532823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514535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617720" y="5532823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No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743700" y="5514535"/>
            <a:ext cx="2171700" cy="397412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789420" y="5532823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YES — simulation mode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5911947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4320" y="5930235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Deployable (Docker + API)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400300" y="5911947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446020" y="5930235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No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911947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617720" y="5930235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App only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743700" y="5911947"/>
            <a:ext cx="2171700" cy="397412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789420" y="5930235"/>
            <a:ext cx="2080260" cy="36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YES — FastAPI + Docker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91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tos"/>
              </a:rPr>
              <a:t>Vardhaman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73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17-07-2026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82296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ptos"/>
              </a:rPr>
              <a:t>Healthcare accessibility and medication safety represent two of the most pressing challenges in modern medicine. Globally, over 250,000 preventable deaths occur annually due to medical errors — predominantly from undetected drug interactions, misread laboratory reports, and inadequate patient guidance. This is compounded in developing nations where physician-to-population ratios remain critically low, leaving millions without timely clinical interpretation of their own health data.
MediGuide AI addresses this crisis through a multimodal, multi-agent healthcare navigation system built on Google's Agent Development Kit (ADK). The system deploys five specialized AI sub-agents — TriageAgent, ResearchAgent, SchedulerAgent, VisionAgent, and LabAgent — coordinated by a root OrchestratorAgent that routes patient queries with clinical precision. Unlike general-purpose AI assistants that generate probabilistic text responses, MediGuide AI combines deterministic clinical databases for safety-critical operations with large language model reasoning for contextual understanding.
The system's key modules include: (1) an Intelligent Lab Report Analyzer covering 35+ blood tests with severity-flagged, plain-English clinical explanations; (2) a Food-Drug Interaction Safety Engine detecting 8 dangerous food-substance categories across 40+ medications; (3) a Prescription OCR Pipeline using Pillow image preprocessing and Gemini Vision for multimodal medical image analysis; (4) a quantified Health Risk Score algorithm producing a 1–100 clinical risk metric from 7 weighted factors; and (5) a Personalized Medication Schedule generator with clinically validated time-slot assignments.
Evaluation demonstrates that the system correctly identifies critical drug-drug interactions including therapeutic duplications (Trimox/Amoxicillin), flags life-threatening food interactions (Warfarin × Grapefruit), and accurately annotates abnormal lab values including emergencies (elevated Troponin → cardiac alert). MediGuide AI directly targets the last mile of healthcare: empowering patients to act on their own health data safely.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8076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7070"/>
                </a:solidFill>
                <a:latin typeface="Aptos"/>
              </a:rPr>
              <a:t>Keywords: Multi-Agent AI, Healthcare Navigation, Drug Interaction, Lab Report Analysis, Multimodal Vision, Google ADK, Clinical Decision Support, Medication Safety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Novelty / Innovation &amp; 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91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tos"/>
              </a:rPr>
              <a:t>Vardhaman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73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17-07-2026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What Makes MediGuide AI Genuinely Novel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8595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DETERMINISTIC SAFETY CORE: Drug interactions, brand-to-generic mapping, and food-drug warnings use deterministic code — not LLM inference. This is a fundamental safety architecture decision that no existing consumer health AI applies.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QUANTIFIED RISK SCORE: A 7-factor weighted Health Risk Score (1–100) replaces vague urgency labels, producing a clinically defensible, auditable metric aligned with established triage methodologies (NEWS2, APACHE).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UNIFIED MULTIMODAL PIPELINE: One system handles prescriptions, X-rays, ECGs, skin conditions, and blood reports — routing each image type through specialized Pillow preprocessing before LLM analysis.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FOOD-DRUG INTELLIGENCE: Most health apps check drug-drug interactions. MediGuide AI additionally detects dangerous food-drug interactions (e.g., Grapefruit × Warfarin causing 2-5x overdose), a clinically critical but overlooked feature.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ADK MULTI-AGENT SPECIALIZATION: First known healthcare application of Google's ADK with 5 domain-specialized sub-agents — mirroring real hospital specialist referral pathways.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977639"/>
            <a:ext cx="8595360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005072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Expected Outcomes &amp;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370832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Fully functional multi-agent healthcare AI system (Python/ADK)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REST API server (FastAPI) for integration with any frontend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Docker containerized deployment-ready application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5 standalone CLI skills for individual feature demonstration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Kaggle notebook documenting the complete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370832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Clinical lab analysis covering 35+ blood test reference ranges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Drug interaction DB: 50+ pairs + food-drug: 8 categories × 40+ drugs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Complete technical report, abstract, and literature review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Real-world impact: immediate patient-level medication safety improvements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  <a:latin typeface="Aptos"/>
              </a:rPr>
              <a:t>•  Publishable-grade architecture for academic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Team Roles &amp; 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91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tos"/>
              </a:rPr>
              <a:t>Vardhaman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73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17-07-2026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Team Roles &amp; Work Distribution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2865120" cy="4343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143000"/>
            <a:ext cx="277368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Team Member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9440" y="1115568"/>
            <a:ext cx="2865120" cy="4343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5159" y="1143000"/>
            <a:ext cx="277368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Roll Number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4560" y="1115568"/>
            <a:ext cx="2865120" cy="4343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0280" y="1143000"/>
            <a:ext cx="277368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Primary Responsibilities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549907"/>
            <a:ext cx="2865120" cy="43434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568195"/>
            <a:ext cx="2773680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Maruthi Sai Teja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9440" y="1549907"/>
            <a:ext cx="2865120" cy="43434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85159" y="1568195"/>
            <a:ext cx="2773680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23ITMNP-B01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4560" y="1549907"/>
            <a:ext cx="2865120" cy="43434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0280" y="1568195"/>
            <a:ext cx="2773680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Project Lead | Multi-Agent Architecture (ADK) | Orchestrator &amp; LabAgent | Lab Tools Engine | Food-Drug Interaction Engine | Health Risk Score Algorithm | System Integration &amp; Testing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84248"/>
            <a:ext cx="2865120" cy="43434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002536"/>
            <a:ext cx="2773680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Student Name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39440" y="1984248"/>
            <a:ext cx="2865120" cy="43434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85159" y="2002536"/>
            <a:ext cx="2773680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Roll No.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04560" y="1984248"/>
            <a:ext cx="2865120" cy="43434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0280" y="2002536"/>
            <a:ext cx="2773680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Vision Module | Prescription OCR Pipeline | Pillow Image Preprocessing | VisionAgent | Skin Triage Logic | MCP Server Integration | Docker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418587"/>
            <a:ext cx="2865120" cy="43434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436875"/>
            <a:ext cx="2773680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Student Name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39440" y="2418587"/>
            <a:ext cx="2865120" cy="43434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85159" y="2436875"/>
            <a:ext cx="2773680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Roll No.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04560" y="2418587"/>
            <a:ext cx="2865120" cy="43434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50280" y="2436875"/>
            <a:ext cx="2773680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TriageAgent &amp; ResearchAgent | Medical Knowledge Base | Scheduler Agent | Security Layer (PII Redaction) | FastAPI Server | Documentation &amp; Literature Survey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971800"/>
            <a:ext cx="8595360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999232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Project Timeline (Gantt Overview)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319272"/>
            <a:ext cx="214884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346703"/>
            <a:ext cx="20574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Phase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3160" y="3319272"/>
            <a:ext cx="214884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79" y="3346703"/>
            <a:ext cx="20574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Duration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319272"/>
            <a:ext cx="214884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17720" y="3346703"/>
            <a:ext cx="20574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Key Milestones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3319272"/>
            <a:ext cx="214884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3346703"/>
            <a:ext cx="20574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30752"/>
            <a:ext cx="21488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74903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Phase 0
Foundation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23160" y="3730752"/>
            <a:ext cx="21488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79" y="374903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July 2025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730752"/>
            <a:ext cx="21488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374903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Project scoping, literature review, environment setup, ADK exploration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20840" y="3730752"/>
            <a:ext cx="21488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0" y="374903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COMPLETE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142232"/>
            <a:ext cx="2148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416052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Phase 1
Core Agents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23160" y="4142232"/>
            <a:ext cx="2148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68879" y="416052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Aug–Sep 2025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4142232"/>
            <a:ext cx="2148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17720" y="416052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OrchestratorAgent, TriageAgent, ResearchAgent, SchedulerAgent development &amp; testing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20840" y="4142232"/>
            <a:ext cx="2148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60" y="416052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COMPLETE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553712"/>
            <a:ext cx="21488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57200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Phase 2
Vision &amp; OCR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23160" y="4553712"/>
            <a:ext cx="21488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68879" y="457200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Oct–Nov 2025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4553712"/>
            <a:ext cx="21488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17720" y="457200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VisionAgent, Pillow preprocessing pipeline, Gemini multimodal integration, prescription OCR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20840" y="4553712"/>
            <a:ext cx="21488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60" y="457200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COMPLETE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965192"/>
            <a:ext cx="2148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98347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Phase 3
Lab &amp; Safety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23160" y="4965192"/>
            <a:ext cx="2148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68879" y="498347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Dec 2025–Jan 2026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4965192"/>
            <a:ext cx="2148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17720" y="498347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LabAgent, Lab Report Analyzer (35+ tests), Food-Drug Engine, Health Risk Score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20840" y="4965192"/>
            <a:ext cx="2148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66560" y="498347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COMPLETE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376672"/>
            <a:ext cx="21488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539495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Phase 4
Deployment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23160" y="5376672"/>
            <a:ext cx="21488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68879" y="539495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Feb–Mar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0" y="5376672"/>
            <a:ext cx="21488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17720" y="539495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FastAPI REST server, Docker containerization, MCP server, security hardening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20840" y="5376672"/>
            <a:ext cx="2148840" cy="411480"/>
          </a:xfrm>
          <a:prstGeom prst="rect">
            <a:avLst/>
          </a:prstGeom>
          <a:solidFill>
            <a:srgbClr val="F2F2F2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66560" y="539495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COMPLETE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5788152"/>
            <a:ext cx="2148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0040" y="580644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Phase 5
Presentation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23160" y="5788152"/>
            <a:ext cx="2148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468879" y="580644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July 2026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0" y="5788152"/>
            <a:ext cx="2148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17720" y="580644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Abstract Level Review, documentation finalization, panel demonstration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20840" y="5788152"/>
            <a:ext cx="2148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66560" y="580644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ptos"/>
              </a:rPr>
              <a:t>IN PROGRESS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91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tos"/>
              </a:rPr>
              <a:t>Vardhaman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73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17-07-2026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822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ptos"/>
              </a:rPr>
              <a:t>[1]  Topol, E.J. (2019). High-performance medicine: the convergence of human and artificial intelligence. Nature Medicine, 25(1), 44–56.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53312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ptos"/>
              </a:rPr>
              <a:t>[2]  Shickel, B., Tighe, P.J., Bihorac, A., &amp; Rashidi, P. (2018). Deep EHR: A Survey of Recent Advances in Deep Learning Techniques for Electronic Health Record Analysis. IEEE JBHI, 22(5), 1589–1604.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83664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ptos"/>
              </a:rPr>
              <a:t>[3]  Kohn, L.T., Corrigan, J., &amp; Donaldson, M.S. (2000). To Err is Human: Building a Safer Health System. Washington DC: National Academies Press.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14015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ptos"/>
              </a:rPr>
              <a:t>[4]  Wang, Y., et al. (2020). Drug-Drug Interaction Prediction via Knowledge Graphs and Representation Learning. Bioinformatics, 36(18), 4674–4681.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94436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ptos"/>
              </a:rPr>
              <a:t>[5]  Esteva, A., et al. (2017). Dermatologist-level classification of skin cancer with deep neural networks. Nature, 542(7639), 115–118.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747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ptos"/>
              </a:rPr>
              <a:t>[6]  Rajpurkar, P., Chen, E., Banerjee, O., &amp; Topol, E.J. (2022). AI in health and medicine. Nature Medicine, 28(1), 31–38.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05072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ptos"/>
              </a:rPr>
              <a:t>[7]  Bates, D.W., Auerbach, A., Schulam, P., Wright, A., &amp; Saria, S. (2021). Reporting Guide for Human Factors Studies in Patient Safety. NEJM Catalyst, 2(3).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535424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ptos"/>
              </a:rPr>
              <a:t>[8]  Google LLC. (2024). Agent Development Kit (ADK): A framework for building multi-agent AI systems. Retrieved from https://github.com/google/adk-python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065776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ptos"/>
              </a:rPr>
              <a:t>[9]  World Health Organization. (2023). Health workforce: Global health observatory data repository. WHO.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59612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ptos"/>
              </a:rPr>
              <a:t>[10] Berner, E.S., &amp; Graber, M.L. (2008). Overconfidence as a cause of diagnostic error in medicine. The American Journal of Medicine, 121(5), S2–S23.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Bookman Old Style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4B5"/>
                </a:solidFill>
                <a:latin typeface="Aptos"/>
              </a:rPr>
              <a:t>We welcome your questions and feedback.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566160"/>
            <a:ext cx="4572000" cy="2743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MediGuide AI: A Multimodal Multi-Agent Healthcare Navigation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  <a:latin typeface="Aptos"/>
              </a:rPr>
              <a:t>Vardhaman College Of Engineering  |  Department of Information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74B5"/>
                </a:solidFill>
                <a:latin typeface="Aptos"/>
              </a:rPr>
              <a:t>Maruthi Sai Teja (23ITMNP-B01)  |  Student Name 2 (Roll No. 2)  |  Student Name 3 (Roll No.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07070"/>
                </a:solidFill>
                <a:latin typeface="Aptos"/>
              </a:rPr>
              <a:t>Guided By: Name of the Guide  |  Assistant Professor, Dept. of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5020"/>
                </a:solidFill>
                <a:latin typeface="Aptos"/>
              </a:rPr>
              <a:t>GitHub: github.com/maruthisaiteja/mediguide-ai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07070"/>
                </a:solidFill>
                <a:latin typeface="Aptos"/>
              </a:rPr>
              <a:t>Vardhaman College Of Engineering  |  17-07-2026  |  Slide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